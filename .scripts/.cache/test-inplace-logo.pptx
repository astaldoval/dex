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embeddedFontLst>
    <p:embeddedFont>
      <p:font typeface="Manrope"/>
      <p:regular r:id="rId21"/>
      <p:bold r:id="rId22"/>
    </p:embeddedFont>
    <p:embeddedFont>
      <p:font typeface="Unbounde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3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1783">
          <p15:clr>
            <a:srgbClr val="747775"/>
          </p15:clr>
        </p15:guide>
        <p15:guide id="4" orient="horz" pos="2002">
          <p15:clr>
            <a:srgbClr val="747775"/>
          </p15:clr>
        </p15:guide>
        <p15:guide id="5" orient="horz" pos="2220">
          <p15:clr>
            <a:srgbClr val="747775"/>
          </p15:clr>
        </p15:guide>
        <p15:guide id="6" orient="horz" pos="2453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ifvrfIwEMh1dex4yL6skTzXS2R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"/>
        <p:guide pos="2880"/>
        <p:guide pos="1783" orient="horz"/>
        <p:guide pos="2002" orient="horz"/>
        <p:guide pos="2220" orient="horz"/>
        <p:guide pos="2453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Manrope-regular.fntdata"/><Relationship Id="rId22" Type="http://schemas.openxmlformats.org/officeDocument/2006/relationships/font" Target="fonts/Manrope-bold.fntdata"/><Relationship Id="rId23" Type="http://schemas.openxmlformats.org/officeDocument/2006/relationships/font" Target="fonts/Unbounded-regular.fntdata"/><Relationship Id="rId24" Type="http://schemas.openxmlformats.org/officeDocument/2006/relationships/font" Target="fonts/Unbounded-bold.fntdata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73.png"/><Relationship Id="rId5" Type="http://schemas.openxmlformats.org/officeDocument/2006/relationships/image" Target="../media/image29.png"/><Relationship Id="rId6" Type="http://schemas.openxmlformats.org/officeDocument/2006/relationships/image" Target="../media/image44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20.png"/><Relationship Id="rId5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42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64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6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75.png"/><Relationship Id="rId8" Type="http://schemas.openxmlformats.org/officeDocument/2006/relationships/image" Target="../media/image61.png"/><Relationship Id="rId9" Type="http://schemas.openxmlformats.org/officeDocument/2006/relationships/image" Target="../media/image7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6" name="Google Shape;1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457200"/>
            <a:ext cx="2468880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b="1" i="0" lang="en-US" sz="28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Інфраструктурна платформа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b="1" i="0" lang="en-US" sz="28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для ринку нерухомості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Як цифрова інфраструктура змінює ринок нерухомості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та створює нові можливості для муніципалітетів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3200400" y="37490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Презентація для муніципалітетів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Alex Grynevych  •  CBDO &amp; Board Member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4" y="4631428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b="1" i="0" lang="en-US" sz="28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Ринок нерухомості </a:t>
            </a:r>
            <a:r>
              <a:rPr b="1" i="0" lang="en-US" sz="28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зламаний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Системні проблеми, які заважають розвитку ринку та муніципалітетів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150876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32588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Відсутність довіри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2588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Індекс довіри в галузі ≈ 12 з 100.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Банки не довіряють даним агентів,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агенти не довіряють один одному.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754880" y="150876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544068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Фрагментація ринку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4068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150 000+ агентів в Україні працюють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ізольовано. Дані не синхронізовані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 банками та реєстрами.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306324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3258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Довгі цикли угод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25880" y="352044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Закриття угоди займає 45–90 днів.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Ручні процеси, дублювання документів,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відсутність стандартів.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754880" y="306324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776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4406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Непрозорість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40680" y="352044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В Україні відсутні публічні реєстри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угод. Неможливо перевірити реальні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ціни та умови.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2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banda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68" y="320040"/>
            <a:ext cx="1280160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638221" y="9144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Що таке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BANDA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2109" y="147414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b="0" i="1" lang="en-US" sz="14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Не маркетплейс. Не CRM. Інфраструктура довіри.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6443" y="2129645"/>
            <a:ext cx="5029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50"/>
              <a:buFont typeface="Manrope"/>
              <a:buNone/>
            </a:pPr>
            <a:r>
              <a:rPr b="0" i="0" lang="en-US" sz="12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BANDA — це proptech-платформа, яка об'єднує всіх учасників ринку нерухомості в єдину цифрову інфраструктуру: агентів, муніципалітети, банки, девелоперів, покупців та інвесторів. Платформа стандартизує, верифікує та оркеструє дані між усіма учасниками, створюючи прозорий та захищений транзакційний потік.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760720" y="1463040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15270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6217920" y="14630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Безкоштовний доступ для агентів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760720" y="1938528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002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6217920" y="193852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Прозорість кожної угоди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760720" y="2414016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4780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6217920" y="241401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AI-верифікація документів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760720" y="2889504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9535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6217920" y="288950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Стандартизовані дані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760720" y="3364992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34290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6217920" y="336499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Міжнародний доступ до об'єктів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39642" y="40538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HQ: UAE  •  SPV: Spain &amp; Ukraine  •  Seed Stage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800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Як це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працює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2669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4 кроки, що перетворюють хаос ринку на прозорий процес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25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74204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76742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8011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774204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Паспорт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об'єкта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74204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AI верифікує документи.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Створюється цифровий актив.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563260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2166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876345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78883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0152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2876345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Matching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клієнт-об'єкт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876345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Автоматичний підбір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покупця до об'єкта.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65401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844307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78486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381024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2293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4978486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Маршрути-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зація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978486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Подача в банки та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відкриття escrow.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767542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946448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080627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04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483165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434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7080627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Закриття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угоди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080627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Smart-контракти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підтверджують умови.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40811" y="3977640"/>
            <a:ext cx="8229600" cy="502800"/>
          </a:xfrm>
          <a:prstGeom prst="roundRect">
            <a:avLst>
              <a:gd fmla="val 181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40811" y="39776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Агент → гарантія комісії   •   Банк → менше ручних перевірок   •   Клієнт → прозорість та безпека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27596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Цінність для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муніципалітетів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3859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Чому BANDA — це стратегічний інструмент для вашої громади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0075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74221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009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1355519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Прозорість ринку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74221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Цифровий стандарт для всіх угод.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Захист громадян від шахрайства.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412420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546566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8354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4127864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Залучення інвестицій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546566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PPP-механізми та співінвестування.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Доступ до іноземного капіталу.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184765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318911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0699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6900209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Реінтеграція ветеранів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318911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Безкоштовне навчання професії агента.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Нова кар'єра для захисників.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40075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74221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009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1355519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Створення робочих місць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74221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Інклюзивна remote-модель.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Люди з інвалідністю, студенти.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412420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546566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58354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4127864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Нульова вартість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546566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Муніципалітет не платить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 платформу. Безкоштовний доступ.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184765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18911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0699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6900209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Економічне зростання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318911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Кожне партнерство = 6–12 місяців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органічного зростання громади.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0207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Ринок нерухомості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України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40075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40075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$550B+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40075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Обсяг ринку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695469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2695469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19%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695469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Зростання цін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на квартири 2025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750863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750863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1 500+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50863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Житлових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комплексів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806257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806257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222 000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806257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Нових квартир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здано з 2022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40075" y="2377450"/>
            <a:ext cx="8046600" cy="20448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99342" rotWithShape="0" algn="bl" dir="8100000" dist="24836">
              <a:srgbClr val="000000">
                <a:alpha val="5882"/>
              </a:srgbClr>
            </a:outerShdw>
          </a:effectLst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8"/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95" y="2511561"/>
            <a:ext cx="312927" cy="31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1265931" y="2511561"/>
            <a:ext cx="3576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71"/>
              <a:buFont typeface="Unbounded"/>
              <a:buNone/>
            </a:pPr>
            <a:r>
              <a:rPr b="1" i="0" lang="en-US" sz="1271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Ключові тренди 2025–2026</a:t>
            </a:r>
            <a:endParaRPr b="0" i="0" sz="12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2958600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1221227" y="2931778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Попит на квартири зріс на 4%, пропозиція скоротилася на 15%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253646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1221227" y="3226824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Середня ціна в Києві — $2 011/м² на первинному ринку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548692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1221227" y="3521870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Київ, Львів та Одеса — найбільша концентрація пропозицій (52%)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843738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1221227" y="3816915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Програма єОселя — ключовий драйвер іпотечного кредитування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4138783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1221227" y="4111961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Ринок вже пройшов дно та поступово входить у фазу зростання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84" name="Google Shape;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633838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Глобальний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масштаб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51396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Доступ не лише до українського, а до світового ринку нерухомості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40075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40075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$393T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40075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Глобальний ринок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40075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Savills, 2025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380330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380330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$4.3T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380330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Ринок транзакцій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380330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Straits Research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120585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120585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€580B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120585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Європейський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транзакційний обсяг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120585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Річний обіг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0075" y="2923334"/>
            <a:ext cx="8046600" cy="1519800"/>
          </a:xfrm>
          <a:prstGeom prst="roundRect">
            <a:avLst>
              <a:gd fmla="val 58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863595" y="3012742"/>
            <a:ext cx="71526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9"/>
              <a:buFont typeface="Unbounded"/>
              <a:buNone/>
            </a:pPr>
            <a:r>
              <a:rPr b="1" i="0" lang="en-US" sz="1368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Що це означає для муніципалітетів?</a:t>
            </a:r>
            <a:endParaRPr b="0" i="0" sz="13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63595" y="3415077"/>
            <a:ext cx="75996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Manrope"/>
              <a:buNone/>
            </a:pPr>
            <a:r>
              <a:rPr b="0" i="0" lang="en-US" sz="1173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Через BANDA агенти вашої громади отримують доступ не лише до локальних об'єктів, а й до об'єктів по всьому світу — Іспанія, ОАЕ, та інші ринки. Іноземні покупці та інвестори, у свою чергу, отримують доступ до унікальних об'єктів вашого муніципалітету. Це двосторонній канал, який залучає капітал у вашу громаду.</a:t>
            </a:r>
            <a:endParaRPr b="0" i="0" sz="11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00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627596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PPP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та співінвестування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45154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Публічно-приватне партнерство через інфраструктуру довіри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40075" y="1371600"/>
            <a:ext cx="3793200" cy="30519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96889" rotWithShape="0" algn="bl" dir="8100000" dist="24222">
              <a:srgbClr val="000000">
                <a:alpha val="5882"/>
              </a:srgbClr>
            </a:outerShdw>
          </a:effectLst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076" y="1502400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1294077" y="1502400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40"/>
              <a:buFont typeface="Unbounded"/>
              <a:buNone/>
            </a:pPr>
            <a:r>
              <a:rPr b="1" i="0" lang="en-US" sz="1239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Як працює PPP через BANDA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58076" y="2025602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858076" y="2025602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63276" y="1982001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Муніципалітет додає об'єкти редевелопменту та соціальні проєкти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58076" y="2461603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58076" y="2461603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163276" y="2418003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Платформа верифікує та стандартизує дані (Property Passport)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58076" y="2897604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58076" y="2897604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63276" y="2854004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Інвестори та девелопери отримують доступ до верифікованих об'єктів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58076" y="3333605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858076" y="3333605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63276" y="3290005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Механізм співінвестування дозволяє пулове фінансування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58076" y="3769606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858076" y="3769606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163276" y="3726006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Прозорий escrow та smart-контракти захищають всі сторони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694885" y="1371600"/>
            <a:ext cx="3793200" cy="3051900"/>
          </a:xfrm>
          <a:prstGeom prst="roundRect">
            <a:avLst>
              <a:gd fmla="val 2857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2886" y="1502400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5348887" y="1502400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0"/>
              <a:buFont typeface="Unbounded"/>
              <a:buNone/>
            </a:pPr>
            <a:r>
              <a:rPr b="1" i="0" lang="en-US" sz="1239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Результат для громади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912886" y="2025602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Залучення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323249" y="2025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іноземних інвестицій без посередників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912886" y="2461603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Прозорість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323249" y="2461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кожної транзакції для громади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912886" y="2897604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Реінвестування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323249" y="2897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прибутків всередині муніципалітету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912886" y="3333605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Ефективність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323249" y="3333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скорочення циклу угод з 90 до 30 днів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912886" y="3769606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Зростання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323249" y="3769601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економічний розвиток громади та держави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6401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400"/>
              <a:buFont typeface="Unbounded"/>
              <a:buNone/>
            </a:pPr>
            <a:r>
              <a:rPr b="1" i="0" lang="en-US" sz="24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Залучення </a:t>
            </a:r>
            <a:r>
              <a:rPr b="1" i="0" lang="en-US" sz="24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іноземних інвестицій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5154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BANDA як канал прямих інвестицій у громаду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0075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640075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b="1" i="0" lang="en-US" sz="1172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Муніципалітет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40075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b="0" i="0" lang="en-US" sz="977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Об'єкти, земля, проєкти PPP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365614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365614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b="1" i="0" lang="en-US" sz="1172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BANDA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365614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b="0" i="0" lang="en-US" sz="977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Верифікація, стандартизація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091153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091153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b="1" i="0" lang="en-US" sz="1172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Іноземний капітал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091153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b="0" i="0" lang="en-US" sz="977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Інвестори, фонди, Family Offices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984184" y="1671512"/>
            <a:ext cx="312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0" i="0" lang="en-US" sz="215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714670" y="1668923"/>
            <a:ext cx="312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0" i="0" lang="en-US" sz="215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48700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76085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b="1" i="0" lang="en-US" sz="111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Токенізація RWA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76085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b="0" i="0" lang="en-US" sz="975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Фракційне володіння нерухомістю відкриває об'єкти для міжнародних мікроінвесторів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323776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3451161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b="1" i="0" lang="en-US" sz="111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Escrow &amp; Smart Contracts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451161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b="0" i="0" lang="en-US" sz="975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Захист обох сторін угоди через прозорі цифрові контракти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998852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126237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b="1" i="0" lang="en-US" sz="111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Внутрішнє реінвестування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126237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b="0" i="0" lang="en-US" sz="975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Прибутки від угод залишаються в економіці громади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4" name="Google Shape;2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8600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Реінтеграція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ветеранів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63880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Безкоштовна платформа навчання — нова кар'єра для захисників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50250" y="16002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5300" rotWithShape="0" algn="bl" dir="8100000" dist="23825">
              <a:srgbClr val="000000">
                <a:alpha val="5882"/>
              </a:srgbClr>
            </a:outerShdw>
          </a:effectLst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864666" y="1728855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1.2M+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128550" y="1728850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зареєстрованих ветеранів в Україні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0"/>
          <p:cNvCxnSpPr/>
          <p:nvPr/>
        </p:nvCxnSpPr>
        <p:spPr>
          <a:xfrm>
            <a:off x="864666" y="2200590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0"/>
          <p:cNvSpPr/>
          <p:nvPr/>
        </p:nvSpPr>
        <p:spPr>
          <a:xfrm>
            <a:off x="864666" y="2457899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5-6M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128550" y="245789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ветеранів з родинами потребуватимуть підтримки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864666" y="2929634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864666" y="3186944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121 000+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128550" y="318694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ветеранів з інвалідністю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0"/>
          <p:cNvCxnSpPr/>
          <p:nvPr/>
        </p:nvCxnSpPr>
        <p:spPr>
          <a:xfrm>
            <a:off x="864666" y="3658678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0"/>
          <p:cNvSpPr/>
          <p:nvPr/>
        </p:nvSpPr>
        <p:spPr>
          <a:xfrm>
            <a:off x="864666" y="3915988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40%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128550" y="3915998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ветеранів потребують медичної допомоги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638525" y="16002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2954" y="1728855"/>
            <a:ext cx="343078" cy="34307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"/>
          <p:cNvSpPr/>
          <p:nvPr/>
        </p:nvSpPr>
        <p:spPr>
          <a:xfrm>
            <a:off x="5281803" y="1728855"/>
            <a:ext cx="257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9"/>
              <a:buFont typeface="Unbounded"/>
              <a:buNone/>
            </a:pPr>
            <a:r>
              <a:rPr b="1" i="0" lang="en-US" sz="1219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Що пропонує BANDA</a:t>
            </a:r>
            <a:endParaRPr b="0" i="0" sz="12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2863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5153148" y="224347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Безкоштовне навчання професії агента з нерухомості на платформі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71520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5153148" y="267232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Гнучкий та повністю remote-формат роботи — з будь-якого місця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1440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5153148" y="310117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Прозора система винагород та кар'єрного зростання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57290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5153148" y="3530023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Геймифікація для поступового залучення та мотивації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400175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/>
          <p:nvPr/>
        </p:nvSpPr>
        <p:spPr>
          <a:xfrm>
            <a:off x="5153148" y="3901399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Доступ до міжнародного ринку об'єктів та клієнтів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07" name="Google Shape;3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Інклюзивність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та освіта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57638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BANDA створює робочі місця для всіх категорій населення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40075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1639239" y="1570319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411" y="1711491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/>
          <p:nvPr/>
        </p:nvSpPr>
        <p:spPr>
          <a:xfrm>
            <a:off x="640075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b="1" i="0" lang="en-US" sz="114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Люди з інвалідністю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1074476" y="2678009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Remote-модель роботи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1074476" y="3025510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Цифрові інструменти без бар'єрів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1074451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Прозора система винагород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1074451" y="3729715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Посилення ESG-профілю громади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376643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375795" y="1570319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6917" y="1711454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3376643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b="1" i="0" lang="en-US" sz="114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Студенти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3811019" y="267472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Безкоштовне навчання на платформі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/>
          <p:nvPr/>
        </p:nvSpPr>
        <p:spPr>
          <a:xfrm>
            <a:off x="3811019" y="3028472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Практичний досвід з реальними угодами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3811019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Гнучкий графік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3811019" y="37234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Кадровий резерв для ринку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113211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7112351" y="1570356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53523" y="1711529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6113211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b="1" i="0" lang="en-US" sz="114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Переселенці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6547587" y="267472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Доступ до ринку без прив'язки до локації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1"/>
          <p:cNvSpPr/>
          <p:nvPr/>
        </p:nvSpPr>
        <p:spPr>
          <a:xfrm>
            <a:off x="6547587" y="3022229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Підтримка релокаційних програм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1"/>
          <p:cNvSpPr/>
          <p:nvPr/>
        </p:nvSpPr>
        <p:spPr>
          <a:xfrm>
            <a:off x="6547587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Швидкий старт кар'єри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6547587" y="37234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Інтеграція через платформу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51" name="Google Shape;3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6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Екосистема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учасників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520440" y="1645920"/>
            <a:ext cx="2103120" cy="210312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logo_banda.png" id="354" name="Google Shape;3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4760" y="2331720"/>
            <a:ext cx="1554480" cy="53949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/>
          <p:nvPr/>
        </p:nvSpPr>
        <p:spPr>
          <a:xfrm>
            <a:off x="3520440" y="28803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Trust Layer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046050" y="117655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3210" y="135943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1594690" y="117655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Агенти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97520" y="235305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680" y="253593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2"/>
          <p:cNvSpPr/>
          <p:nvPr/>
        </p:nvSpPr>
        <p:spPr>
          <a:xfrm>
            <a:off x="1046160" y="235305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Муніципалітети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366158" y="348280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3318" y="3665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/>
          <p:nvPr/>
        </p:nvSpPr>
        <p:spPr>
          <a:xfrm>
            <a:off x="1914798" y="34828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Покупці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177645" y="117652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4805" y="135940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/>
          <p:nvPr/>
        </p:nvSpPr>
        <p:spPr>
          <a:xfrm>
            <a:off x="6726285" y="117652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Банки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884685" y="235300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1845" y="253588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7433325" y="235300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Девелопери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741668" y="348280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78828" y="3665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6290308" y="34828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Інвестори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79" name="Google Shape;3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4517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3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CEO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BANDA Ukraine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40075" y="1087201"/>
            <a:ext cx="7925400" cy="32943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>
            <a:noFill/>
          </a:ln>
          <a:effectLst>
            <a:outerShdw blurRad="97843" rotWithShape="0" algn="bl" dir="8100000" dist="24461">
              <a:srgbClr val="000000">
                <a:alpha val="5882"/>
              </a:srgbClr>
            </a:outerShdw>
          </a:effectLst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904250" y="1219299"/>
            <a:ext cx="70446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119"/>
              <a:buFont typeface="Unbounded"/>
              <a:buNone/>
            </a:pPr>
            <a:r>
              <a:rPr b="1" i="0" lang="en-US" sz="2118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Максим Калініченко</a:t>
            </a:r>
            <a:endParaRPr b="0" i="0" sz="21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04250" y="170361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48"/>
              <a:buFont typeface="Manrope"/>
              <a:buNone/>
            </a:pPr>
            <a:r>
              <a:rPr b="0" i="0" lang="en-US" sz="1348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CEO  •  BANDA Ukraine SPV</a:t>
            </a:r>
            <a:endParaRPr b="0" i="0" sz="13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13"/>
          <p:cNvCxnSpPr/>
          <p:nvPr/>
        </p:nvCxnSpPr>
        <p:spPr>
          <a:xfrm>
            <a:off x="904250" y="2143910"/>
            <a:ext cx="2641800" cy="0"/>
          </a:xfrm>
          <a:prstGeom prst="straightConnector1">
            <a:avLst/>
          </a:prstGeom>
          <a:noFill/>
          <a:ln cap="flat" cmpd="sng" w="122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85" name="Google Shape;3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320026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1168425" y="2275997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Легендарний гравець збірної України з футболу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654647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3"/>
          <p:cNvSpPr/>
          <p:nvPr/>
        </p:nvSpPr>
        <p:spPr>
          <a:xfrm>
            <a:off x="1168425" y="2610618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Учасник чвертьфіналу ЧС-2006 (Німеччина)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989268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3"/>
          <p:cNvSpPr/>
          <p:nvPr/>
        </p:nvSpPr>
        <p:spPr>
          <a:xfrm>
            <a:off x="1168425" y="294523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47 матчів та 7 голів за збірну України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32388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3"/>
          <p:cNvSpPr/>
          <p:nvPr/>
        </p:nvSpPr>
        <p:spPr>
          <a:xfrm>
            <a:off x="1168425" y="327985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Нагороджений орденом «За мужність» III ступеня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65850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3"/>
          <p:cNvSpPr/>
          <p:nvPr/>
        </p:nvSpPr>
        <p:spPr>
          <a:xfrm>
            <a:off x="1168425" y="3614480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Відкрита проукраїнська позиція з перших днів вторгнення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993130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1168425" y="3949101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Визнання та довіра мільйонів українців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747458" y="2320026"/>
            <a:ext cx="2641800" cy="1232700"/>
          </a:xfrm>
          <a:prstGeom prst="roundRect">
            <a:avLst>
              <a:gd fmla="val 5714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5879546" y="2364055"/>
            <a:ext cx="2377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000" lIns="88050" spcFirstLastPara="1" rIns="88050" wrap="square" tIns="440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30B9"/>
              </a:buClr>
              <a:buSzPts val="1011"/>
              <a:buFont typeface="Manrope"/>
              <a:buNone/>
            </a:pPr>
            <a:r>
              <a:rPr b="0" i="1" lang="en-US" sz="1011" u="none" cap="none" strike="noStrike">
                <a:solidFill>
                  <a:srgbClr val="4B30B9"/>
                </a:solidFill>
                <a:latin typeface="Manrope"/>
                <a:ea typeface="Manrope"/>
                <a:cs typeface="Manrope"/>
                <a:sym typeface="Manrope"/>
              </a:rPr>
              <a:t>Максим Калініченко — обличчя, якому довіряє Україна. Його репутація та публічність підсилюють довіру до платформи серед громад та партнерів.</a:t>
            </a:r>
            <a:endParaRPr b="0" i="0" sz="10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04" name="Google Shape;4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4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Еволюція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бренду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633000" y="1107787"/>
            <a:ext cx="7878000" cy="32388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7261" rotWithShape="0" algn="bl" dir="8100000" dist="24315">
              <a:srgbClr val="000000">
                <a:alpha val="5882"/>
              </a:srgbClr>
            </a:outerShdw>
          </a:effectLst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/>
          </a:p>
        </p:txBody>
      </p:sp>
      <p:pic>
        <p:nvPicPr>
          <p:cNvPr descr="/home/claude/logo_banda.png" id="407" name="Google Shape;4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2809" y="1326623"/>
            <a:ext cx="2538500" cy="87534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"/>
          <p:cNvSpPr/>
          <p:nvPr/>
        </p:nvSpPr>
        <p:spPr>
          <a:xfrm>
            <a:off x="1070674" y="2377037"/>
            <a:ext cx="7002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44"/>
              <a:buFont typeface="Manrope"/>
              <a:buNone/>
            </a:pPr>
            <a:r>
              <a:rPr b="0" i="0" lang="en-US" sz="1244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Наразі проєкт працює під брендом BANDA і знаходиться у процесі оновлення бренду.</a:t>
            </a:r>
            <a:endParaRPr b="0" i="0" sz="12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245743" y="2902243"/>
            <a:ext cx="66525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49"/>
              <a:buFont typeface="Manrope"/>
              <a:buNone/>
            </a:pPr>
            <a:r>
              <a:rPr b="0" i="0" lang="en-US" sz="114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Ренеймінг — це стратегічний крок, пов'язаний із масштабуванням платформи на міжнародні ринки. Нова назва буде відповідати глобальному позиціонуванню проєкту як інфраструктурного шару для ринку нерухомості.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9"/>
              <a:buFont typeface="Calibri"/>
              <a:buNone/>
            </a:pPr>
            <a:r>
              <a:t/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49"/>
              <a:buFont typeface="Manrope"/>
              <a:buNone/>
            </a:pPr>
            <a:r>
              <a:rPr b="0" i="0" lang="en-US" sz="114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Усі зобов'язання, партнерства та функціональність платформи залишаються незмінними. Зміна торкнеться виключно комунікаційного шару.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15" name="Google Shape;4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560" y="457200"/>
            <a:ext cx="2468880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/>
          <p:nvPr/>
        </p:nvSpPr>
        <p:spPr>
          <a:xfrm>
            <a:off x="914400" y="150876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Побудуймо інфраструктуру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довіри разом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15"/>
          <p:cNvCxnSpPr/>
          <p:nvPr/>
        </p:nvCxnSpPr>
        <p:spPr>
          <a:xfrm>
            <a:off x="3200400" y="26060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5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BANDA — це не витрати для муніципалітету.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Це безкоштовний інструмент, який приносить прозорість, </a:t>
            </a:r>
            <a:endParaRPr b="0" i="0" sz="1300" u="none" cap="none" strike="noStrike">
              <a:solidFill>
                <a:srgbClr val="6C4CE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інвестиції та робочі місця.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2286000" y="3749040"/>
            <a:ext cx="4572000" cy="1051560"/>
          </a:xfrm>
          <a:prstGeom prst="roundRect">
            <a:avLst>
              <a:gd fmla="val 8696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Alex Grynevych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286000" y="4160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CBDO &amp; Board Member  •  BANDA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286000" y="44348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nrope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HQ: UAE  •  SPV: Spain &amp; Ukraine  •  Seed Stage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2026-03-19T21:13:48Z</dcterms:created>
  <dc:creator>BANDA</dc:creator>
</cp:coreProperties>
</file>