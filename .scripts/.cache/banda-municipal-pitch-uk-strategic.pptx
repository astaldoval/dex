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71" r:id="rId26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5143500" cy="9144000"/>
  <p:embeddedFontLst>
    <p:embeddedFont>
      <p:font typeface="Manrope"/>
      <p:regular r:id="rId21"/>
      <p:bold r:id="rId22"/>
    </p:embeddedFont>
    <p:embeddedFont>
      <p:font typeface="Unbounded"/>
      <p:regular r:id="rId23"/>
      <p:bold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403">
          <p15:clr>
            <a:srgbClr val="747775"/>
          </p15:clr>
        </p15:guide>
        <p15:guide id="2" pos="2880">
          <p15:clr>
            <a:srgbClr val="747775"/>
          </p15:clr>
        </p15:guide>
        <p15:guide id="3" orient="horz" pos="1783">
          <p15:clr>
            <a:srgbClr val="747775"/>
          </p15:clr>
        </p15:guide>
        <p15:guide id="4" orient="horz" pos="2002">
          <p15:clr>
            <a:srgbClr val="747775"/>
          </p15:clr>
        </p15:guide>
        <p15:guide id="5" orient="horz" pos="2220">
          <p15:clr>
            <a:srgbClr val="747775"/>
          </p15:clr>
        </p15:guide>
        <p15:guide id="6" orient="horz" pos="2453">
          <p15:clr>
            <a:srgbClr val="747775"/>
          </p15:clr>
        </p15:guide>
      </p15:sldGuideLst>
    </p:ext>
    <p:ext uri="GoogleSlidesCustomDataVersion2">
      <go:slidesCustomData xmlns:go="http://customooxmlschemas.google.com/" r:id="rId25" roundtripDataSignature="AMtx7mifvrfIwEMh1dex4yL6skTzXS2RL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03"/>
        <p:guide pos="2880"/>
        <p:guide pos="1783" orient="horz"/>
        <p:guide pos="2002" orient="horz"/>
        <p:guide pos="2220" orient="horz"/>
        <p:guide pos="2453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font" Target="fonts/Manrope-regular.fntdata"/><Relationship Id="rId22" Type="http://schemas.openxmlformats.org/officeDocument/2006/relationships/font" Target="fonts/Manrope-bold.fntdata"/><Relationship Id="rId23" Type="http://schemas.openxmlformats.org/officeDocument/2006/relationships/font" Target="fonts/Unbounded-regular.fntdata"/><Relationship Id="rId24" Type="http://schemas.openxmlformats.org/officeDocument/2006/relationships/font" Target="fonts/Unbounded-bold.fntdata"/><Relationship Id="rId25" Type="http://customschemas.google.com/relationships/presentationmetadata" Target="metadata"/><Relationship Id="rId26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" name="Google Shape;4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4" name="Google Shape;30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8" name="Google Shape;34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6" name="Google Shape;37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1" name="Google Shape;40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2" name="Google Shape;41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jpg"/><Relationship Id="rId4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jpg"/><Relationship Id="rId4" Type="http://schemas.openxmlformats.org/officeDocument/2006/relationships/image" Target="../media/image25.png"/><Relationship Id="rId5" Type="http://schemas.openxmlformats.org/officeDocument/2006/relationships/image" Target="../media/image3.png"/><Relationship Id="rId6" Type="http://schemas.openxmlformats.org/officeDocument/2006/relationships/image" Target="../media/image1.png"/><Relationship Id="rId7" Type="http://schemas.openxmlformats.org/officeDocument/2006/relationships/image" Target="../media/image74.png"/><Relationship Id="rId8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jp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jp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14.png"/><Relationship Id="rId7" Type="http://schemas.openxmlformats.org/officeDocument/2006/relationships/image" Target="../media/image10.png"/><Relationship Id="rId8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jpg"/><Relationship Id="rId4" Type="http://schemas.openxmlformats.org/officeDocument/2006/relationships/image" Target="../media/image73.png"/><Relationship Id="rId5" Type="http://schemas.openxmlformats.org/officeDocument/2006/relationships/image" Target="../media/image29.png"/><Relationship Id="rId6" Type="http://schemas.openxmlformats.org/officeDocument/2006/relationships/image" Target="../media/image44.png"/><Relationship Id="rId7" Type="http://schemas.openxmlformats.org/officeDocument/2006/relationships/image" Target="../media/image16.png"/><Relationship Id="rId8" Type="http://schemas.openxmlformats.org/officeDocument/2006/relationships/image" Target="../media/image20.png"/><Relationship Id="rId9" Type="http://schemas.openxmlformats.org/officeDocument/2006/relationships/image" Target="../media/image23.png"/><Relationship Id="rId10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jpg"/><Relationship Id="rId4" Type="http://schemas.openxmlformats.org/officeDocument/2006/relationships/image" Target="../media/image29.png"/><Relationship Id="rId5" Type="http://schemas.openxmlformats.org/officeDocument/2006/relationships/image" Target="../media/image6.png"/><Relationship Id="rId6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jpg"/><Relationship Id="rId4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jpg"/><Relationship Id="rId4" Type="http://schemas.openxmlformats.org/officeDocument/2006/relationships/image" Target="../media/image20.png"/><Relationship Id="rId5" Type="http://schemas.openxmlformats.org/officeDocument/2006/relationships/image" Target="../media/image34.png"/><Relationship Id="rId6" Type="http://schemas.openxmlformats.org/officeDocument/2006/relationships/image" Target="../media/image5.png"/><Relationship Id="rId7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jpg"/><Relationship Id="rId4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jpg"/><Relationship Id="rId4" Type="http://schemas.openxmlformats.org/officeDocument/2006/relationships/image" Target="../media/image42.png"/><Relationship Id="rId5" Type="http://schemas.openxmlformats.org/officeDocument/2006/relationships/image" Target="../media/image37.png"/><Relationship Id="rId6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jpg"/><Relationship Id="rId4" Type="http://schemas.openxmlformats.org/officeDocument/2006/relationships/image" Target="../media/image64.png"/><Relationship Id="rId5" Type="http://schemas.openxmlformats.org/officeDocument/2006/relationships/image" Target="../media/image6.png"/><Relationship Id="rId6" Type="http://schemas.openxmlformats.org/officeDocument/2006/relationships/image" Target="../media/image23.png"/><Relationship Id="rId7" Type="http://schemas.openxmlformats.org/officeDocument/2006/relationships/image" Target="../media/image16.png"/><Relationship Id="rId8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jpg"/><Relationship Id="rId4" Type="http://schemas.openxmlformats.org/officeDocument/2006/relationships/image" Target="../media/image16.png"/><Relationship Id="rId5" Type="http://schemas.openxmlformats.org/officeDocument/2006/relationships/image" Target="../media/image57.png"/><Relationship Id="rId6" Type="http://schemas.openxmlformats.org/officeDocument/2006/relationships/image" Target="../media/image59.png"/><Relationship Id="rId7" Type="http://schemas.openxmlformats.org/officeDocument/2006/relationships/image" Target="../media/image75.png"/><Relationship Id="rId8" Type="http://schemas.openxmlformats.org/officeDocument/2006/relationships/image" Target="../media/image61.png"/><Relationship Id="rId9" Type="http://schemas.openxmlformats.org/officeDocument/2006/relationships/image" Target="../media/image70.png"/><Relationship Id="rId10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jp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jpg"/><Relationship Id="rId4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jpg"/><Relationship Id="rId4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C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logo_banda.png" id="16" name="Google Shape;16;p1"/>
          <p:cNvPicPr preferRelativeResize="0"/>
          <p:nvPr/>
        </p:nvPicPr>
        <p:blipFill rotWithShape="1">
          <a:blip r:embed="rId4">
            <a:alphaModFix/>
          </a:blip>
          <a:srcRect l="0" t="0" r="0" b="0"/>
          <a:stretch/>
        </p:blipFill>
        <p:spPr>
          <a:xfrm>
            <a:off x="3911600" y="355600"/>
            <a:ext cx="1320800" cy="1320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"/>
          <p:cNvSpPr/>
          <p:nvPr/>
        </p:nvSpPr>
        <p:spPr>
          <a:xfrm>
            <a:off x="685800" y="1422400"/>
            <a:ext cx="7772400" cy="998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2800"/>
              <a:buFont typeface="Unbounded"/>
              <a:buNone/>
            </a:pPr>
            <a:r>
              <a:rPr sz="2600" b="1" i="0">
                <a:solidFill>
                  <a:srgbClr val="12141A"/>
                </a:solidFill>
                <a:latin typeface="Manrope"/>
              </a:rPr>
              <a:t>Інфраструктурна платформа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/>
            <a:r>
              <a:rPr sz="2600" b="1" i="0">
                <a:solidFill>
                  <a:srgbClr val="12141A"/>
                </a:solidFill>
                <a:latin typeface="Manrope"/>
              </a:rPr>
              <a:t>для ринку нерухомості</a:t>
            </a:r>
          </a:p>
        </p:txBody>
      </p:sp>
      <p:sp>
        <p:nvSpPr>
          <p:cNvPr id="18" name="Google Shape;18;p1"/>
          <p:cNvSpPr/>
          <p:nvPr/>
        </p:nvSpPr>
        <p:spPr>
          <a:xfrm>
            <a:off x="685800" y="2725888"/>
            <a:ext cx="7772400" cy="595844"/>
          </a:xfrm>
          <a:prstGeom prst="rect">
            <a:avLst/>
          </a:prstGeom>
          <a:noFill/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1400"/>
              <a:buFont typeface="Manrope"/>
              <a:buNone/>
            </a:pPr>
            <a:r>
              <a:rPr sz="1300" b="0" i="0">
                <a:solidFill>
                  <a:srgbClr val="4A4F5C"/>
                </a:solidFill>
                <a:latin typeface="Manrope"/>
              </a:rPr>
              <a:t>Як цифрова інфраструктура допомагає громаді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>
              <a:lnSpc>
                <a:spcPct val="112000"/>
              </a:lnSpc>
            </a:pPr>
            <a:r>
              <a:rPr sz="1300" b="0" i="0">
                <a:solidFill>
                  <a:srgbClr val="4A4F5C"/>
                </a:solidFill>
                <a:latin typeface="Manrope"/>
              </a:rPr>
              <a:t>залучати інвестиції та керувати об'єктами</a:t>
            </a:r>
          </a:p>
        </p:txBody>
      </p:sp>
      <p:cxnSp>
        <p:nvCxnSpPr>
          <p:cNvPr id="19" name="Google Shape;19;p1"/>
          <p:cNvCxnSpPr/>
          <p:nvPr/>
        </p:nvCxnSpPr>
        <p:spPr>
          <a:xfrm>
            <a:off x="685800" y="3644900"/>
            <a:ext cx="7772400" cy="25400"/>
          </a:xfrm>
          <a:prstGeom prst="straightConnector1">
            <a:avLst/>
          </a:prstGeom>
          <a:noFill/>
          <a:ln cap="flat" cmpd="sng" w="19050">
            <a:solidFill>
              <a:srgbClr val="6C4C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" name="Google Shape;20;p1"/>
          <p:cNvSpPr/>
          <p:nvPr/>
        </p:nvSpPr>
        <p:spPr>
          <a:xfrm>
            <a:off x="685800" y="3771900"/>
            <a:ext cx="77724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marL="0" marR="0" rtl="0" algn="ctr"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200"/>
              <a:buFont typeface="Manrope"/>
              <a:buNone/>
            </a:pPr>
            <a:r>
              <a:rPr sz="700" b="0" i="0">
                <a:solidFill>
                  <a:srgbClr val="646870"/>
                </a:solidFill>
                <a:latin typeface="Manrope"/>
              </a:rPr>
              <a:t>Презентація для муніципалітетів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685800" y="4178300"/>
            <a:ext cx="7772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200"/>
              <a:buFont typeface="Manrope"/>
              <a:buNone/>
            </a:pPr>
            <a:r>
              <a:rPr sz="700" b="1" i="0">
                <a:solidFill>
                  <a:srgbClr val="12141A"/>
                </a:solidFill>
                <a:latin typeface="Manrope"/>
              </a:rPr>
              <a:t>Eighty85  •  Infrastructure-First PropTech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C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logo_banda.png" id="27" name="Google Shape;27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305800" y="228600"/>
            <a:ext cx="482600" cy="482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2"/>
          <p:cNvSpPr/>
          <p:nvPr/>
        </p:nvSpPr>
        <p:spPr>
          <a:xfrm>
            <a:off x="685800" y="355600"/>
            <a:ext cx="7772400" cy="9692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2800"/>
              <a:buFont typeface="Unbounded"/>
              <a:buNone/>
            </a:pPr>
            <a:r>
              <a:rPr sz="2800" b="1" i="0">
                <a:solidFill>
                  <a:srgbClr val="12141A"/>
                </a:solidFill>
                <a:latin typeface="Unbounded"/>
              </a:rPr>
              <a:t>Ринок нерухомості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l"/>
            <a:r>
              <a:rPr sz="2800" b="1" i="0">
                <a:solidFill>
                  <a:srgbClr val="12141A"/>
                </a:solidFill>
                <a:latin typeface="Unbounded"/>
              </a:rPr>
              <a:t>працює фрагментарно</a:t>
            </a:r>
          </a:p>
        </p:txBody>
      </p:sp>
      <p:sp>
        <p:nvSpPr>
          <p:cNvPr id="29" name="Google Shape;29;p2"/>
          <p:cNvSpPr/>
          <p:nvPr/>
        </p:nvSpPr>
        <p:spPr>
          <a:xfrm>
            <a:off x="685800" y="1401063"/>
            <a:ext cx="7772400" cy="394422"/>
          </a:xfrm>
          <a:prstGeom prst="rect">
            <a:avLst/>
          </a:prstGeom>
          <a:noFill/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300"/>
              <a:buFont typeface="Manrope"/>
              <a:buNone/>
            </a:pPr>
            <a:r>
              <a:rPr sz="1300" b="0" i="0">
                <a:solidFill>
                  <a:srgbClr val="4A4F5C"/>
                </a:solidFill>
                <a:latin typeface="Manrope"/>
              </a:rPr>
              <a:t>Системні проблеми, які гальмують розвиток громади та бюджет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685800" y="1922485"/>
            <a:ext cx="3797300" cy="1191407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" name="Google Shape;31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200" y="2074885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2"/>
          <p:cNvSpPr/>
          <p:nvPr/>
        </p:nvSpPr>
        <p:spPr>
          <a:xfrm>
            <a:off x="1397000" y="2074885"/>
            <a:ext cx="29337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300"/>
              <a:buFont typeface="Unbounded"/>
              <a:buNone/>
            </a:pPr>
            <a:r>
              <a:rPr sz="1300" b="1" i="0">
                <a:solidFill>
                  <a:srgbClr val="6C4CEB"/>
                </a:solidFill>
                <a:latin typeface="Manrope"/>
              </a:rPr>
              <a:t>Низька довіра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838200" y="2608285"/>
            <a:ext cx="34925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0" spcFirstLastPara="1" rIns="0" wrap="square" tIns="25400">
            <a:noAutofit/>
          </a:bodyPr>
          <a:lstStyle/>
          <a:p>
            <a:pPr indent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100"/>
              <a:buFont typeface="Manrope"/>
              <a:buNone/>
            </a:pPr>
            <a:r>
              <a:rPr sz="950" b="0" i="0">
                <a:solidFill>
                  <a:srgbClr val="4A4F5C"/>
                </a:solidFill>
                <a:latin typeface="Manrope"/>
              </a:rPr>
              <a:t>Дані щодо угод розрізнені.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4A4F5C"/>
                </a:solidFill>
                <a:latin typeface="Manrope"/>
              </a:rPr>
              <a:t>Банки та інвестори не бачать прозорий ланцюжок об'єктів.</a:t>
            </a:r>
          </a:p>
        </p:txBody>
      </p:sp>
      <p:sp>
        <p:nvSpPr>
          <p:cNvPr id="34" name="Google Shape;34;p2"/>
          <p:cNvSpPr/>
          <p:nvPr/>
        </p:nvSpPr>
        <p:spPr>
          <a:xfrm>
            <a:off x="4660900" y="1922485"/>
            <a:ext cx="3797300" cy="1191407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" name="Google Shape;35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13300" y="2074885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2"/>
          <p:cNvSpPr/>
          <p:nvPr/>
        </p:nvSpPr>
        <p:spPr>
          <a:xfrm>
            <a:off x="5372100" y="2074885"/>
            <a:ext cx="29337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300"/>
              <a:buFont typeface="Unbounded"/>
              <a:buNone/>
            </a:pPr>
            <a:r>
              <a:rPr sz="1300" b="1" i="0">
                <a:solidFill>
                  <a:srgbClr val="6C4CEB"/>
                </a:solidFill>
                <a:latin typeface="Manrope"/>
              </a:rPr>
              <a:t>Неліквідні активи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4813300" y="2608285"/>
            <a:ext cx="34925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0" spcFirstLastPara="1" rIns="0" wrap="square" tIns="25400">
            <a:noAutofit/>
          </a:bodyPr>
          <a:lstStyle/>
          <a:p>
            <a:pPr indent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100"/>
              <a:buFont typeface="Manrope"/>
              <a:buNone/>
            </a:pPr>
            <a:r>
              <a:rPr sz="950" b="0" i="0">
                <a:solidFill>
                  <a:srgbClr val="4A4F5C"/>
                </a:solidFill>
                <a:latin typeface="Manrope"/>
              </a:rPr>
              <a:t>Об'єкти громади довго не виходять в обіг.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4A4F5C"/>
                </a:solidFill>
                <a:latin typeface="Manrope"/>
              </a:rPr>
              <a:t>Інвестиційний інтерес не перетворюється на угоди.</a:t>
            </a:r>
          </a:p>
        </p:txBody>
      </p:sp>
      <p:sp>
        <p:nvSpPr>
          <p:cNvPr id="38" name="Google Shape;38;p2"/>
          <p:cNvSpPr/>
          <p:nvPr/>
        </p:nvSpPr>
        <p:spPr>
          <a:xfrm>
            <a:off x="685800" y="3291692"/>
            <a:ext cx="3797300" cy="1191407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9" name="Google Shape;39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8200" y="344409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2"/>
          <p:cNvSpPr/>
          <p:nvPr/>
        </p:nvSpPr>
        <p:spPr>
          <a:xfrm>
            <a:off x="1397000" y="3444092"/>
            <a:ext cx="29337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300"/>
              <a:buFont typeface="Unbounded"/>
              <a:buNone/>
            </a:pPr>
            <a:r>
              <a:rPr sz="1300" b="1" i="0">
                <a:solidFill>
                  <a:srgbClr val="6C4CEB"/>
                </a:solidFill>
                <a:latin typeface="Manrope"/>
              </a:rPr>
              <a:t>Довгі цикли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838200" y="3977492"/>
            <a:ext cx="34925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0" spcFirstLastPara="1" rIns="0" wrap="square" tIns="25400">
            <a:noAutofit/>
          </a:bodyPr>
          <a:lstStyle/>
          <a:p>
            <a:pPr indent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100"/>
              <a:buFont typeface="Manrope"/>
              <a:buNone/>
            </a:pPr>
            <a:r>
              <a:rPr sz="950" b="0" i="0">
                <a:solidFill>
                  <a:srgbClr val="4A4F5C"/>
                </a:solidFill>
                <a:latin typeface="Manrope"/>
              </a:rPr>
              <a:t>Угода займає 45–90 днів.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4A4F5C"/>
                </a:solidFill>
                <a:latin typeface="Manrope"/>
              </a:rPr>
              <a:t>Ручні процеси, дублювання документів, немає єдиного стандарту.</a:t>
            </a:r>
          </a:p>
        </p:txBody>
      </p:sp>
      <p:sp>
        <p:nvSpPr>
          <p:cNvPr id="42" name="Google Shape;42;p2"/>
          <p:cNvSpPr/>
          <p:nvPr/>
        </p:nvSpPr>
        <p:spPr>
          <a:xfrm>
            <a:off x="4660900" y="3291692"/>
            <a:ext cx="3797300" cy="1191407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3" name="Google Shape;43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13300" y="344409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2"/>
          <p:cNvSpPr/>
          <p:nvPr/>
        </p:nvSpPr>
        <p:spPr>
          <a:xfrm>
            <a:off x="5372100" y="3444092"/>
            <a:ext cx="29337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300"/>
              <a:buFont typeface="Unbounded"/>
              <a:buNone/>
            </a:pPr>
            <a:r>
              <a:rPr sz="1300" b="1" i="0">
                <a:solidFill>
                  <a:srgbClr val="6C4CEB"/>
                </a:solidFill>
                <a:latin typeface="Manrope"/>
              </a:rPr>
              <a:t>Слабка вітрина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4813300" y="3977492"/>
            <a:ext cx="34925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0" spcFirstLastPara="1" rIns="0" wrap="square" tIns="25400">
            <a:noAutofit/>
          </a:bodyPr>
          <a:lstStyle/>
          <a:p>
            <a:pPr indent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100"/>
              <a:buFont typeface="Manrope"/>
              <a:buNone/>
            </a:pPr>
            <a:r>
              <a:rPr sz="950" b="0" i="0">
                <a:solidFill>
                  <a:srgbClr val="4A4F5C"/>
                </a:solidFill>
                <a:latin typeface="Manrope"/>
              </a:rPr>
              <a:t>Немає єдиного каналу для інвесторів.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4A4F5C"/>
                </a:solidFill>
                <a:latin typeface="Manrope"/>
              </a:rPr>
              <a:t>Складно показати об'єкти громади в зрозумілому форматі.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C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logo_banda.png" id="51" name="Google Shape;51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05800" y="228600"/>
            <a:ext cx="482600" cy="482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claude/logo_banda.png" id="52" name="Google Shape;52;p3" hidden="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568" y="320040"/>
            <a:ext cx="1280160" cy="448056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3"/>
          <p:cNvSpPr/>
          <p:nvPr/>
        </p:nvSpPr>
        <p:spPr>
          <a:xfrm>
            <a:off x="685800" y="914400"/>
            <a:ext cx="7772400" cy="500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2600"/>
              <a:buFont typeface="Unbounded"/>
              <a:buNone/>
            </a:pPr>
            <a:r>
              <a:rPr sz="2575" b="1" i="0">
                <a:solidFill>
                  <a:srgbClr val="12141A"/>
                </a:solidFill>
                <a:latin typeface="Unbounded"/>
              </a:rPr>
              <a:t>Що таке Eighty85?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685800" y="1518800"/>
            <a:ext cx="4465320" cy="3169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1400"/>
              <a:buFont typeface="Manrope"/>
              <a:buNone/>
            </a:pPr>
            <a:r>
              <a:rPr sz="800" b="0" i="1">
                <a:solidFill>
                  <a:srgbClr val="6C4CEB"/>
                </a:solidFill>
                <a:latin typeface="Manrope"/>
              </a:rPr>
              <a:t>Цифрова інфраструктура для громади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685800" y="2042100"/>
            <a:ext cx="4465320" cy="7197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1250"/>
              <a:buFont typeface="Manrope"/>
              <a:buNone/>
            </a:pPr>
            <a:r>
              <a:rPr sz="1700" b="0" i="0">
                <a:solidFill>
                  <a:srgbClr val="292C33"/>
                </a:solidFill>
                <a:latin typeface="Manrope"/>
              </a:rPr>
              <a:t>①  Об'єкти громади  →  ②  Перевірка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l">
              <a:lnSpc>
                <a:spcPct val="112000"/>
              </a:lnSpc>
            </a:pPr>
            <a:r>
              <a:rPr sz="1700" b="0" i="0">
                <a:solidFill>
                  <a:srgbClr val="292C33"/>
                </a:solidFill>
                <a:latin typeface="Manrope"/>
              </a:rPr>
              <a:t>③  Інвестиційний інтерес  →  ④  Угода</a:t>
            </a:r>
          </a:p>
        </p:txBody>
      </p:sp>
      <p:sp>
        <p:nvSpPr>
          <p:cNvPr id="56" name="Google Shape;56;p3"/>
          <p:cNvSpPr/>
          <p:nvPr/>
        </p:nvSpPr>
        <p:spPr>
          <a:xfrm>
            <a:off x="5303520" y="1518800"/>
            <a:ext cx="3154680" cy="584200"/>
          </a:xfrm>
          <a:prstGeom prst="roundRect">
            <a:avLst>
              <a:gd fmla="val 11905" name="adj"/>
            </a:avLst>
          </a:prstGeom>
          <a:solidFill>
            <a:srgbClr val="EDE8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7" name="Google Shape;5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05120" y="1607700"/>
            <a:ext cx="330200" cy="3302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3"/>
          <p:cNvSpPr/>
          <p:nvPr/>
        </p:nvSpPr>
        <p:spPr>
          <a:xfrm>
            <a:off x="5836920" y="1518800"/>
            <a:ext cx="2545080" cy="272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100"/>
              <a:buFont typeface="Manrope"/>
              <a:buNone/>
            </a:pPr>
            <a:r>
              <a:rPr sz="1100" b="0" i="0">
                <a:solidFill>
                  <a:srgbClr val="12141A"/>
                </a:solidFill>
                <a:latin typeface="Manrope"/>
              </a:rPr>
              <a:t>Безкоштовно для муніципалітету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5303520" y="2230000"/>
            <a:ext cx="3154680" cy="584200"/>
          </a:xfrm>
          <a:prstGeom prst="roundRect">
            <a:avLst>
              <a:gd fmla="val 11905" name="adj"/>
            </a:avLst>
          </a:prstGeom>
          <a:solidFill>
            <a:srgbClr val="EDE8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0" name="Google Shape;60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05120" y="2318900"/>
            <a:ext cx="330200" cy="3302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3"/>
          <p:cNvSpPr/>
          <p:nvPr/>
        </p:nvSpPr>
        <p:spPr>
          <a:xfrm>
            <a:off x="5836920" y="2230000"/>
            <a:ext cx="2545080" cy="272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100"/>
              <a:buFont typeface="Manrope"/>
              <a:buNone/>
            </a:pPr>
            <a:r>
              <a:rPr sz="1100" b="0" i="0">
                <a:solidFill>
                  <a:srgbClr val="12141A"/>
                </a:solidFill>
                <a:latin typeface="Manrope"/>
              </a:rPr>
              <a:t>Єдиний паспорт об'єкта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5303520" y="2941200"/>
            <a:ext cx="3154680" cy="584200"/>
          </a:xfrm>
          <a:prstGeom prst="roundRect">
            <a:avLst>
              <a:gd fmla="val 11905" name="adj"/>
            </a:avLst>
          </a:prstGeom>
          <a:solidFill>
            <a:srgbClr val="EDE8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3" name="Google Shape;63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05120" y="3030100"/>
            <a:ext cx="330200" cy="3302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3"/>
          <p:cNvSpPr/>
          <p:nvPr/>
        </p:nvSpPr>
        <p:spPr>
          <a:xfrm>
            <a:off x="5836920" y="2941200"/>
            <a:ext cx="2545080" cy="272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100"/>
              <a:buFont typeface="Manrope"/>
              <a:buNone/>
            </a:pPr>
            <a:r>
              <a:rPr sz="1100" b="0" i="0">
                <a:solidFill>
                  <a:srgbClr val="12141A"/>
                </a:solidFill>
                <a:latin typeface="Manrope"/>
              </a:rPr>
              <a:t>Вітрина для інвесторів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 hidden="1"/>
          <p:cNvSpPr/>
          <p:nvPr/>
        </p:nvSpPr>
        <p:spPr>
          <a:xfrm>
            <a:off x="5760720" y="3010359"/>
            <a:ext cx="3017520" cy="384048"/>
          </a:xfrm>
          <a:prstGeom prst="roundRect">
            <a:avLst>
              <a:gd fmla="val 11905" name="adj"/>
            </a:avLst>
          </a:prstGeom>
          <a:solidFill>
            <a:srgbClr val="EDE8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6" name="Google Shape;66;p3" hidden="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52160" y="3074367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3" hidden="1"/>
          <p:cNvSpPr/>
          <p:nvPr/>
        </p:nvSpPr>
        <p:spPr>
          <a:xfrm>
            <a:off x="6217920" y="3010359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100"/>
              <a:buFont typeface="Manrope"/>
              <a:buNone/>
            </a:pP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 hidden="1"/>
          <p:cNvSpPr/>
          <p:nvPr/>
        </p:nvSpPr>
        <p:spPr>
          <a:xfrm>
            <a:off x="5760720" y="3485847"/>
            <a:ext cx="3017520" cy="384048"/>
          </a:xfrm>
          <a:prstGeom prst="roundRect">
            <a:avLst>
              <a:gd fmla="val 11905" name="adj"/>
            </a:avLst>
          </a:prstGeom>
          <a:solidFill>
            <a:srgbClr val="EDE8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9" name="Google Shape;69;p3" hidden="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52160" y="3549855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3" hidden="1"/>
          <p:cNvSpPr/>
          <p:nvPr/>
        </p:nvSpPr>
        <p:spPr>
          <a:xfrm>
            <a:off x="6217920" y="3485847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100"/>
              <a:buFont typeface="Manrope"/>
              <a:buNone/>
            </a:pP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 hidden="1"/>
          <p:cNvSpPr/>
          <p:nvPr/>
        </p:nvSpPr>
        <p:spPr>
          <a:xfrm>
            <a:off x="539642" y="4174695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000"/>
              <a:buFont typeface="Manrope"/>
              <a:buNone/>
            </a:pP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C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logo_banda.png" id="77" name="Google Shape;77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305800" y="228600"/>
            <a:ext cx="482600" cy="48260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4"/>
          <p:cNvSpPr/>
          <p:nvPr/>
        </p:nvSpPr>
        <p:spPr>
          <a:xfrm>
            <a:off x="685800" y="355600"/>
            <a:ext cx="7772400" cy="5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2600"/>
              <a:buFont typeface="Unbounded"/>
              <a:buNone/>
            </a:pPr>
            <a:r>
              <a:rPr sz="2600" b="1" i="0">
                <a:solidFill>
                  <a:srgbClr val="12141A"/>
                </a:solidFill>
                <a:latin typeface="Manrope"/>
              </a:rPr>
              <a:t>Як це працює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685800" y="990600"/>
            <a:ext cx="7772400" cy="394422"/>
          </a:xfrm>
          <a:prstGeom prst="rect">
            <a:avLst/>
          </a:prstGeom>
          <a:noFill/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300"/>
              <a:buFont typeface="Manrope"/>
              <a:buNone/>
            </a:pPr>
            <a:r>
              <a:rPr sz="1300" b="0" i="0">
                <a:solidFill>
                  <a:srgbClr val="4A4F5C"/>
                </a:solidFill>
                <a:latin typeface="Manrope"/>
              </a:rPr>
              <a:t>4 кроки: від об'єкта громади до інвестиційного інтересу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685800" y="1512022"/>
            <a:ext cx="1923300" cy="2209078"/>
          </a:xfrm>
          <a:prstGeom prst="roundRect">
            <a:avLst>
              <a:gd fmla="val 4651" name="adj"/>
            </a:avLst>
          </a:prstGeom>
          <a:solidFill>
            <a:srgbClr val="FFFFFF"/>
          </a:solidFill>
          <a:ln>
            <a:noFill/>
          </a:ln>
          <a:effectLst>
            <a:outerShdw blurRad="99392" rotWithShape="0" algn="bl" dir="8100000" dist="24848">
              <a:srgbClr val="000000">
                <a:alpha val="5882"/>
              </a:srgbClr>
            </a:outerShdw>
          </a:effectLst>
        </p:spPr>
        <p:txBody>
          <a:bodyPr anchorCtr="0" anchor="ctr" bIns="89450" lIns="89450" spcFirstLastPara="1" rIns="89450" wrap="square" tIns="89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838200" y="1588222"/>
            <a:ext cx="536700" cy="30983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1370"/>
              <a:buFont typeface="Unbounded"/>
              <a:buNone/>
            </a:pPr>
            <a:r>
              <a:rPr b="1" i="0" lang="en-US" sz="1344" u="none" cap="none" strike="noStrike">
                <a:solidFill>
                  <a:srgbClr val="6C4CEB"/>
                </a:solidFill>
                <a:latin typeface="Unbounded"/>
                <a:ea typeface="Unbounded"/>
                <a:cs typeface="Unbounded"/>
                <a:sym typeface="Unbounded"/>
              </a:rPr>
              <a:t>01</a:t>
            </a:r>
            <a:endParaRPr b="0" i="0" sz="13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1266450" y="1994622"/>
            <a:ext cx="762000" cy="762000"/>
          </a:xfrm>
          <a:prstGeom prst="ellipse">
            <a:avLst/>
          </a:prstGeom>
          <a:solidFill>
            <a:srgbClr val="4B30B9"/>
          </a:solidFill>
          <a:ln>
            <a:noFill/>
          </a:ln>
        </p:spPr>
        <p:txBody>
          <a:bodyPr anchorCtr="0" anchor="ctr" bIns="89450" lIns="89450" spcFirstLastPara="1" rIns="89450" wrap="square" tIns="89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3" name="Google Shape;8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66450" y="1994622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4"/>
          <p:cNvSpPr/>
          <p:nvPr/>
        </p:nvSpPr>
        <p:spPr>
          <a:xfrm>
            <a:off x="838200" y="2782022"/>
            <a:ext cx="1618500" cy="276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076"/>
              <a:buFont typeface="Unbounded"/>
              <a:buNone/>
            </a:pPr>
            <a:r>
              <a:rPr sz="1076" b="1" i="0">
                <a:solidFill>
                  <a:srgbClr val="12141A"/>
                </a:solidFill>
                <a:latin typeface="Unbounded"/>
              </a:rPr>
              <a:t>Паспорт об'єкта</a:t>
            </a:r>
            <a:endParaRPr b="0" i="0" sz="107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838200" y="3185536"/>
            <a:ext cx="16185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0" spcFirstLastPara="1" rIns="0" wrap="square" tIns="25400">
            <a:noAutofit/>
          </a:bodyPr>
          <a:lstStyle/>
          <a:p>
            <a:pPr indent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978"/>
              <a:buFont typeface="Manrope"/>
              <a:buNone/>
            </a:pPr>
            <a:r>
              <a:rPr sz="700" b="0" i="0">
                <a:solidFill>
                  <a:srgbClr val="646870"/>
                </a:solidFill>
                <a:latin typeface="Manrope"/>
              </a:rPr>
              <a:t>Картка активу.</a:t>
            </a:r>
            <a:endParaRPr b="0" i="0" sz="97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l">
              <a:lnSpc>
                <a:spcPct val="112000"/>
              </a:lnSpc>
            </a:pPr>
            <a:r>
              <a:rPr sz="700" b="0" i="0">
                <a:solidFill>
                  <a:srgbClr val="646870"/>
                </a:solidFill>
                <a:latin typeface="Manrope"/>
              </a:rPr>
              <a:t>Єдиний формат завантаження.</a:t>
            </a:r>
          </a:p>
        </p:txBody>
      </p:sp>
      <p:sp>
        <p:nvSpPr>
          <p:cNvPr id="86" name="Google Shape;86;p4"/>
          <p:cNvSpPr/>
          <p:nvPr/>
        </p:nvSpPr>
        <p:spPr>
          <a:xfrm>
            <a:off x="2563260" y="2223222"/>
            <a:ext cx="179100" cy="3560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4700" lIns="89450" spcFirstLastPara="1" rIns="89450" wrap="square" tIns="44700">
            <a:no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1565"/>
              <a:buFont typeface="Manrope"/>
              <a:buNone/>
            </a:pPr>
            <a:r>
              <a:rPr b="0" i="0" lang="en-US" sz="1065" u="none" cap="none" strike="noStrike">
                <a:solidFill>
                  <a:srgbClr val="6C4CEB"/>
                </a:solidFill>
                <a:latin typeface="Manrope"/>
                <a:ea typeface="Manrope"/>
                <a:cs typeface="Manrope"/>
                <a:sym typeface="Manrope"/>
              </a:rPr>
              <a:t>→</a:t>
            </a:r>
            <a:endParaRPr b="0" i="0" sz="156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2742166" y="1512022"/>
            <a:ext cx="1923300" cy="2209078"/>
          </a:xfrm>
          <a:prstGeom prst="roundRect">
            <a:avLst>
              <a:gd fmla="val 4651" name="adj"/>
            </a:avLst>
          </a:prstGeom>
          <a:solidFill>
            <a:srgbClr val="FFFFFF"/>
          </a:solidFill>
          <a:ln>
            <a:noFill/>
          </a:ln>
          <a:effectLst>
            <a:outerShdw blurRad="99392" rotWithShape="0" algn="bl" dir="8100000" dist="24848">
              <a:srgbClr val="000000">
                <a:alpha val="5882"/>
              </a:srgbClr>
            </a:outerShdw>
          </a:effectLst>
        </p:spPr>
        <p:txBody>
          <a:bodyPr anchorCtr="0" anchor="ctr" bIns="89450" lIns="89450" spcFirstLastPara="1" rIns="89450" wrap="square" tIns="89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4"/>
          <p:cNvSpPr/>
          <p:nvPr/>
        </p:nvSpPr>
        <p:spPr>
          <a:xfrm>
            <a:off x="2894566" y="1588222"/>
            <a:ext cx="536700" cy="30983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1370"/>
              <a:buFont typeface="Unbounded"/>
              <a:buNone/>
            </a:pPr>
            <a:r>
              <a:rPr b="1" i="0" lang="en-US" sz="1344" u="none" cap="none" strike="noStrike">
                <a:solidFill>
                  <a:srgbClr val="6C4CEB"/>
                </a:solidFill>
                <a:latin typeface="Unbounded"/>
                <a:ea typeface="Unbounded"/>
                <a:cs typeface="Unbounded"/>
                <a:sym typeface="Unbounded"/>
              </a:rPr>
              <a:t>02</a:t>
            </a:r>
            <a:endParaRPr b="0" i="0" sz="13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3322816" y="1994622"/>
            <a:ext cx="762000" cy="762000"/>
          </a:xfrm>
          <a:prstGeom prst="ellipse">
            <a:avLst/>
          </a:prstGeom>
          <a:solidFill>
            <a:srgbClr val="4B30B9"/>
          </a:solidFill>
          <a:ln>
            <a:noFill/>
          </a:ln>
        </p:spPr>
        <p:txBody>
          <a:bodyPr anchorCtr="0" anchor="ctr" bIns="89450" lIns="89450" spcFirstLastPara="1" rIns="89450" wrap="square" tIns="89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0" name="Google Shape;90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22816" y="1994622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4"/>
          <p:cNvSpPr/>
          <p:nvPr/>
        </p:nvSpPr>
        <p:spPr>
          <a:xfrm>
            <a:off x="2894566" y="2782022"/>
            <a:ext cx="1618500" cy="276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076"/>
              <a:buFont typeface="Unbounded"/>
              <a:buNone/>
            </a:pPr>
            <a:r>
              <a:rPr sz="1076" b="1" i="0">
                <a:solidFill>
                  <a:srgbClr val="12141A"/>
                </a:solidFill>
                <a:latin typeface="Unbounded"/>
              </a:rPr>
              <a:t>Matching інвесторів</a:t>
            </a:r>
            <a:endParaRPr b="0" i="0" sz="107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2894566" y="3185536"/>
            <a:ext cx="16185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0" spcFirstLastPara="1" rIns="0" wrap="square" tIns="25400">
            <a:noAutofit/>
          </a:bodyPr>
          <a:lstStyle/>
          <a:p>
            <a:pPr indent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978"/>
              <a:buFont typeface="Manrope"/>
              <a:buNone/>
            </a:pPr>
            <a:r>
              <a:rPr sz="700" b="0" i="0">
                <a:solidFill>
                  <a:srgbClr val="646870"/>
                </a:solidFill>
                <a:latin typeface="Manrope"/>
              </a:rPr>
              <a:t>Вітрина для інвесторів.</a:t>
            </a:r>
            <a:endParaRPr b="0" i="0" sz="97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l">
              <a:lnSpc>
                <a:spcPct val="112000"/>
              </a:lnSpc>
            </a:pPr>
            <a:r>
              <a:rPr sz="700" b="0" i="0">
                <a:solidFill>
                  <a:srgbClr val="646870"/>
                </a:solidFill>
                <a:latin typeface="Manrope"/>
              </a:rPr>
              <a:t>Запити на контакт.</a:t>
            </a:r>
          </a:p>
        </p:txBody>
      </p:sp>
      <p:sp>
        <p:nvSpPr>
          <p:cNvPr id="93" name="Google Shape;93;p4"/>
          <p:cNvSpPr/>
          <p:nvPr/>
        </p:nvSpPr>
        <p:spPr>
          <a:xfrm>
            <a:off x="4665401" y="2223222"/>
            <a:ext cx="179100" cy="3560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4700" lIns="89450" spcFirstLastPara="1" rIns="89450" wrap="square" tIns="44700">
            <a:no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1565"/>
              <a:buFont typeface="Manrope"/>
              <a:buNone/>
            </a:pPr>
            <a:r>
              <a:rPr b="0" i="0" lang="en-US" sz="1065" u="none" cap="none" strike="noStrike">
                <a:solidFill>
                  <a:srgbClr val="6C4CEB"/>
                </a:solidFill>
                <a:latin typeface="Manrope"/>
                <a:ea typeface="Manrope"/>
                <a:cs typeface="Manrope"/>
                <a:sym typeface="Manrope"/>
              </a:rPr>
              <a:t>→</a:t>
            </a:r>
            <a:endParaRPr b="0" i="0" sz="156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4844307" y="1512022"/>
            <a:ext cx="1923300" cy="2209078"/>
          </a:xfrm>
          <a:prstGeom prst="roundRect">
            <a:avLst>
              <a:gd fmla="val 4651" name="adj"/>
            </a:avLst>
          </a:prstGeom>
          <a:solidFill>
            <a:srgbClr val="FFFFFF"/>
          </a:solidFill>
          <a:ln>
            <a:noFill/>
          </a:ln>
          <a:effectLst>
            <a:outerShdw blurRad="99392" rotWithShape="0" algn="bl" dir="8100000" dist="24848">
              <a:srgbClr val="000000">
                <a:alpha val="5882"/>
              </a:srgbClr>
            </a:outerShdw>
          </a:effectLst>
        </p:spPr>
        <p:txBody>
          <a:bodyPr anchorCtr="0" anchor="ctr" bIns="89450" lIns="89450" spcFirstLastPara="1" rIns="89450" wrap="square" tIns="89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4"/>
          <p:cNvSpPr/>
          <p:nvPr/>
        </p:nvSpPr>
        <p:spPr>
          <a:xfrm>
            <a:off x="4996707" y="1588222"/>
            <a:ext cx="536700" cy="30983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1370"/>
              <a:buFont typeface="Unbounded"/>
              <a:buNone/>
            </a:pPr>
            <a:r>
              <a:rPr b="1" i="0" lang="en-US" sz="1344" u="none" cap="none" strike="noStrike">
                <a:solidFill>
                  <a:srgbClr val="6C4CEB"/>
                </a:solidFill>
                <a:latin typeface="Unbounded"/>
                <a:ea typeface="Unbounded"/>
                <a:cs typeface="Unbounded"/>
                <a:sym typeface="Unbounded"/>
              </a:rPr>
              <a:t>03</a:t>
            </a:r>
            <a:endParaRPr b="0" i="0" sz="13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5424957" y="1994622"/>
            <a:ext cx="762000" cy="762000"/>
          </a:xfrm>
          <a:prstGeom prst="ellipse">
            <a:avLst/>
          </a:prstGeom>
          <a:solidFill>
            <a:srgbClr val="4B30B9"/>
          </a:solidFill>
          <a:ln>
            <a:noFill/>
          </a:ln>
        </p:spPr>
        <p:txBody>
          <a:bodyPr anchorCtr="0" anchor="ctr" bIns="89450" lIns="89450" spcFirstLastPara="1" rIns="89450" wrap="square" tIns="89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7" name="Google Shape;97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24957" y="1994622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4"/>
          <p:cNvSpPr/>
          <p:nvPr/>
        </p:nvSpPr>
        <p:spPr>
          <a:xfrm>
            <a:off x="4996707" y="2782022"/>
            <a:ext cx="1618500" cy="276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076"/>
              <a:buFont typeface="Unbounded"/>
              <a:buNone/>
            </a:pPr>
            <a:r>
              <a:rPr sz="1076" b="1" i="0">
                <a:solidFill>
                  <a:srgbClr val="12141A"/>
                </a:solidFill>
                <a:latin typeface="Unbounded"/>
              </a:rPr>
              <a:t>Маршрутизація</a:t>
            </a:r>
            <a:endParaRPr b="0" i="0" sz="107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4996707" y="3185536"/>
            <a:ext cx="16185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0" spcFirstLastPara="1" rIns="0" wrap="square" tIns="25400">
            <a:noAutofit/>
          </a:bodyPr>
          <a:lstStyle/>
          <a:p>
            <a:pPr indent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978"/>
              <a:buFont typeface="Manrope"/>
              <a:buNone/>
            </a:pPr>
            <a:r>
              <a:rPr sz="700" b="0" i="0">
                <a:solidFill>
                  <a:srgbClr val="646870"/>
                </a:solidFill>
                <a:latin typeface="Manrope"/>
              </a:rPr>
              <a:t>Супровід переговорів.</a:t>
            </a:r>
            <a:endParaRPr b="0" i="0" sz="97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l">
              <a:lnSpc>
                <a:spcPct val="112000"/>
              </a:lnSpc>
            </a:pPr>
            <a:r>
              <a:rPr sz="700" b="0" i="0">
                <a:solidFill>
                  <a:srgbClr val="646870"/>
                </a:solidFill>
                <a:latin typeface="Manrope"/>
              </a:rPr>
              <a:t>Підготовка до угоди.</a:t>
            </a:r>
          </a:p>
        </p:txBody>
      </p:sp>
      <p:sp>
        <p:nvSpPr>
          <p:cNvPr id="100" name="Google Shape;100;p4"/>
          <p:cNvSpPr/>
          <p:nvPr/>
        </p:nvSpPr>
        <p:spPr>
          <a:xfrm>
            <a:off x="6767542" y="2223222"/>
            <a:ext cx="179100" cy="3560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4700" lIns="89450" spcFirstLastPara="1" rIns="89450" wrap="square" tIns="44700">
            <a:no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1565"/>
              <a:buFont typeface="Manrope"/>
              <a:buNone/>
            </a:pPr>
            <a:r>
              <a:rPr b="0" i="0" lang="en-US" sz="1065" u="none" cap="none" strike="noStrike">
                <a:solidFill>
                  <a:srgbClr val="6C4CEB"/>
                </a:solidFill>
                <a:latin typeface="Manrope"/>
                <a:ea typeface="Manrope"/>
                <a:cs typeface="Manrope"/>
                <a:sym typeface="Manrope"/>
              </a:rPr>
              <a:t>→</a:t>
            </a:r>
            <a:endParaRPr b="0" i="0" sz="156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6946448" y="1512022"/>
            <a:ext cx="1511752" cy="2209078"/>
          </a:xfrm>
          <a:prstGeom prst="roundRect">
            <a:avLst>
              <a:gd fmla="val 4651" name="adj"/>
            </a:avLst>
          </a:prstGeom>
          <a:solidFill>
            <a:srgbClr val="FFFFFF"/>
          </a:solidFill>
          <a:ln>
            <a:noFill/>
          </a:ln>
          <a:effectLst>
            <a:outerShdw blurRad="99392" rotWithShape="0" algn="bl" dir="8100000" dist="24848">
              <a:srgbClr val="000000">
                <a:alpha val="5882"/>
              </a:srgbClr>
            </a:outerShdw>
          </a:effectLst>
        </p:spPr>
        <p:txBody>
          <a:bodyPr anchorCtr="0" anchor="ctr" bIns="89450" lIns="89450" spcFirstLastPara="1" rIns="89450" wrap="square" tIns="89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"/>
          <p:cNvSpPr/>
          <p:nvPr/>
        </p:nvSpPr>
        <p:spPr>
          <a:xfrm>
            <a:off x="7098848" y="1588222"/>
            <a:ext cx="536700" cy="30983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1370"/>
              <a:buFont typeface="Unbounded"/>
              <a:buNone/>
            </a:pPr>
            <a:r>
              <a:rPr b="1" i="0" lang="en-US" sz="1344" u="none" cap="none" strike="noStrike">
                <a:solidFill>
                  <a:srgbClr val="6C4CEB"/>
                </a:solidFill>
                <a:latin typeface="Unbounded"/>
                <a:ea typeface="Unbounded"/>
                <a:cs typeface="Unbounded"/>
                <a:sym typeface="Unbounded"/>
              </a:rPr>
              <a:t>04</a:t>
            </a:r>
            <a:endParaRPr b="0" i="0" sz="13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7321324" y="1994622"/>
            <a:ext cx="762000" cy="762000"/>
          </a:xfrm>
          <a:prstGeom prst="ellipse">
            <a:avLst/>
          </a:prstGeom>
          <a:solidFill>
            <a:srgbClr val="4B30B9"/>
          </a:solidFill>
          <a:ln>
            <a:noFill/>
          </a:ln>
        </p:spPr>
        <p:txBody>
          <a:bodyPr anchorCtr="0" anchor="ctr" bIns="89450" lIns="89450" spcFirstLastPara="1" rIns="89450" wrap="square" tIns="89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4" name="Google Shape;104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321324" y="1994622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4"/>
          <p:cNvSpPr/>
          <p:nvPr/>
        </p:nvSpPr>
        <p:spPr>
          <a:xfrm>
            <a:off x="7098848" y="2782022"/>
            <a:ext cx="1206952" cy="276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076"/>
              <a:buFont typeface="Unbounded"/>
              <a:buNone/>
            </a:pPr>
            <a:r>
              <a:rPr sz="1076" b="1" i="0">
                <a:solidFill>
                  <a:srgbClr val="12141A"/>
                </a:solidFill>
                <a:latin typeface="Unbounded"/>
              </a:rPr>
              <a:t>Закриття угоди</a:t>
            </a:r>
            <a:endParaRPr b="0" i="0" sz="107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7098848" y="3185536"/>
            <a:ext cx="1206952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0" spcFirstLastPara="1" rIns="0" wrap="square" tIns="25400">
            <a:noAutofit/>
          </a:bodyPr>
          <a:lstStyle/>
          <a:p>
            <a:pPr indent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978"/>
              <a:buFont typeface="Manrope"/>
              <a:buNone/>
            </a:pPr>
            <a:r>
              <a:rPr sz="700" b="0" i="0">
                <a:solidFill>
                  <a:srgbClr val="646870"/>
                </a:solidFill>
                <a:latin typeface="Manrope"/>
              </a:rPr>
              <a:t>Статуси угоди.</a:t>
            </a:r>
            <a:endParaRPr b="0" i="0" sz="97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l">
              <a:lnSpc>
                <a:spcPct val="112000"/>
              </a:lnSpc>
            </a:pPr>
            <a:r>
              <a:rPr sz="700" b="0" i="0">
                <a:solidFill>
                  <a:srgbClr val="646870"/>
                </a:solidFill>
                <a:latin typeface="Manrope"/>
              </a:rPr>
              <a:t>Прозорий контур.</a:t>
            </a:r>
          </a:p>
        </p:txBody>
      </p:sp>
      <p:sp>
        <p:nvSpPr>
          <p:cNvPr id="107" name="Google Shape;107;p4"/>
          <p:cNvSpPr/>
          <p:nvPr/>
        </p:nvSpPr>
        <p:spPr>
          <a:xfrm>
            <a:off x="685800" y="4000500"/>
            <a:ext cx="7772400" cy="482600"/>
          </a:xfrm>
          <a:prstGeom prst="roundRect">
            <a:avLst>
              <a:gd fmla="val 18182" name="adj"/>
            </a:avLst>
          </a:prstGeom>
          <a:solidFill>
            <a:srgbClr val="4B30B9"/>
          </a:solidFill>
          <a:ln>
            <a:noFill/>
          </a:ln>
        </p:spPr>
        <p:txBody>
          <a:bodyPr anchorCtr="0" anchor="ctr" bIns="0" lIns="91425" spcFirstLastPara="1" rIns="91425" wrap="non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"/>
          <p:cNvSpPr/>
          <p:nvPr/>
        </p:nvSpPr>
        <p:spPr>
          <a:xfrm>
            <a:off x="685800" y="4000500"/>
            <a:ext cx="7772400" cy="4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none" tIns="0">
            <a:noAutofit/>
          </a:bodyPr>
          <a:lstStyle/>
          <a:p>
            <a:pPr indent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Manrope"/>
              <a:buNone/>
            </a:pPr>
            <a:r>
              <a:rPr sz="1150" b="0" i="0">
                <a:solidFill>
                  <a:srgbClr val="FFFFFF"/>
                </a:solidFill>
                <a:latin typeface="Manrope"/>
              </a:rPr>
              <a:t>Громада → прозорість  •  Банк → портфель угод  •  Інвестор → довіра до даних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C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logo_banda.png" id="114" name="Google Shape;114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305800" y="228600"/>
            <a:ext cx="482600" cy="482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5"/>
          <p:cNvSpPr/>
          <p:nvPr/>
        </p:nvSpPr>
        <p:spPr>
          <a:xfrm>
            <a:off x="685800" y="355600"/>
            <a:ext cx="7772400" cy="5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2600"/>
              <a:buFont typeface="Unbounded"/>
              <a:buNone/>
            </a:pPr>
            <a:r>
              <a:rPr sz="2600" b="1" i="0">
                <a:solidFill>
                  <a:srgbClr val="12141A"/>
                </a:solidFill>
                <a:latin typeface="Manrope"/>
              </a:rPr>
              <a:t>Цінність для муніципалітету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685800" y="990600"/>
            <a:ext cx="7772400" cy="394422"/>
          </a:xfrm>
          <a:prstGeom prst="rect">
            <a:avLst/>
          </a:prstGeom>
          <a:noFill/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300"/>
              <a:buFont typeface="Manrope"/>
              <a:buNone/>
            </a:pPr>
            <a:r>
              <a:rPr sz="1300" b="0" i="0">
                <a:solidFill>
                  <a:srgbClr val="4A4F5C"/>
                </a:solidFill>
                <a:latin typeface="Manrope"/>
              </a:rPr>
              <a:t>Чому Eighty85 - практичний інструмент для вашої громади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685800" y="1512022"/>
            <a:ext cx="2489200" cy="1409339"/>
          </a:xfrm>
          <a:prstGeom prst="roundRect">
            <a:avLst>
              <a:gd fmla="val 6061" name="adj"/>
            </a:avLst>
          </a:prstGeom>
          <a:solidFill>
            <a:srgbClr val="FFFFFF"/>
          </a:solidFill>
          <a:ln>
            <a:noFill/>
          </a:ln>
          <a:effectLst>
            <a:outerShdw blurRad="99367" rotWithShape="0" algn="bl" dir="8100000" dist="24842">
              <a:srgbClr val="000000">
                <a:alpha val="5882"/>
              </a:srgbClr>
            </a:outerShdw>
          </a:effectLst>
        </p:spPr>
        <p:txBody>
          <a:bodyPr anchorCtr="0" anchor="ctr" bIns="89425" lIns="89425" spcFirstLastPara="1" rIns="89425" wrap="square" tIns="89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"/>
          <p:cNvSpPr/>
          <p:nvPr/>
        </p:nvSpPr>
        <p:spPr>
          <a:xfrm>
            <a:off x="812800" y="1639022"/>
            <a:ext cx="2235200" cy="50800"/>
          </a:xfrm>
          <a:prstGeom prst="ellipse">
            <a:avLst/>
          </a:prstGeom>
          <a:solidFill>
            <a:srgbClr val="EDE8FD"/>
          </a:solidFill>
          <a:ln>
            <a:noFill/>
          </a:ln>
        </p:spPr>
        <p:txBody>
          <a:bodyPr anchorCtr="0" anchor="ctr" bIns="89425" lIns="89425" spcFirstLastPara="1" rIns="89425" wrap="square" tIns="89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9" name="Google Shape;11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2800" y="1740622"/>
            <a:ext cx="355600" cy="35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5"/>
          <p:cNvSpPr/>
          <p:nvPr/>
        </p:nvSpPr>
        <p:spPr>
          <a:xfrm>
            <a:off x="1244600" y="1715222"/>
            <a:ext cx="18034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125"/>
              <a:buFont typeface="Unbounded"/>
              <a:buNone/>
            </a:pPr>
            <a:r>
              <a:rPr sz="1300" b="1" i="0">
                <a:solidFill>
                  <a:srgbClr val="6C4CEB"/>
                </a:solidFill>
                <a:latin typeface="Manrope"/>
              </a:rPr>
              <a:t>Реєстр об'єктів громади</a:t>
            </a:r>
            <a:endParaRPr b="0" i="0" sz="112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812800" y="2172422"/>
            <a:ext cx="2235200" cy="62193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0" spcFirstLastPara="1" rIns="0" wrap="square" tIns="25400">
            <a:noAutofit/>
          </a:bodyPr>
          <a:lstStyle/>
          <a:p>
            <a:pPr indent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027"/>
              <a:buFont typeface="Manrope"/>
              <a:buNone/>
            </a:pPr>
            <a:r>
              <a:rPr sz="950" b="0" i="0">
                <a:solidFill>
                  <a:srgbClr val="4A4F5C"/>
                </a:solidFill>
                <a:latin typeface="Manrope"/>
              </a:rPr>
              <a:t>Земля, будівлі, проєкти - в одному списку.</a:t>
            </a:r>
            <a:endParaRPr b="0" i="0" sz="102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4A4F5C"/>
                </a:solidFill>
                <a:latin typeface="Manrope"/>
              </a:rPr>
              <a:t>Статус кожного активу видно в реєстрі, не в Excel.</a:t>
            </a:r>
          </a:p>
        </p:txBody>
      </p:sp>
      <p:sp>
        <p:nvSpPr>
          <p:cNvPr id="122" name="Google Shape;122;p5"/>
          <p:cNvSpPr/>
          <p:nvPr/>
        </p:nvSpPr>
        <p:spPr>
          <a:xfrm>
            <a:off x="3327400" y="1512022"/>
            <a:ext cx="2489200" cy="1409339"/>
          </a:xfrm>
          <a:prstGeom prst="roundRect">
            <a:avLst>
              <a:gd fmla="val 6061" name="adj"/>
            </a:avLst>
          </a:prstGeom>
          <a:solidFill>
            <a:srgbClr val="FFFFFF"/>
          </a:solidFill>
          <a:ln>
            <a:noFill/>
          </a:ln>
          <a:effectLst>
            <a:outerShdw blurRad="99367" rotWithShape="0" algn="bl" dir="8100000" dist="24842">
              <a:srgbClr val="000000">
                <a:alpha val="5882"/>
              </a:srgbClr>
            </a:outerShdw>
          </a:effectLst>
        </p:spPr>
        <p:txBody>
          <a:bodyPr anchorCtr="0" anchor="ctr" bIns="89425" lIns="89425" spcFirstLastPara="1" rIns="89425" wrap="square" tIns="89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"/>
          <p:cNvSpPr/>
          <p:nvPr/>
        </p:nvSpPr>
        <p:spPr>
          <a:xfrm>
            <a:off x="3454400" y="1639022"/>
            <a:ext cx="2235200" cy="50800"/>
          </a:xfrm>
          <a:prstGeom prst="ellipse">
            <a:avLst/>
          </a:prstGeom>
          <a:solidFill>
            <a:srgbClr val="EDE8FD"/>
          </a:solidFill>
          <a:ln>
            <a:noFill/>
          </a:ln>
        </p:spPr>
        <p:txBody>
          <a:bodyPr anchorCtr="0" anchor="ctr" bIns="89425" lIns="89425" spcFirstLastPara="1" rIns="89425" wrap="square" tIns="89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4" name="Google Shape;124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54400" y="1740622"/>
            <a:ext cx="355600" cy="35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5"/>
          <p:cNvSpPr/>
          <p:nvPr/>
        </p:nvSpPr>
        <p:spPr>
          <a:xfrm>
            <a:off x="3886200" y="1715222"/>
            <a:ext cx="18034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125"/>
              <a:buFont typeface="Unbounded"/>
              <a:buNone/>
            </a:pPr>
            <a:r>
              <a:rPr sz="1300" b="1" i="0">
                <a:solidFill>
                  <a:srgbClr val="6C4CEB"/>
                </a:solidFill>
                <a:latin typeface="Manrope"/>
              </a:rPr>
              <a:t>Інвестиції в регіон</a:t>
            </a:r>
            <a:endParaRPr b="0" i="0" sz="112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3454400" y="2172422"/>
            <a:ext cx="2235200" cy="62193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0" spcFirstLastPara="1" rIns="0" wrap="square" tIns="25400">
            <a:noAutofit/>
          </a:bodyPr>
          <a:lstStyle/>
          <a:p>
            <a:pPr indent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027"/>
              <a:buFont typeface="Manrope"/>
              <a:buNone/>
            </a:pPr>
            <a:r>
              <a:rPr sz="950" b="0" i="0">
                <a:solidFill>
                  <a:srgbClr val="4A4F5C"/>
                </a:solidFill>
                <a:latin typeface="Manrope"/>
              </a:rPr>
              <a:t>Вітрина об'єктів для інвесторів.</a:t>
            </a:r>
            <a:endParaRPr b="0" i="0" sz="102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4A4F5C"/>
                </a:solidFill>
                <a:latin typeface="Manrope"/>
              </a:rPr>
              <a:t>Прискорення залучення капіталу в громаду.</a:t>
            </a:r>
          </a:p>
        </p:txBody>
      </p:sp>
      <p:sp>
        <p:nvSpPr>
          <p:cNvPr id="127" name="Google Shape;127;p5"/>
          <p:cNvSpPr/>
          <p:nvPr/>
        </p:nvSpPr>
        <p:spPr>
          <a:xfrm>
            <a:off x="5969000" y="1512022"/>
            <a:ext cx="2489200" cy="1409339"/>
          </a:xfrm>
          <a:prstGeom prst="roundRect">
            <a:avLst>
              <a:gd fmla="val 6061" name="adj"/>
            </a:avLst>
          </a:prstGeom>
          <a:solidFill>
            <a:srgbClr val="FFFFFF"/>
          </a:solidFill>
          <a:ln>
            <a:noFill/>
          </a:ln>
          <a:effectLst>
            <a:outerShdw blurRad="99367" rotWithShape="0" algn="bl" dir="8100000" dist="24842">
              <a:srgbClr val="000000">
                <a:alpha val="5882"/>
              </a:srgbClr>
            </a:outerShdw>
          </a:effectLst>
        </p:spPr>
        <p:txBody>
          <a:bodyPr anchorCtr="0" anchor="ctr" bIns="89425" lIns="89425" spcFirstLastPara="1" rIns="89425" wrap="square" tIns="89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"/>
          <p:cNvSpPr/>
          <p:nvPr/>
        </p:nvSpPr>
        <p:spPr>
          <a:xfrm>
            <a:off x="6096000" y="1639022"/>
            <a:ext cx="2235200" cy="50800"/>
          </a:xfrm>
          <a:prstGeom prst="ellipse">
            <a:avLst/>
          </a:prstGeom>
          <a:solidFill>
            <a:srgbClr val="EDE8FD"/>
          </a:solidFill>
          <a:ln>
            <a:noFill/>
          </a:ln>
        </p:spPr>
        <p:txBody>
          <a:bodyPr anchorCtr="0" anchor="ctr" bIns="89425" lIns="89425" spcFirstLastPara="1" rIns="89425" wrap="square" tIns="89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9" name="Google Shape;129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96000" y="1740622"/>
            <a:ext cx="355600" cy="35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5"/>
          <p:cNvSpPr/>
          <p:nvPr/>
        </p:nvSpPr>
        <p:spPr>
          <a:xfrm>
            <a:off x="6527800" y="1715222"/>
            <a:ext cx="18034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125"/>
              <a:buFont typeface="Unbounded"/>
              <a:buNone/>
            </a:pPr>
            <a:r>
              <a:rPr sz="1300" b="1" i="0">
                <a:solidFill>
                  <a:srgbClr val="6C4CEB"/>
                </a:solidFill>
                <a:latin typeface="Manrope"/>
              </a:rPr>
              <a:t>Рамковий MOU</a:t>
            </a:r>
            <a:endParaRPr b="0" i="0" sz="112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6096000" y="2172422"/>
            <a:ext cx="2235200" cy="6176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0" spcFirstLastPara="1" rIns="0" wrap="square" tIns="25400">
            <a:noAutofit/>
          </a:bodyPr>
          <a:lstStyle/>
          <a:p>
            <a:pPr indent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027"/>
              <a:buFont typeface="Manrope"/>
              <a:buNone/>
            </a:pPr>
            <a:r>
              <a:rPr sz="1001" b="0" i="0">
                <a:solidFill>
                  <a:srgbClr val="4A4F5C"/>
                </a:solidFill>
                <a:latin typeface="Manrope"/>
              </a:rPr>
              <a:t>Легкий меморандум без жорстких зобов'язань.</a:t>
            </a:r>
            <a:endParaRPr b="0" i="0" sz="102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l">
              <a:lnSpc>
                <a:spcPct val="112000"/>
              </a:lnSpc>
            </a:pPr>
            <a:r>
              <a:rPr sz="1001" b="0" i="0">
                <a:solidFill>
                  <a:srgbClr val="4A4F5C"/>
                </a:solidFill>
                <a:latin typeface="Manrope"/>
              </a:rPr>
              <a:t>Швидкий старт пілоту.</a:t>
            </a:r>
          </a:p>
        </p:txBody>
      </p:sp>
      <p:sp>
        <p:nvSpPr>
          <p:cNvPr id="132" name="Google Shape;132;p5"/>
          <p:cNvSpPr/>
          <p:nvPr/>
        </p:nvSpPr>
        <p:spPr>
          <a:xfrm>
            <a:off x="685800" y="3073761"/>
            <a:ext cx="2489200" cy="1409339"/>
          </a:xfrm>
          <a:prstGeom prst="roundRect">
            <a:avLst>
              <a:gd fmla="val 6061" name="adj"/>
            </a:avLst>
          </a:prstGeom>
          <a:solidFill>
            <a:srgbClr val="FFFFFF"/>
          </a:solidFill>
          <a:ln>
            <a:noFill/>
          </a:ln>
          <a:effectLst>
            <a:outerShdw blurRad="99367" rotWithShape="0" algn="bl" dir="8100000" dist="24842">
              <a:srgbClr val="000000">
                <a:alpha val="5882"/>
              </a:srgbClr>
            </a:outerShdw>
          </a:effectLst>
        </p:spPr>
        <p:txBody>
          <a:bodyPr anchorCtr="0" anchor="ctr" bIns="89425" lIns="89425" spcFirstLastPara="1" rIns="89425" wrap="square" tIns="89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"/>
          <p:cNvSpPr/>
          <p:nvPr/>
        </p:nvSpPr>
        <p:spPr>
          <a:xfrm>
            <a:off x="812800" y="3200761"/>
            <a:ext cx="2235200" cy="50800"/>
          </a:xfrm>
          <a:prstGeom prst="ellipse">
            <a:avLst/>
          </a:prstGeom>
          <a:solidFill>
            <a:srgbClr val="EDE8FD"/>
          </a:solidFill>
          <a:ln>
            <a:noFill/>
          </a:ln>
        </p:spPr>
        <p:txBody>
          <a:bodyPr anchorCtr="0" anchor="ctr" bIns="89425" lIns="89425" spcFirstLastPara="1" rIns="89425" wrap="square" tIns="89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4" name="Google Shape;134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2800" y="3302361"/>
            <a:ext cx="355600" cy="35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5"/>
          <p:cNvSpPr/>
          <p:nvPr/>
        </p:nvSpPr>
        <p:spPr>
          <a:xfrm>
            <a:off x="1244600" y="3276961"/>
            <a:ext cx="18034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125"/>
              <a:buFont typeface="Unbounded"/>
              <a:buNone/>
            </a:pPr>
            <a:r>
              <a:rPr sz="1300" b="1" i="0">
                <a:solidFill>
                  <a:srgbClr val="6C4CEB"/>
                </a:solidFill>
                <a:latin typeface="Manrope"/>
              </a:rPr>
              <a:t>Пілот 90 днів</a:t>
            </a:r>
            <a:endParaRPr b="0" i="0" sz="112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812800" y="3734161"/>
            <a:ext cx="2235200" cy="6176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0" spcFirstLastPara="1" rIns="0" wrap="square" tIns="25400">
            <a:noAutofit/>
          </a:bodyPr>
          <a:lstStyle/>
          <a:p>
            <a:pPr indent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027"/>
              <a:buFont typeface="Manrope"/>
              <a:buNone/>
            </a:pPr>
            <a:r>
              <a:rPr sz="1001" b="0" i="0">
                <a:solidFill>
                  <a:srgbClr val="4A4F5C"/>
                </a:solidFill>
                <a:latin typeface="Manrope"/>
              </a:rPr>
              <a:t>Зрозумілі KPI: об'єкти, запити,</a:t>
            </a:r>
            <a:endParaRPr b="0" i="0" sz="102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l">
              <a:lnSpc>
                <a:spcPct val="112000"/>
              </a:lnSpc>
            </a:pPr>
            <a:r>
              <a:rPr sz="1001" b="0" i="0">
                <a:solidFill>
                  <a:srgbClr val="4A4F5C"/>
                </a:solidFill>
                <a:latin typeface="Manrope"/>
              </a:rPr>
              <a:t>переговори, перші кейси.</a:t>
            </a:r>
          </a:p>
        </p:txBody>
      </p:sp>
      <p:sp>
        <p:nvSpPr>
          <p:cNvPr id="137" name="Google Shape;137;p5"/>
          <p:cNvSpPr/>
          <p:nvPr/>
        </p:nvSpPr>
        <p:spPr>
          <a:xfrm>
            <a:off x="3327400" y="3073761"/>
            <a:ext cx="2489200" cy="1409339"/>
          </a:xfrm>
          <a:prstGeom prst="roundRect">
            <a:avLst>
              <a:gd fmla="val 6061" name="adj"/>
            </a:avLst>
          </a:prstGeom>
          <a:solidFill>
            <a:srgbClr val="FFFFFF"/>
          </a:solidFill>
          <a:ln>
            <a:noFill/>
          </a:ln>
          <a:effectLst>
            <a:outerShdw blurRad="99367" rotWithShape="0" algn="bl" dir="8100000" dist="24842">
              <a:srgbClr val="000000">
                <a:alpha val="5882"/>
              </a:srgbClr>
            </a:outerShdw>
          </a:effectLst>
        </p:spPr>
        <p:txBody>
          <a:bodyPr anchorCtr="0" anchor="ctr" bIns="89425" lIns="89425" spcFirstLastPara="1" rIns="89425" wrap="square" tIns="89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"/>
          <p:cNvSpPr/>
          <p:nvPr/>
        </p:nvSpPr>
        <p:spPr>
          <a:xfrm>
            <a:off x="3454400" y="3200761"/>
            <a:ext cx="2235200" cy="50800"/>
          </a:xfrm>
          <a:prstGeom prst="ellipse">
            <a:avLst/>
          </a:prstGeom>
          <a:solidFill>
            <a:srgbClr val="EDE8FD"/>
          </a:solidFill>
          <a:ln>
            <a:noFill/>
          </a:ln>
        </p:spPr>
        <p:txBody>
          <a:bodyPr anchorCtr="0" anchor="ctr" bIns="89425" lIns="89425" spcFirstLastPara="1" rIns="89425" wrap="square" tIns="89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9" name="Google Shape;139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454400" y="3302361"/>
            <a:ext cx="355600" cy="35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5"/>
          <p:cNvSpPr/>
          <p:nvPr/>
        </p:nvSpPr>
        <p:spPr>
          <a:xfrm>
            <a:off x="3886200" y="3276961"/>
            <a:ext cx="18034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125"/>
              <a:buFont typeface="Unbounded"/>
              <a:buNone/>
            </a:pPr>
            <a:r>
              <a:rPr sz="1300" b="1" i="0">
                <a:solidFill>
                  <a:srgbClr val="6C4CEB"/>
                </a:solidFill>
                <a:latin typeface="Manrope"/>
              </a:rPr>
              <a:t>Нульова вартість входу</a:t>
            </a:r>
            <a:endParaRPr b="0" i="0" sz="112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3454400" y="3734161"/>
            <a:ext cx="2235200" cy="6176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0" spcFirstLastPara="1" rIns="0" wrap="square" tIns="25400">
            <a:noAutofit/>
          </a:bodyPr>
          <a:lstStyle/>
          <a:p>
            <a:pPr indent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027"/>
              <a:buFont typeface="Manrope"/>
              <a:buNone/>
            </a:pPr>
            <a:r>
              <a:rPr sz="1001" b="0" i="0">
                <a:solidFill>
                  <a:srgbClr val="4A4F5C"/>
                </a:solidFill>
                <a:latin typeface="Manrope"/>
              </a:rPr>
              <a:t>Муніципалітет не платить</a:t>
            </a:r>
            <a:endParaRPr b="0" i="0" sz="102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l">
              <a:lnSpc>
                <a:spcPct val="112000"/>
              </a:lnSpc>
            </a:pPr>
            <a:r>
              <a:rPr sz="1001" b="0" i="0">
                <a:solidFill>
                  <a:srgbClr val="4A4F5C"/>
                </a:solidFill>
                <a:latin typeface="Manrope"/>
              </a:rPr>
              <a:t>за пілотний доступ до платформи.</a:t>
            </a:r>
          </a:p>
        </p:txBody>
      </p:sp>
      <p:sp>
        <p:nvSpPr>
          <p:cNvPr id="142" name="Google Shape;142;p5"/>
          <p:cNvSpPr/>
          <p:nvPr/>
        </p:nvSpPr>
        <p:spPr>
          <a:xfrm>
            <a:off x="5969000" y="3073761"/>
            <a:ext cx="2489200" cy="1409339"/>
          </a:xfrm>
          <a:prstGeom prst="roundRect">
            <a:avLst>
              <a:gd fmla="val 6061" name="adj"/>
            </a:avLst>
          </a:prstGeom>
          <a:solidFill>
            <a:srgbClr val="FFFFFF"/>
          </a:solidFill>
          <a:ln>
            <a:noFill/>
          </a:ln>
          <a:effectLst>
            <a:outerShdw blurRad="99367" rotWithShape="0" algn="bl" dir="8100000" dist="24842">
              <a:srgbClr val="000000">
                <a:alpha val="5882"/>
              </a:srgbClr>
            </a:outerShdw>
          </a:effectLst>
        </p:spPr>
        <p:txBody>
          <a:bodyPr anchorCtr="0" anchor="ctr" bIns="89425" lIns="89425" spcFirstLastPara="1" rIns="89425" wrap="square" tIns="89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"/>
          <p:cNvSpPr/>
          <p:nvPr/>
        </p:nvSpPr>
        <p:spPr>
          <a:xfrm>
            <a:off x="6096000" y="3200761"/>
            <a:ext cx="2235200" cy="50800"/>
          </a:xfrm>
          <a:prstGeom prst="ellipse">
            <a:avLst/>
          </a:prstGeom>
          <a:solidFill>
            <a:srgbClr val="EDE8FD"/>
          </a:solidFill>
          <a:ln>
            <a:noFill/>
          </a:ln>
        </p:spPr>
        <p:txBody>
          <a:bodyPr anchorCtr="0" anchor="ctr" bIns="89425" lIns="89425" spcFirstLastPara="1" rIns="89425" wrap="square" tIns="89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4" name="Google Shape;144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096000" y="3302361"/>
            <a:ext cx="355600" cy="35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5"/>
          <p:cNvSpPr/>
          <p:nvPr/>
        </p:nvSpPr>
        <p:spPr>
          <a:xfrm>
            <a:off x="6527800" y="3276961"/>
            <a:ext cx="18034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125"/>
              <a:buFont typeface="Unbounded"/>
              <a:buNone/>
            </a:pPr>
            <a:r>
              <a:rPr sz="1300" b="1" i="0">
                <a:solidFill>
                  <a:srgbClr val="6C4CEB"/>
                </a:solidFill>
                <a:latin typeface="Manrope"/>
              </a:rPr>
              <a:t>Ефект для бюджету</a:t>
            </a:r>
            <a:endParaRPr b="0" i="0" sz="112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6096000" y="3734161"/>
            <a:ext cx="2235200" cy="6176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0" spcFirstLastPara="1" rIns="0" wrap="square" tIns="25400">
            <a:noAutofit/>
          </a:bodyPr>
          <a:lstStyle/>
          <a:p>
            <a:pPr indent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027"/>
              <a:buFont typeface="Manrope"/>
              <a:buNone/>
            </a:pPr>
            <a:r>
              <a:rPr sz="1001" b="0" i="0">
                <a:solidFill>
                  <a:srgbClr val="4A4F5C"/>
                </a:solidFill>
                <a:latin typeface="Manrope"/>
              </a:rPr>
              <a:t>Зростання обороту об'єктів і</a:t>
            </a:r>
            <a:endParaRPr b="0" i="0" sz="102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l">
              <a:lnSpc>
                <a:spcPct val="112000"/>
              </a:lnSpc>
            </a:pPr>
            <a:r>
              <a:rPr sz="1001" b="0" i="0">
                <a:solidFill>
                  <a:srgbClr val="4A4F5C"/>
                </a:solidFill>
                <a:latin typeface="Manrope"/>
              </a:rPr>
              <a:t>потенціал додаткових надходжень.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C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logo_banda.png" id="152" name="Google Shape;152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05800" y="228600"/>
            <a:ext cx="482600" cy="482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6"/>
          <p:cNvSpPr/>
          <p:nvPr/>
        </p:nvSpPr>
        <p:spPr>
          <a:xfrm>
            <a:off x="685800" y="355600"/>
            <a:ext cx="7772400" cy="5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2600"/>
              <a:buFont typeface="Unbounded"/>
              <a:buNone/>
            </a:pPr>
            <a:r>
              <a:rPr sz="2600" b="1" i="0">
                <a:solidFill>
                  <a:srgbClr val="12141A"/>
                </a:solidFill>
                <a:latin typeface="Unbounded"/>
              </a:rPr>
              <a:t>Контекст для муніципалітету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685800" y="1512022"/>
            <a:ext cx="1847850" cy="1853478"/>
          </a:xfrm>
          <a:prstGeom prst="roundRect">
            <a:avLst>
              <a:gd fmla="val 6897" name="adj"/>
            </a:avLst>
          </a:prstGeom>
          <a:solidFill>
            <a:srgbClr val="FFFFFF"/>
          </a:solidFill>
          <a:ln>
            <a:noFill/>
          </a:ln>
          <a:effectLst>
            <a:outerShdw blurRad="97182" rotWithShape="0" algn="bl" dir="8100000" dist="24296">
              <a:srgbClr val="000000">
                <a:alpha val="5882"/>
              </a:srgbClr>
            </a:outerShdw>
          </a:effectLst>
        </p:spPr>
        <p:txBody>
          <a:bodyPr anchorCtr="0" anchor="ctr" bIns="87450" lIns="87450" spcFirstLastPara="1" rIns="87450" wrap="square" tIns="87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6"/>
          <p:cNvSpPr/>
          <p:nvPr/>
        </p:nvSpPr>
        <p:spPr>
          <a:xfrm>
            <a:off x="863600" y="1689822"/>
            <a:ext cx="1492250" cy="4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3700" lIns="87450" spcFirstLastPara="1" rIns="87450" wrap="square" tIns="43700">
            <a:noAutofit/>
          </a:bodyPr>
          <a:lstStyle/>
          <a:p>
            <a:pPr indent="0" marL="0" marR="0" rtl="0" algn="ctr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2296"/>
              <a:buFont typeface="Unbounded"/>
              <a:buNone/>
            </a:pPr>
            <a:r>
              <a:rPr sz="1600" b="1" i="0">
                <a:solidFill>
                  <a:srgbClr val="6C4CEB"/>
                </a:solidFill>
                <a:latin typeface="Manrope"/>
              </a:rPr>
              <a:t>Довгі угоди</a:t>
            </a:r>
            <a:endParaRPr b="0" i="0" sz="229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863600" y="2197822"/>
            <a:ext cx="1492250" cy="98987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87450" spcFirstLastPara="1" rIns="87450" wrap="square" tIns="25400">
            <a:noAutofit/>
          </a:bodyPr>
          <a:lstStyle/>
          <a:p>
            <a:pPr indent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004"/>
              <a:buFont typeface="Manrope"/>
              <a:buNone/>
            </a:pPr>
            <a:r>
              <a:rPr sz="1050" b="0" i="0">
                <a:solidFill>
                  <a:srgbClr val="4A4F5C"/>
                </a:solidFill>
                <a:latin typeface="Manrope"/>
              </a:rPr>
              <a:t>45–90 днів без єдиного каналу.</a:t>
            </a:r>
            <a:endParaRPr b="0" i="0" sz="100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4A4F5C"/>
                </a:solidFill>
                <a:latin typeface="Manrope"/>
              </a:rPr>
              <a:t>Об'єкт громади не доходить до інвестора в прозорому процесі.</a:t>
            </a:r>
          </a:p>
        </p:txBody>
      </p:sp>
      <p:sp>
        <p:nvSpPr>
          <p:cNvPr id="157" name="Google Shape;157;p6"/>
          <p:cNvSpPr/>
          <p:nvPr/>
        </p:nvSpPr>
        <p:spPr>
          <a:xfrm>
            <a:off x="2660650" y="1512022"/>
            <a:ext cx="1847850" cy="1853478"/>
          </a:xfrm>
          <a:prstGeom prst="roundRect">
            <a:avLst>
              <a:gd fmla="val 6897" name="adj"/>
            </a:avLst>
          </a:prstGeom>
          <a:solidFill>
            <a:srgbClr val="FFFFFF"/>
          </a:solidFill>
          <a:ln>
            <a:noFill/>
          </a:ln>
          <a:effectLst>
            <a:outerShdw blurRad="97182" rotWithShape="0" algn="bl" dir="8100000" dist="24296">
              <a:srgbClr val="000000">
                <a:alpha val="5882"/>
              </a:srgbClr>
            </a:outerShdw>
          </a:effectLst>
        </p:spPr>
        <p:txBody>
          <a:bodyPr anchorCtr="0" anchor="ctr" bIns="87450" lIns="87450" spcFirstLastPara="1" rIns="87450" wrap="square" tIns="87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"/>
          <p:cNvSpPr/>
          <p:nvPr/>
        </p:nvSpPr>
        <p:spPr>
          <a:xfrm>
            <a:off x="2838450" y="1689822"/>
            <a:ext cx="1492250" cy="4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3700" lIns="87450" spcFirstLastPara="1" rIns="87450" wrap="square" tIns="43700">
            <a:noAutofit/>
          </a:bodyPr>
          <a:lstStyle/>
          <a:p>
            <a:pPr indent="0" marL="0" marR="0" rtl="0" algn="ctr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2296"/>
              <a:buFont typeface="Unbounded"/>
              <a:buNone/>
            </a:pPr>
            <a:r>
              <a:rPr sz="1600" b="1" i="0">
                <a:solidFill>
                  <a:srgbClr val="6C4CEB"/>
                </a:solidFill>
                <a:latin typeface="Manrope"/>
              </a:rPr>
              <a:t>Застій активів</a:t>
            </a:r>
            <a:endParaRPr b="0" i="0" sz="229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2838450" y="2197822"/>
            <a:ext cx="1492250" cy="98987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87450" spcFirstLastPara="1" rIns="87450" wrap="square" tIns="25400">
            <a:noAutofit/>
          </a:bodyPr>
          <a:lstStyle/>
          <a:p>
            <a:pPr indent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004"/>
              <a:buFont typeface="Manrope"/>
              <a:buNone/>
            </a:pPr>
            <a:r>
              <a:rPr sz="1050" b="0" i="0">
                <a:solidFill>
                  <a:srgbClr val="4A4F5C"/>
                </a:solidFill>
                <a:latin typeface="Manrope"/>
              </a:rPr>
              <a:t>Роки без руху землі, будівель і проєктів.</a:t>
            </a:r>
            <a:endParaRPr b="0" i="0" sz="100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4A4F5C"/>
                </a:solidFill>
                <a:latin typeface="Manrope"/>
              </a:rPr>
              <a:t>Інтерес не перетворюється на угоди й ефект для бюджету.</a:t>
            </a:r>
          </a:p>
        </p:txBody>
      </p:sp>
      <p:sp>
        <p:nvSpPr>
          <p:cNvPr id="160" name="Google Shape;160;p6"/>
          <p:cNvSpPr/>
          <p:nvPr/>
        </p:nvSpPr>
        <p:spPr>
          <a:xfrm>
            <a:off x="4635500" y="1512022"/>
            <a:ext cx="1847850" cy="1853478"/>
          </a:xfrm>
          <a:prstGeom prst="roundRect">
            <a:avLst>
              <a:gd fmla="val 6897" name="adj"/>
            </a:avLst>
          </a:prstGeom>
          <a:solidFill>
            <a:srgbClr val="FFFFFF"/>
          </a:solidFill>
          <a:ln>
            <a:noFill/>
          </a:ln>
          <a:effectLst>
            <a:outerShdw blurRad="97182" rotWithShape="0" algn="bl" dir="8100000" dist="24296">
              <a:srgbClr val="000000">
                <a:alpha val="5882"/>
              </a:srgbClr>
            </a:outerShdw>
          </a:effectLst>
        </p:spPr>
        <p:txBody>
          <a:bodyPr anchorCtr="0" anchor="ctr" bIns="87450" lIns="87450" spcFirstLastPara="1" rIns="87450" wrap="square" tIns="87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"/>
          <p:cNvSpPr/>
          <p:nvPr/>
        </p:nvSpPr>
        <p:spPr>
          <a:xfrm>
            <a:off x="4813300" y="1689822"/>
            <a:ext cx="1492250" cy="4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3700" lIns="87450" spcFirstLastPara="1" rIns="87450" wrap="square" tIns="43700">
            <a:noAutofit/>
          </a:bodyPr>
          <a:lstStyle/>
          <a:p>
            <a:pPr indent="0" marL="0" marR="0" rtl="0" algn="ctr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2296"/>
              <a:buFont typeface="Unbounded"/>
              <a:buNone/>
            </a:pPr>
            <a:r>
              <a:rPr sz="1600" b="1" i="0">
                <a:solidFill>
                  <a:srgbClr val="6C4CEB"/>
                </a:solidFill>
                <a:latin typeface="Manrope"/>
              </a:rPr>
              <a:t>Розрізнені дані</a:t>
            </a:r>
            <a:endParaRPr b="0" i="0" sz="229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4813300" y="2197822"/>
            <a:ext cx="1492250" cy="98987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87450" spcFirstLastPara="1" rIns="87450" wrap="square" tIns="25400">
            <a:noAutofit/>
          </a:bodyPr>
          <a:lstStyle/>
          <a:p>
            <a:pPr indent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004"/>
              <a:buFont typeface="Manrope"/>
              <a:buNone/>
            </a:pPr>
            <a:r>
              <a:rPr sz="1050" b="0" i="0">
                <a:solidFill>
                  <a:srgbClr val="4A4F5C"/>
                </a:solidFill>
                <a:latin typeface="Manrope"/>
              </a:rPr>
              <a:t>Excel і різні списки замість одного реєстру.</a:t>
            </a:r>
            <a:endParaRPr b="0" i="0" sz="100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4A4F5C"/>
                </a:solidFill>
                <a:latin typeface="Manrope"/>
              </a:rPr>
              <a:t>Рада й інвестори не бачать повну картину активів.</a:t>
            </a:r>
          </a:p>
        </p:txBody>
      </p:sp>
      <p:sp>
        <p:nvSpPr>
          <p:cNvPr id="163" name="Google Shape;163;p6"/>
          <p:cNvSpPr/>
          <p:nvPr/>
        </p:nvSpPr>
        <p:spPr>
          <a:xfrm>
            <a:off x="6610350" y="1512022"/>
            <a:ext cx="1847850" cy="1853478"/>
          </a:xfrm>
          <a:prstGeom prst="roundRect">
            <a:avLst>
              <a:gd fmla="val 6897" name="adj"/>
            </a:avLst>
          </a:prstGeom>
          <a:solidFill>
            <a:srgbClr val="FFFFFF"/>
          </a:solidFill>
          <a:ln>
            <a:noFill/>
          </a:ln>
          <a:effectLst>
            <a:outerShdw blurRad="97182" rotWithShape="0" algn="bl" dir="8100000" dist="24296">
              <a:srgbClr val="000000">
                <a:alpha val="5882"/>
              </a:srgbClr>
            </a:outerShdw>
          </a:effectLst>
        </p:spPr>
        <p:txBody>
          <a:bodyPr anchorCtr="0" anchor="ctr" bIns="87450" lIns="87450" spcFirstLastPara="1" rIns="87450" wrap="square" tIns="87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6"/>
          <p:cNvSpPr/>
          <p:nvPr/>
        </p:nvSpPr>
        <p:spPr>
          <a:xfrm>
            <a:off x="6788150" y="1689822"/>
            <a:ext cx="1492250" cy="4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3700" lIns="87450" spcFirstLastPara="1" rIns="87450" wrap="square" tIns="43700">
            <a:noAutofit/>
          </a:bodyPr>
          <a:lstStyle/>
          <a:p>
            <a:pPr indent="0" marL="0" marR="0" rtl="0" algn="ctr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2296"/>
              <a:buFont typeface="Unbounded"/>
              <a:buNone/>
            </a:pPr>
            <a:r>
              <a:rPr sz="1600" b="1" i="0">
                <a:solidFill>
                  <a:srgbClr val="6C4CEB"/>
                </a:solidFill>
                <a:latin typeface="Manrope"/>
              </a:rPr>
              <a:t>Відновлення 2022+</a:t>
            </a:r>
            <a:endParaRPr b="0" i="0" sz="229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6788150" y="2197822"/>
            <a:ext cx="1492250" cy="98987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87450" spcFirstLastPara="1" rIns="87450" wrap="square" tIns="25400">
            <a:noAutofit/>
          </a:bodyPr>
          <a:lstStyle/>
          <a:p>
            <a:pPr indent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004"/>
              <a:buFont typeface="Manrope"/>
              <a:buNone/>
            </a:pPr>
            <a:r>
              <a:rPr sz="1050" b="0" i="0">
                <a:solidFill>
                  <a:srgbClr val="4A4F5C"/>
                </a:solidFill>
                <a:latin typeface="Manrope"/>
              </a:rPr>
              <a:t>Потрібен капітал на інфраструктуру та редевелопмент.</a:t>
            </a:r>
            <a:endParaRPr b="0" i="0" sz="100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4A4F5C"/>
                </a:solidFill>
                <a:latin typeface="Manrope"/>
              </a:rPr>
              <a:t>Ручні процеси не тягнуть масштаб території.</a:t>
            </a:r>
          </a:p>
        </p:txBody>
      </p:sp>
      <p:sp>
        <p:nvSpPr>
          <p:cNvPr id="166" name="Google Shape;166;p6"/>
          <p:cNvSpPr/>
          <p:nvPr/>
        </p:nvSpPr>
        <p:spPr>
          <a:xfrm>
            <a:off x="685800" y="3517900"/>
            <a:ext cx="7772400" cy="965200"/>
          </a:xfrm>
          <a:prstGeom prst="roundRect">
            <a:avLst>
              <a:gd fmla="val 4762" name="adj"/>
            </a:avLst>
          </a:prstGeom>
          <a:solidFill>
            <a:srgbClr val="FFFFFF"/>
          </a:solidFill>
          <a:ln>
            <a:noFill/>
          </a:ln>
          <a:effectLst>
            <a:outerShdw blurRad="99342" rotWithShape="0" algn="bl" dir="8100000" dist="24836">
              <a:srgbClr val="000000">
                <a:alpha val="5882"/>
              </a:srgbClr>
            </a:outerShdw>
          </a:effectLst>
        </p:spPr>
        <p:txBody>
          <a:bodyPr anchorCtr="0" anchor="ctr" bIns="89400" lIns="89400" spcFirstLastPara="1" rIns="89400" wrap="square" tIns="89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68"/>
          </a:p>
        </p:txBody>
      </p:sp>
      <p:pic>
        <p:nvPicPr>
          <p:cNvPr descr="preencoded.png" id="167" name="Google Shape;167;p6" hidden="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3595" y="2511561"/>
            <a:ext cx="312927" cy="312927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6"/>
          <p:cNvSpPr/>
          <p:nvPr/>
        </p:nvSpPr>
        <p:spPr>
          <a:xfrm>
            <a:off x="685800" y="990600"/>
            <a:ext cx="7772400" cy="394422"/>
          </a:xfrm>
          <a:prstGeom prst="rect">
            <a:avLst/>
          </a:prstGeom>
          <a:noFill/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271"/>
              <a:buFont typeface="Unbounded"/>
              <a:buNone/>
            </a:pPr>
            <a:r>
              <a:rPr sz="1300" b="0" i="0">
                <a:solidFill>
                  <a:srgbClr val="4A4F5C"/>
                </a:solidFill>
                <a:latin typeface="Manrope"/>
              </a:rPr>
              <a:t>Як зараз влаштована робота з активами громади в Україні</a:t>
            </a:r>
            <a:endParaRPr b="0" i="0" sz="127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9" name="Google Shape;169;p6" hidden="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3003" y="2958600"/>
            <a:ext cx="178815" cy="17881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6"/>
          <p:cNvSpPr/>
          <p:nvPr/>
        </p:nvSpPr>
        <p:spPr>
          <a:xfrm>
            <a:off x="939800" y="3670300"/>
            <a:ext cx="7264400" cy="434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1076"/>
              <a:buFont typeface="Manrope"/>
              <a:buNone/>
            </a:pPr>
            <a:r>
              <a:rPr sz="1075" b="0" i="0">
                <a:solidFill>
                  <a:srgbClr val="292C33"/>
                </a:solidFill>
                <a:latin typeface="Manrope"/>
              </a:rPr>
              <a:t>Що це означає для громади. Це не абстрактний «ринок нерухомості» - це управління активами вашої території. Далі - чому не варто відкладати підключення прозорого каналу.</a:t>
            </a:r>
            <a:endParaRPr b="0" i="0" sz="10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1" name="Google Shape;171;p6" hidden="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3003" y="3253646"/>
            <a:ext cx="178815" cy="17881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6" hidden="1"/>
          <p:cNvSpPr/>
          <p:nvPr/>
        </p:nvSpPr>
        <p:spPr>
          <a:xfrm>
            <a:off x="1221227" y="3226824"/>
            <a:ext cx="7152600" cy="26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1076"/>
              <a:buFont typeface="Manrope"/>
              <a:buNone/>
            </a:pPr>
            <a:r>
              <a:rPr b="0" i="0" lang="en-US" sz="1075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Середня ціна в Києві - $2 011/м² на первинному ринку</a:t>
            </a:r>
            <a:endParaRPr b="0" i="0" sz="10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3" name="Google Shape;173;p6" hidden="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3003" y="3548692"/>
            <a:ext cx="178815" cy="178815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6" hidden="1"/>
          <p:cNvSpPr/>
          <p:nvPr/>
        </p:nvSpPr>
        <p:spPr>
          <a:xfrm>
            <a:off x="1221227" y="3521870"/>
            <a:ext cx="7152600" cy="26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1076"/>
              <a:buFont typeface="Manrope"/>
              <a:buNone/>
            </a:pPr>
            <a:r>
              <a:rPr b="0" i="0" lang="en-US" sz="1075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Київ, Львів та Одеса - найбільша концентрація пропозицій (52%)</a:t>
            </a:r>
            <a:endParaRPr b="0" i="0" sz="10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5" name="Google Shape;175;p6" hidden="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3003" y="3843738"/>
            <a:ext cx="178815" cy="178815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6" hidden="1"/>
          <p:cNvSpPr/>
          <p:nvPr/>
        </p:nvSpPr>
        <p:spPr>
          <a:xfrm>
            <a:off x="1221227" y="3816915"/>
            <a:ext cx="7152600" cy="26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1076"/>
              <a:buFont typeface="Manrope"/>
              <a:buNone/>
            </a:pPr>
            <a:r>
              <a:rPr b="0" i="0" lang="en-US" sz="1075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Програма єОселя - ключовий драйвер іпотечного кредитування</a:t>
            </a:r>
            <a:endParaRPr b="0" i="0" sz="10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7" name="Google Shape;177;p6" hidden="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3003" y="4138783"/>
            <a:ext cx="178815" cy="178815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6" hidden="1"/>
          <p:cNvSpPr/>
          <p:nvPr/>
        </p:nvSpPr>
        <p:spPr>
          <a:xfrm>
            <a:off x="1221227" y="4111961"/>
            <a:ext cx="7152600" cy="26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1076"/>
              <a:buFont typeface="Manrope"/>
              <a:buNone/>
            </a:pPr>
            <a:r>
              <a:rPr b="0" i="0" lang="en-US" sz="1075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Ринок вже пройшов дно та поступово входить у фазу зростання</a:t>
            </a:r>
            <a:endParaRPr b="0" i="0" sz="10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C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logo_banda.png" id="184" name="Google Shape;18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05800" y="228600"/>
            <a:ext cx="482600" cy="482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7"/>
          <p:cNvSpPr/>
          <p:nvPr/>
        </p:nvSpPr>
        <p:spPr>
          <a:xfrm>
            <a:off x="685800" y="355600"/>
            <a:ext cx="7772400" cy="5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2600"/>
              <a:buFont typeface="Unbounded"/>
              <a:buNone/>
            </a:pPr>
            <a:r>
              <a:rPr sz="2600" b="1" i="0">
                <a:solidFill>
                  <a:srgbClr val="12141A"/>
                </a:solidFill>
                <a:latin typeface="Unbounded"/>
              </a:rPr>
              <a:t>Масштаб можливостей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685800" y="990600"/>
            <a:ext cx="7772400" cy="394422"/>
          </a:xfrm>
          <a:prstGeom prst="rect">
            <a:avLst/>
          </a:prstGeom>
          <a:noFill/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300"/>
              <a:buFont typeface="Manrope"/>
              <a:buNone/>
            </a:pPr>
            <a:r>
              <a:rPr sz="1300" b="0" i="0">
                <a:solidFill>
                  <a:srgbClr val="4A4F5C"/>
                </a:solidFill>
                <a:latin typeface="Manrope"/>
              </a:rPr>
              <a:t>Що отримує громада від пілоту - в цифрах і в одному процесі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685800" y="1512022"/>
            <a:ext cx="2489200" cy="1828078"/>
          </a:xfrm>
          <a:prstGeom prst="roundRect">
            <a:avLst>
              <a:gd fmla="val 5882" name="adj"/>
            </a:avLst>
          </a:prstGeom>
          <a:solidFill>
            <a:srgbClr val="FFFFFF"/>
          </a:solidFill>
          <a:ln>
            <a:noFill/>
          </a:ln>
          <a:effectLst>
            <a:outerShdw blurRad="96658" rotWithShape="0" algn="bl" dir="8100000" dist="24165">
              <a:srgbClr val="000000">
                <a:alpha val="5882"/>
              </a:srgbClr>
            </a:outerShdw>
          </a:effectLst>
        </p:spPr>
        <p:txBody>
          <a:bodyPr anchorCtr="0" anchor="ctr" bIns="86975" lIns="86975" spcFirstLastPara="1" rIns="86975" wrap="square" tIns="8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7"/>
          <p:cNvSpPr/>
          <p:nvPr/>
        </p:nvSpPr>
        <p:spPr>
          <a:xfrm>
            <a:off x="838200" y="1664422"/>
            <a:ext cx="2184400" cy="5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3475" lIns="86975" spcFirstLastPara="1" rIns="86975" wrap="square" tIns="43475">
            <a:noAutofit/>
          </a:bodyPr>
          <a:lstStyle/>
          <a:p>
            <a:pPr indent="0" marL="0" marR="0" rtl="0" algn="ctr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2854"/>
              <a:buFont typeface="Unbounded"/>
              <a:buNone/>
            </a:pPr>
            <a:r>
              <a:rPr sz="3200" b="1" i="0">
                <a:solidFill>
                  <a:srgbClr val="6C4CEB"/>
                </a:solidFill>
                <a:latin typeface="Manrope"/>
              </a:rPr>
              <a:t>1</a:t>
            </a:r>
            <a:endParaRPr b="0" i="0" sz="285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838200" y="2274022"/>
            <a:ext cx="21844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475" lIns="86975" spcFirstLastPara="1" rIns="86975" wrap="square" tIns="43475">
            <a:noAutofit/>
          </a:bodyPr>
          <a:lstStyle/>
          <a:p>
            <a:pPr indent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1047"/>
              <a:buFont typeface="Manrope"/>
              <a:buNone/>
            </a:pPr>
            <a:r>
              <a:rPr sz="1300" b="1" i="0">
                <a:solidFill>
                  <a:srgbClr val="12141A"/>
                </a:solidFill>
                <a:latin typeface="Manrope"/>
              </a:rPr>
              <a:t>Єдиний реєстр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838200" y="2680422"/>
            <a:ext cx="2184400" cy="50727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86975" spcFirstLastPara="1" rIns="86975" wrap="square" tIns="25400">
            <a:noAutofit/>
          </a:bodyPr>
          <a:lstStyle/>
          <a:p>
            <a:pPr indent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856"/>
              <a:buFont typeface="Manrope"/>
              <a:buNone/>
            </a:pPr>
            <a:r>
              <a:rPr sz="950" b="0" i="0">
                <a:solidFill>
                  <a:srgbClr val="4A4F5C"/>
                </a:solidFill>
                <a:latin typeface="Manrope"/>
              </a:rPr>
              <a:t>Земля, будівлі, проєкти - один список для ради та інвесторів</a:t>
            </a:r>
            <a:endParaRPr b="0" i="0" sz="85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3327400" y="1512022"/>
            <a:ext cx="2489200" cy="1828078"/>
          </a:xfrm>
          <a:prstGeom prst="roundRect">
            <a:avLst>
              <a:gd fmla="val 5882" name="adj"/>
            </a:avLst>
          </a:prstGeom>
          <a:solidFill>
            <a:srgbClr val="FFFFFF"/>
          </a:solidFill>
          <a:ln>
            <a:noFill/>
          </a:ln>
          <a:effectLst>
            <a:outerShdw blurRad="96658" rotWithShape="0" algn="bl" dir="8100000" dist="24165">
              <a:srgbClr val="000000">
                <a:alpha val="5882"/>
              </a:srgbClr>
            </a:outerShdw>
          </a:effectLst>
        </p:spPr>
        <p:txBody>
          <a:bodyPr anchorCtr="0" anchor="ctr" bIns="86975" lIns="86975" spcFirstLastPara="1" rIns="86975" wrap="square" tIns="8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7"/>
          <p:cNvSpPr/>
          <p:nvPr/>
        </p:nvSpPr>
        <p:spPr>
          <a:xfrm>
            <a:off x="3479800" y="1664422"/>
            <a:ext cx="2184400" cy="5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3475" lIns="86975" spcFirstLastPara="1" rIns="86975" wrap="square" tIns="43475">
            <a:noAutofit/>
          </a:bodyPr>
          <a:lstStyle/>
          <a:p>
            <a:pPr indent="0" marL="0" marR="0" rtl="0" algn="ctr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2854"/>
              <a:buFont typeface="Unbounded"/>
              <a:buNone/>
            </a:pPr>
            <a:r>
              <a:rPr sz="3200" b="1" i="0">
                <a:solidFill>
                  <a:srgbClr val="6C4CEB"/>
                </a:solidFill>
                <a:latin typeface="Manrope"/>
              </a:rPr>
              <a:t>3</a:t>
            </a:r>
            <a:endParaRPr b="0" i="0" sz="285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3479800" y="2274022"/>
            <a:ext cx="21844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475" lIns="86975" spcFirstLastPara="1" rIns="86975" wrap="square" tIns="43475">
            <a:noAutofit/>
          </a:bodyPr>
          <a:lstStyle/>
          <a:p>
            <a:pPr indent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1047"/>
              <a:buFont typeface="Manrope"/>
              <a:buNone/>
            </a:pPr>
            <a:r>
              <a:rPr sz="1300" b="1" i="0">
                <a:solidFill>
                  <a:srgbClr val="12141A"/>
                </a:solidFill>
                <a:latin typeface="Manrope"/>
              </a:rPr>
              <a:t>сторони в процесі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3479800" y="2680422"/>
            <a:ext cx="2184400" cy="47777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86975" spcFirstLastPara="1" rIns="86975" wrap="square" tIns="25400">
            <a:noAutofit/>
          </a:bodyPr>
          <a:lstStyle/>
          <a:p>
            <a:pPr indent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856"/>
              <a:buFont typeface="Manrope"/>
              <a:buNone/>
            </a:pPr>
            <a:r>
              <a:rPr sz="1050" b="0" i="0">
                <a:solidFill>
                  <a:srgbClr val="4A4F5C"/>
                </a:solidFill>
                <a:latin typeface="Manrope"/>
              </a:rPr>
              <a:t>Громада · інвестори · банк - один прозорий ланцюжок</a:t>
            </a:r>
            <a:endParaRPr b="0" i="0" sz="85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5969000" y="1512022"/>
            <a:ext cx="2489200" cy="1828078"/>
          </a:xfrm>
          <a:prstGeom prst="roundRect">
            <a:avLst>
              <a:gd fmla="val 5882" name="adj"/>
            </a:avLst>
          </a:prstGeom>
          <a:solidFill>
            <a:srgbClr val="FFFFFF"/>
          </a:solidFill>
          <a:ln>
            <a:noFill/>
          </a:ln>
          <a:effectLst>
            <a:outerShdw blurRad="96658" rotWithShape="0" algn="bl" dir="8100000" dist="24165">
              <a:srgbClr val="000000">
                <a:alpha val="5882"/>
              </a:srgbClr>
            </a:outerShdw>
          </a:effectLst>
        </p:spPr>
        <p:txBody>
          <a:bodyPr anchorCtr="0" anchor="ctr" bIns="86975" lIns="86975" spcFirstLastPara="1" rIns="86975" wrap="square" tIns="8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7"/>
          <p:cNvSpPr/>
          <p:nvPr/>
        </p:nvSpPr>
        <p:spPr>
          <a:xfrm>
            <a:off x="6121400" y="1664422"/>
            <a:ext cx="2184400" cy="5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3475" lIns="86975" spcFirstLastPara="1" rIns="86975" wrap="square" tIns="43475">
            <a:noAutofit/>
          </a:bodyPr>
          <a:lstStyle/>
          <a:p>
            <a:pPr indent="0" marL="0" marR="0" rtl="0" algn="ctr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2854"/>
              <a:buFont typeface="Unbounded"/>
              <a:buNone/>
            </a:pPr>
            <a:r>
              <a:rPr sz="3200" b="1" i="0">
                <a:solidFill>
                  <a:srgbClr val="6C4CEB"/>
                </a:solidFill>
                <a:latin typeface="Manrope"/>
              </a:rPr>
              <a:t>90</a:t>
            </a:r>
            <a:endParaRPr b="0" i="0" sz="285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6121400" y="2274022"/>
            <a:ext cx="21844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475" lIns="86975" spcFirstLastPara="1" rIns="86975" wrap="square" tIns="43475">
            <a:noAutofit/>
          </a:bodyPr>
          <a:lstStyle/>
          <a:p>
            <a:pPr indent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1047"/>
              <a:buFont typeface="Manrope"/>
              <a:buNone/>
            </a:pPr>
            <a:r>
              <a:rPr sz="1300" b="1" i="0">
                <a:solidFill>
                  <a:srgbClr val="12141A"/>
                </a:solidFill>
                <a:latin typeface="Manrope"/>
              </a:rPr>
              <a:t>днів пілот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6121400" y="2680422"/>
            <a:ext cx="2184400" cy="50727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86975" spcFirstLastPara="1" rIns="86975" wrap="square" tIns="25400">
            <a:noAutofit/>
          </a:bodyPr>
          <a:lstStyle/>
          <a:p>
            <a:pPr indent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856"/>
              <a:buFont typeface="Manrope"/>
              <a:buNone/>
            </a:pPr>
            <a:r>
              <a:rPr sz="950" b="0" i="0">
                <a:solidFill>
                  <a:srgbClr val="4A4F5C"/>
                </a:solidFill>
                <a:latin typeface="Manrope"/>
              </a:rPr>
              <a:t>0 ₴ на старті · MOU · координатор · перший пакет об'єктів</a:t>
            </a:r>
            <a:endParaRPr b="0" i="0" sz="85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685800" y="3492500"/>
            <a:ext cx="7772400" cy="990600"/>
          </a:xfrm>
          <a:prstGeom prst="roundRect">
            <a:avLst>
              <a:gd fmla="val 5882" name="adj"/>
            </a:avLst>
          </a:prstGeom>
          <a:solidFill>
            <a:srgbClr val="4B30B9"/>
          </a:solidFill>
          <a:ln>
            <a:noFill/>
          </a:ln>
        </p:spPr>
        <p:txBody>
          <a:bodyPr anchorCtr="0" anchor="ctr" bIns="89400" lIns="89400" spcFirstLastPara="1" rIns="89400" wrap="square" tIns="89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7"/>
          <p:cNvSpPr/>
          <p:nvPr/>
        </p:nvSpPr>
        <p:spPr>
          <a:xfrm>
            <a:off x="939800" y="3670300"/>
            <a:ext cx="72644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69"/>
              <a:buFont typeface="Unbounded"/>
              <a:buNone/>
            </a:pPr>
            <a:r>
              <a:rPr sz="1400" b="1" i="0">
                <a:solidFill>
                  <a:srgbClr val="FFFFFF"/>
                </a:solidFill>
                <a:latin typeface="Manrope"/>
              </a:rPr>
              <a:t>Що це означає для муніципалітету</a:t>
            </a:r>
            <a:endParaRPr b="0" i="0" sz="13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939800" y="4025900"/>
            <a:ext cx="72644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0" spcFirstLastPara="1" rIns="0" wrap="square" tIns="25400">
            <a:noAutofit/>
          </a:bodyPr>
          <a:lstStyle/>
          <a:p>
            <a:pPr indent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3"/>
              <a:buFont typeface="Manrope"/>
              <a:buNone/>
            </a:pPr>
            <a:r>
              <a:rPr sz="1000" b="0" i="0">
                <a:solidFill>
                  <a:srgbClr val="FFFFFF"/>
                </a:solidFill>
                <a:latin typeface="Manrope"/>
              </a:rPr>
              <a:t>Не ще один застосунок, а керований канал на ваших активах: реєстр → інтерес інвесторів → переговори → угода.</a:t>
            </a:r>
            <a:endParaRPr b="0" i="0" sz="117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C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logo_banda.png" id="207" name="Google Shape;207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05800" y="228600"/>
            <a:ext cx="482600" cy="482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8"/>
          <p:cNvSpPr/>
          <p:nvPr/>
        </p:nvSpPr>
        <p:spPr>
          <a:xfrm>
            <a:off x="685800" y="355600"/>
            <a:ext cx="7772400" cy="5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marL="0" marR="0" rtl="0" algn="l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2600"/>
              <a:buFont typeface="Unbounded"/>
              <a:buNone/>
            </a:pPr>
            <a:r>
              <a:rPr sz="2600" b="1" i="0">
                <a:solidFill>
                  <a:srgbClr val="12141A"/>
                </a:solidFill>
                <a:latin typeface="Manrope"/>
              </a:rPr>
              <a:t>PPP та коінвестування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685800" y="990600"/>
            <a:ext cx="7772400" cy="394422"/>
          </a:xfrm>
          <a:prstGeom prst="rect">
            <a:avLst/>
          </a:prstGeom>
          <a:noFill/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300"/>
              <a:buFont typeface="Manrope"/>
              <a:buNone/>
            </a:pPr>
            <a:r>
              <a:rPr sz="1300" b="0" i="0">
                <a:solidFill>
                  <a:srgbClr val="4A4F5C"/>
                </a:solidFill>
                <a:latin typeface="Manrope"/>
              </a:rPr>
              <a:t>Публічно-приватне партнерство через інфраструктуру довіри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685800" y="1512022"/>
            <a:ext cx="3784600" cy="2971078"/>
          </a:xfrm>
          <a:prstGeom prst="roundRect">
            <a:avLst>
              <a:gd fmla="val 2857" name="adj"/>
            </a:avLst>
          </a:prstGeom>
          <a:solidFill>
            <a:srgbClr val="FFFFFF"/>
          </a:solidFill>
          <a:ln>
            <a:noFill/>
          </a:ln>
          <a:effectLst>
            <a:outerShdw blurRad="96889" rotWithShape="0" algn="bl" dir="8100000" dist="24222">
              <a:srgbClr val="000000">
                <a:alpha val="5882"/>
              </a:srgbClr>
            </a:outerShdw>
          </a:effectLst>
        </p:spPr>
        <p:txBody>
          <a:bodyPr anchorCtr="0" anchor="ctr" bIns="87200" lIns="87200" spcFirstLastPara="1" rIns="87200" wrap="square" tIns="87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1" name="Google Shape;211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8076" y="1642822"/>
            <a:ext cx="348801" cy="348801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8"/>
          <p:cNvSpPr/>
          <p:nvPr/>
        </p:nvSpPr>
        <p:spPr>
          <a:xfrm>
            <a:off x="1294077" y="1642822"/>
            <a:ext cx="28776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240"/>
              <a:buFont typeface="Unbounded"/>
              <a:buNone/>
            </a:pPr>
            <a:r>
              <a:rPr sz="1239" b="1" i="0">
                <a:solidFill>
                  <a:srgbClr val="12141A"/>
                </a:solidFill>
                <a:latin typeface="Unbounded"/>
              </a:rPr>
              <a:t>Як працює ланцюжок через Eighty85</a:t>
            </a:r>
            <a:endParaRPr b="0" i="0" sz="123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858076" y="2166024"/>
            <a:ext cx="218100" cy="218100"/>
          </a:xfrm>
          <a:prstGeom prst="ellipse">
            <a:avLst/>
          </a:prstGeom>
          <a:solidFill>
            <a:srgbClr val="6C4CEB"/>
          </a:solidFill>
          <a:ln>
            <a:noFill/>
          </a:ln>
        </p:spPr>
        <p:txBody>
          <a:bodyPr anchorCtr="0" anchor="ctr" bIns="87200" lIns="87200" spcFirstLastPara="1" rIns="87200" wrap="square" tIns="87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8"/>
          <p:cNvSpPr/>
          <p:nvPr/>
        </p:nvSpPr>
        <p:spPr>
          <a:xfrm>
            <a:off x="858076" y="2166024"/>
            <a:ext cx="218100" cy="2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575" lIns="87200" spcFirstLastPara="1" rIns="87200" wrap="square" tIns="43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8"/>
              <a:buFont typeface="Manrope"/>
              <a:buNone/>
            </a:pPr>
            <a:r>
              <a:rPr b="0" i="0" lang="en-US" sz="858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1</a:t>
            </a:r>
            <a:endParaRPr b="0" i="0" sz="85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1163276" y="2122423"/>
            <a:ext cx="30519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1001"/>
              <a:buFont typeface="Manrope"/>
              <a:buNone/>
            </a:pPr>
            <a:r>
              <a:rPr sz="1001" b="0" i="0">
                <a:solidFill>
                  <a:srgbClr val="292C33"/>
                </a:solidFill>
                <a:latin typeface="Manrope"/>
              </a:rPr>
              <a:t>Муніципалітет додає об'єкти редевелопменту та інвестиційні ініціативи</a:t>
            </a:r>
            <a:endParaRPr b="0" i="0" sz="100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858076" y="2602025"/>
            <a:ext cx="218100" cy="218100"/>
          </a:xfrm>
          <a:prstGeom prst="ellipse">
            <a:avLst/>
          </a:prstGeom>
          <a:solidFill>
            <a:srgbClr val="6C4CEB"/>
          </a:solidFill>
          <a:ln>
            <a:noFill/>
          </a:ln>
        </p:spPr>
        <p:txBody>
          <a:bodyPr anchorCtr="0" anchor="ctr" bIns="87200" lIns="87200" spcFirstLastPara="1" rIns="87200" wrap="square" tIns="87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8"/>
          <p:cNvSpPr/>
          <p:nvPr/>
        </p:nvSpPr>
        <p:spPr>
          <a:xfrm>
            <a:off x="858076" y="2602025"/>
            <a:ext cx="218100" cy="2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575" lIns="87200" spcFirstLastPara="1" rIns="87200" wrap="square" tIns="43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8"/>
              <a:buFont typeface="Manrope"/>
              <a:buNone/>
            </a:pPr>
            <a:r>
              <a:rPr b="0" i="0" lang="en-US" sz="858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2</a:t>
            </a:r>
            <a:endParaRPr b="0" i="0" sz="85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1163276" y="2558425"/>
            <a:ext cx="30519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1001"/>
              <a:buFont typeface="Manrope"/>
              <a:buNone/>
            </a:pPr>
            <a:r>
              <a:rPr sz="1001" b="0" i="0">
                <a:solidFill>
                  <a:srgbClr val="292C33"/>
                </a:solidFill>
                <a:latin typeface="Manrope"/>
              </a:rPr>
              <a:t>Платформа стандартизує дані та робить об'єкти інвестиційно зрозумілими</a:t>
            </a:r>
            <a:endParaRPr b="0" i="0" sz="100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858076" y="3038026"/>
            <a:ext cx="218100" cy="218100"/>
          </a:xfrm>
          <a:prstGeom prst="ellipse">
            <a:avLst/>
          </a:prstGeom>
          <a:solidFill>
            <a:srgbClr val="6C4CEB"/>
          </a:solidFill>
          <a:ln>
            <a:noFill/>
          </a:ln>
        </p:spPr>
        <p:txBody>
          <a:bodyPr anchorCtr="0" anchor="ctr" bIns="87200" lIns="87200" spcFirstLastPara="1" rIns="87200" wrap="square" tIns="87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8"/>
          <p:cNvSpPr/>
          <p:nvPr/>
        </p:nvSpPr>
        <p:spPr>
          <a:xfrm>
            <a:off x="858076" y="3038026"/>
            <a:ext cx="218100" cy="2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575" lIns="87200" spcFirstLastPara="1" rIns="87200" wrap="square" tIns="43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8"/>
              <a:buFont typeface="Manrope"/>
              <a:buNone/>
            </a:pPr>
            <a:r>
              <a:rPr b="0" i="0" lang="en-US" sz="858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3</a:t>
            </a:r>
            <a:endParaRPr b="0" i="0" sz="85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1163276" y="2994426"/>
            <a:ext cx="30519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1001"/>
              <a:buFont typeface="Manrope"/>
              <a:buNone/>
            </a:pPr>
            <a:r>
              <a:rPr sz="1001" b="0" i="0">
                <a:solidFill>
                  <a:srgbClr val="292C33"/>
                </a:solidFill>
                <a:latin typeface="Manrope"/>
              </a:rPr>
              <a:t>Інвестори та девелопери отримують доступ до верифікованих об'єктів</a:t>
            </a:r>
            <a:endParaRPr b="0" i="0" sz="100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858076" y="3474027"/>
            <a:ext cx="218100" cy="218100"/>
          </a:xfrm>
          <a:prstGeom prst="ellipse">
            <a:avLst/>
          </a:prstGeom>
          <a:solidFill>
            <a:srgbClr val="6C4CEB"/>
          </a:solidFill>
          <a:ln>
            <a:noFill/>
          </a:ln>
        </p:spPr>
        <p:txBody>
          <a:bodyPr anchorCtr="0" anchor="ctr" bIns="87200" lIns="87200" spcFirstLastPara="1" rIns="87200" wrap="square" tIns="87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8"/>
          <p:cNvSpPr/>
          <p:nvPr/>
        </p:nvSpPr>
        <p:spPr>
          <a:xfrm>
            <a:off x="858076" y="3474027"/>
            <a:ext cx="218100" cy="2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575" lIns="87200" spcFirstLastPara="1" rIns="87200" wrap="square" tIns="43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8"/>
              <a:buFont typeface="Manrope"/>
              <a:buNone/>
            </a:pPr>
            <a:r>
              <a:rPr b="0" i="0" lang="en-US" sz="858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4</a:t>
            </a:r>
            <a:endParaRPr b="0" i="0" sz="85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1163276" y="3430427"/>
            <a:ext cx="30519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1001"/>
              <a:buFont typeface="Manrope"/>
              <a:buNone/>
            </a:pPr>
            <a:r>
              <a:rPr sz="1001" b="0" i="0">
                <a:solidFill>
                  <a:srgbClr val="292C33"/>
                </a:solidFill>
                <a:latin typeface="Manrope"/>
              </a:rPr>
              <a:t>Після перших MOU та об'єктів відкривається діалог із банками та міністерствами</a:t>
            </a:r>
            <a:endParaRPr b="0" i="0" sz="100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858076" y="3910028"/>
            <a:ext cx="218100" cy="218100"/>
          </a:xfrm>
          <a:prstGeom prst="ellipse">
            <a:avLst/>
          </a:prstGeom>
          <a:solidFill>
            <a:srgbClr val="6C4CEB"/>
          </a:solidFill>
          <a:ln>
            <a:noFill/>
          </a:ln>
        </p:spPr>
        <p:txBody>
          <a:bodyPr anchorCtr="0" anchor="ctr" bIns="87200" lIns="87200" spcFirstLastPara="1" rIns="87200" wrap="square" tIns="87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8"/>
          <p:cNvSpPr/>
          <p:nvPr/>
        </p:nvSpPr>
        <p:spPr>
          <a:xfrm>
            <a:off x="858076" y="3910028"/>
            <a:ext cx="218100" cy="2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575" lIns="87200" spcFirstLastPara="1" rIns="87200" wrap="square" tIns="43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8"/>
              <a:buFont typeface="Manrope"/>
              <a:buNone/>
            </a:pPr>
            <a:r>
              <a:rPr b="0" i="0" lang="en-US" sz="858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5</a:t>
            </a:r>
            <a:endParaRPr b="0" i="0" sz="85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8"/>
          <p:cNvSpPr/>
          <p:nvPr/>
        </p:nvSpPr>
        <p:spPr>
          <a:xfrm>
            <a:off x="1163276" y="3866428"/>
            <a:ext cx="30519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1001"/>
              <a:buFont typeface="Manrope"/>
              <a:buNone/>
            </a:pPr>
            <a:r>
              <a:rPr sz="1001" b="0" i="0">
                <a:solidFill>
                  <a:srgbClr val="292C33"/>
                </a:solidFill>
                <a:latin typeface="Manrope"/>
              </a:rPr>
              <a:t>Прозорий канал угоди знижує репутаційні ризики для громади</a:t>
            </a:r>
            <a:endParaRPr b="0" i="0" sz="100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4673600" y="1512022"/>
            <a:ext cx="3784600" cy="2971078"/>
          </a:xfrm>
          <a:prstGeom prst="roundRect">
            <a:avLst>
              <a:gd fmla="val 2857" name="adj"/>
            </a:avLst>
          </a:prstGeom>
          <a:solidFill>
            <a:srgbClr val="4B30B9"/>
          </a:solidFill>
          <a:ln>
            <a:noFill/>
          </a:ln>
        </p:spPr>
        <p:txBody>
          <a:bodyPr anchorCtr="0" anchor="ctr" bIns="87200" lIns="87200" spcFirstLastPara="1" rIns="87200" wrap="square" tIns="87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9" name="Google Shape;229;p8"/>
          <p:cNvPicPr preferRelativeResize="0"/>
          <p:nvPr/>
        </p:nvPicPr>
        <p:blipFill rotWithShape="1">
          <a:blip r:embed="rId7">
            <a:alphaModFix/>
          </a:blip>
          <a:srcRect l="0" t="0" r="0" b="0"/>
          <a:stretch/>
        </p:blipFill>
        <p:spPr>
          <a:xfrm>
            <a:off x="4912886" y="1642822"/>
            <a:ext cx="348801" cy="348801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8"/>
          <p:cNvSpPr/>
          <p:nvPr/>
        </p:nvSpPr>
        <p:spPr>
          <a:xfrm>
            <a:off x="5348887" y="1642822"/>
            <a:ext cx="28776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40"/>
              <a:buFont typeface="Unbounded"/>
              <a:buNone/>
            </a:pPr>
            <a:r>
              <a:rPr sz="1239" b="1" i="0">
                <a:solidFill>
                  <a:srgbClr val="FFFFFF"/>
                </a:solidFill>
                <a:latin typeface="Unbounded"/>
              </a:rPr>
              <a:t>Результат для громади</a:t>
            </a:r>
            <a:endParaRPr b="0" i="0" sz="123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8"/>
          <p:cNvSpPr/>
          <p:nvPr/>
        </p:nvSpPr>
        <p:spPr>
          <a:xfrm>
            <a:off x="4912886" y="2166024"/>
            <a:ext cx="13080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6FF0"/>
              </a:buClr>
              <a:buSzPts val="1001"/>
              <a:buFont typeface="Unbounded"/>
              <a:buNone/>
            </a:pPr>
            <a:r>
              <a:rPr b="1" i="0" lang="en-US" sz="1001" u="none" cap="none" strike="noStrike">
                <a:solidFill>
                  <a:schemeClr val="lt1"/>
                </a:solidFill>
                <a:latin typeface="Unbounded"/>
                <a:ea typeface="Unbounded"/>
                <a:cs typeface="Unbounded"/>
                <a:sym typeface="Unbounded"/>
              </a:rPr>
              <a:t>Залучення</a:t>
            </a:r>
            <a:endParaRPr b="0" i="0" sz="1001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8"/>
          <p:cNvSpPr/>
          <p:nvPr/>
        </p:nvSpPr>
        <p:spPr>
          <a:xfrm>
            <a:off x="6323249" y="2166022"/>
            <a:ext cx="19905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1"/>
              <a:buFont typeface="Manrope"/>
              <a:buNone/>
            </a:pPr>
            <a:r>
              <a:rPr sz="1001" b="0" i="0">
                <a:solidFill>
                  <a:srgbClr val="FFFFFF"/>
                </a:solidFill>
                <a:latin typeface="Manrope"/>
              </a:rPr>
              <a:t>іноземних і локальних інвестицій</a:t>
            </a:r>
            <a:endParaRPr b="0" i="0" sz="100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8"/>
          <p:cNvSpPr/>
          <p:nvPr/>
        </p:nvSpPr>
        <p:spPr>
          <a:xfrm>
            <a:off x="4912886" y="2602025"/>
            <a:ext cx="13080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6FF0"/>
              </a:buClr>
              <a:buSzPts val="1001"/>
              <a:buFont typeface="Unbounded"/>
              <a:buNone/>
            </a:pPr>
            <a:r>
              <a:rPr b="1" i="0" lang="en-US" sz="1001" u="none" cap="none" strike="noStrike">
                <a:solidFill>
                  <a:schemeClr val="lt1"/>
                </a:solidFill>
                <a:latin typeface="Unbounded"/>
                <a:ea typeface="Unbounded"/>
                <a:cs typeface="Unbounded"/>
                <a:sym typeface="Unbounded"/>
              </a:rPr>
              <a:t>Прозорість</a:t>
            </a:r>
            <a:endParaRPr b="0" i="0" sz="1001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8"/>
          <p:cNvSpPr/>
          <p:nvPr/>
        </p:nvSpPr>
        <p:spPr>
          <a:xfrm>
            <a:off x="6323249" y="2602022"/>
            <a:ext cx="19905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1"/>
              <a:buFont typeface="Manrope"/>
              <a:buNone/>
            </a:pPr>
            <a:r>
              <a:rPr sz="1001" b="0" i="0">
                <a:solidFill>
                  <a:srgbClr val="FFFFFF"/>
                </a:solidFill>
                <a:latin typeface="Manrope"/>
              </a:rPr>
              <a:t>кожної транзакції для адміністрації</a:t>
            </a:r>
            <a:endParaRPr b="0" i="0" sz="100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8"/>
          <p:cNvSpPr/>
          <p:nvPr/>
        </p:nvSpPr>
        <p:spPr>
          <a:xfrm>
            <a:off x="4912886" y="3038026"/>
            <a:ext cx="13080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6FF0"/>
              </a:buClr>
              <a:buSzPts val="1001"/>
              <a:buFont typeface="Unbounded"/>
              <a:buNone/>
            </a:pPr>
            <a:r>
              <a:rPr b="1" i="0" lang="en-US" sz="1001" u="none" cap="none" strike="noStrike">
                <a:solidFill>
                  <a:schemeClr val="lt1"/>
                </a:solidFill>
                <a:latin typeface="Unbounded"/>
                <a:ea typeface="Unbounded"/>
                <a:cs typeface="Unbounded"/>
                <a:sym typeface="Unbounded"/>
              </a:rPr>
              <a:t>Реінвестування</a:t>
            </a:r>
            <a:endParaRPr b="0" i="0" sz="1001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8"/>
          <p:cNvSpPr/>
          <p:nvPr/>
        </p:nvSpPr>
        <p:spPr>
          <a:xfrm>
            <a:off x="6323249" y="3038022"/>
            <a:ext cx="19905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1"/>
              <a:buFont typeface="Manrope"/>
              <a:buNone/>
            </a:pPr>
            <a:r>
              <a:rPr sz="1001" b="0" i="0">
                <a:solidFill>
                  <a:srgbClr val="FFFFFF"/>
                </a:solidFill>
                <a:latin typeface="Manrope"/>
              </a:rPr>
              <a:t>ефекту всередині громади</a:t>
            </a:r>
            <a:endParaRPr b="0" i="0" sz="100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8"/>
          <p:cNvSpPr/>
          <p:nvPr/>
        </p:nvSpPr>
        <p:spPr>
          <a:xfrm>
            <a:off x="4912886" y="3474027"/>
            <a:ext cx="13080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6FF0"/>
              </a:buClr>
              <a:buSzPts val="1001"/>
              <a:buFont typeface="Unbounded"/>
              <a:buNone/>
            </a:pPr>
            <a:r>
              <a:rPr b="1" i="0" lang="en-US" sz="1001" u="none" cap="none" strike="noStrike">
                <a:solidFill>
                  <a:schemeClr val="lt1"/>
                </a:solidFill>
                <a:latin typeface="Unbounded"/>
                <a:ea typeface="Unbounded"/>
                <a:cs typeface="Unbounded"/>
                <a:sym typeface="Unbounded"/>
              </a:rPr>
              <a:t>Ефективність</a:t>
            </a:r>
            <a:endParaRPr b="0" i="0" sz="1001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8"/>
          <p:cNvSpPr/>
          <p:nvPr/>
        </p:nvSpPr>
        <p:spPr>
          <a:xfrm>
            <a:off x="6323249" y="3474022"/>
            <a:ext cx="19905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1"/>
              <a:buFont typeface="Manrope"/>
              <a:buNone/>
            </a:pPr>
            <a:r>
              <a:rPr sz="1001" b="0" i="0">
                <a:solidFill>
                  <a:srgbClr val="FFFFFF"/>
                </a:solidFill>
                <a:latin typeface="Manrope"/>
              </a:rPr>
              <a:t>циклу від запиту до переговорів</a:t>
            </a:r>
            <a:endParaRPr b="0" i="0" sz="100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8"/>
          <p:cNvSpPr/>
          <p:nvPr/>
        </p:nvSpPr>
        <p:spPr>
          <a:xfrm>
            <a:off x="4912886" y="3910028"/>
            <a:ext cx="13080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6FF0"/>
              </a:buClr>
              <a:buSzPts val="1001"/>
              <a:buFont typeface="Unbounded"/>
              <a:buNone/>
            </a:pPr>
            <a:r>
              <a:rPr b="1" i="0" lang="en-US" sz="1001" u="none" cap="none" strike="noStrike">
                <a:solidFill>
                  <a:schemeClr val="lt1"/>
                </a:solidFill>
                <a:latin typeface="Unbounded"/>
                <a:ea typeface="Unbounded"/>
                <a:cs typeface="Unbounded"/>
                <a:sym typeface="Unbounded"/>
              </a:rPr>
              <a:t>Зростання</a:t>
            </a:r>
            <a:endParaRPr b="0" i="0" sz="1001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8"/>
          <p:cNvSpPr/>
          <p:nvPr/>
        </p:nvSpPr>
        <p:spPr>
          <a:xfrm>
            <a:off x="6323249" y="3910023"/>
            <a:ext cx="19905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1"/>
              <a:buFont typeface="Manrope"/>
              <a:buNone/>
            </a:pPr>
            <a:r>
              <a:rPr sz="1001" b="0" i="0">
                <a:solidFill>
                  <a:srgbClr val="FFFFFF"/>
                </a:solidFill>
                <a:latin typeface="Manrope"/>
              </a:rPr>
              <a:t>економічного розвитку регіону</a:t>
            </a:r>
            <a:endParaRPr b="0" i="0" sz="100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C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logo_banda.png" id="246" name="Google Shape;246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05800" y="228600"/>
            <a:ext cx="482600" cy="482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9"/>
          <p:cNvSpPr/>
          <p:nvPr/>
        </p:nvSpPr>
        <p:spPr>
          <a:xfrm>
            <a:off x="685800" y="355600"/>
            <a:ext cx="7772400" cy="5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2400"/>
              <a:buFont typeface="Unbounded"/>
              <a:buNone/>
            </a:pPr>
            <a:r>
              <a:rPr sz="2600" b="1" i="0">
                <a:solidFill>
                  <a:srgbClr val="12141A"/>
                </a:solidFill>
                <a:latin typeface="Manrope"/>
              </a:rPr>
              <a:t>Залучення інвестицій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9"/>
          <p:cNvSpPr/>
          <p:nvPr/>
        </p:nvSpPr>
        <p:spPr>
          <a:xfrm>
            <a:off x="685800" y="990600"/>
            <a:ext cx="7772400" cy="394422"/>
          </a:xfrm>
          <a:prstGeom prst="rect">
            <a:avLst/>
          </a:prstGeom>
          <a:noFill/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300"/>
              <a:buFont typeface="Manrope"/>
              <a:buNone/>
            </a:pPr>
            <a:r>
              <a:rPr sz="1300" b="0" i="0">
                <a:solidFill>
                  <a:srgbClr val="4A4F5C"/>
                </a:solidFill>
                <a:latin typeface="Manrope"/>
              </a:rPr>
              <a:t>Eighty85 як канал інвестицій у громаду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9"/>
          <p:cNvSpPr/>
          <p:nvPr/>
        </p:nvSpPr>
        <p:spPr>
          <a:xfrm>
            <a:off x="685800" y="1512022"/>
            <a:ext cx="2353733" cy="1168400"/>
          </a:xfrm>
          <a:prstGeom prst="roundRect">
            <a:avLst>
              <a:gd fmla="val 8333" name="adj"/>
            </a:avLst>
          </a:prstGeom>
          <a:solidFill>
            <a:srgbClr val="4B30B9"/>
          </a:solidFill>
          <a:ln>
            <a:noFill/>
          </a:ln>
        </p:spPr>
        <p:txBody>
          <a:bodyPr anchorCtr="0" anchor="ctr" bIns="89350" lIns="89350" spcFirstLastPara="1" rIns="89350" wrap="square" tIns="89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9"/>
          <p:cNvSpPr/>
          <p:nvPr/>
        </p:nvSpPr>
        <p:spPr>
          <a:xfrm>
            <a:off x="863600" y="1689822"/>
            <a:ext cx="1998133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4650" lIns="89350" spcFirstLastPara="1" rIns="89350" wrap="square" tIns="44650">
            <a:noAutofit/>
          </a:bodyPr>
          <a:lstStyle/>
          <a:p>
            <a:pPr indent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3"/>
              <a:buFont typeface="Unbounded"/>
              <a:buNone/>
            </a:pPr>
            <a:r>
              <a:rPr sz="1400" b="1" i="0">
                <a:solidFill>
                  <a:srgbClr val="FFFFFF"/>
                </a:solidFill>
                <a:latin typeface="Manrope"/>
              </a:rPr>
              <a:t>Муніципалітет</a:t>
            </a:r>
            <a:endParaRPr b="0" i="0" sz="117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9"/>
          <p:cNvSpPr/>
          <p:nvPr/>
        </p:nvSpPr>
        <p:spPr>
          <a:xfrm>
            <a:off x="863600" y="2147022"/>
            <a:ext cx="1998133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89350" spcFirstLastPara="1" rIns="89350" wrap="square" tIns="25400">
            <a:noAutofit/>
          </a:bodyPr>
          <a:lstStyle/>
          <a:p>
            <a:pPr indent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B6FF0"/>
              </a:buClr>
              <a:buSzPts val="977"/>
              <a:buFont typeface="Manrope"/>
              <a:buNone/>
            </a:pPr>
            <a:r>
              <a:rPr sz="950" b="0" i="0">
                <a:solidFill>
                  <a:srgbClr val="EEEAFF"/>
                </a:solidFill>
                <a:latin typeface="Manrope"/>
              </a:rPr>
              <a:t>Об'єкти, земля, проєкти PPP</a:t>
            </a:r>
            <a:endParaRPr b="0" i="0" sz="977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9"/>
          <p:cNvSpPr/>
          <p:nvPr/>
        </p:nvSpPr>
        <p:spPr>
          <a:xfrm>
            <a:off x="3395133" y="1512022"/>
            <a:ext cx="2353733" cy="1168400"/>
          </a:xfrm>
          <a:prstGeom prst="roundRect">
            <a:avLst>
              <a:gd fmla="val 8333" name="adj"/>
            </a:avLst>
          </a:prstGeom>
          <a:solidFill>
            <a:srgbClr val="4B30B9"/>
          </a:solidFill>
          <a:ln>
            <a:noFill/>
          </a:ln>
        </p:spPr>
        <p:txBody>
          <a:bodyPr anchorCtr="0" anchor="ctr" bIns="89350" lIns="89350" spcFirstLastPara="1" rIns="89350" wrap="square" tIns="89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9"/>
          <p:cNvSpPr/>
          <p:nvPr/>
        </p:nvSpPr>
        <p:spPr>
          <a:xfrm>
            <a:off x="3572933" y="1689822"/>
            <a:ext cx="1998133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4650" lIns="89350" spcFirstLastPara="1" rIns="89350" wrap="square" tIns="44650">
            <a:noAutofit/>
          </a:bodyPr>
          <a:lstStyle/>
          <a:p>
            <a:pPr indent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3"/>
              <a:buFont typeface="Unbounded"/>
              <a:buNone/>
            </a:pPr>
            <a:r>
              <a:rPr sz="1400" b="1" i="0">
                <a:solidFill>
                  <a:srgbClr val="FFFFFF"/>
                </a:solidFill>
                <a:latin typeface="Manrope"/>
              </a:rPr>
              <a:t>Eighty85</a:t>
            </a:r>
            <a:endParaRPr b="0" i="0" sz="117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9"/>
          <p:cNvSpPr/>
          <p:nvPr/>
        </p:nvSpPr>
        <p:spPr>
          <a:xfrm>
            <a:off x="3572933" y="2147022"/>
            <a:ext cx="1998133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89350" spcFirstLastPara="1" rIns="89350" wrap="square" tIns="25400">
            <a:noAutofit/>
          </a:bodyPr>
          <a:lstStyle/>
          <a:p>
            <a:pPr indent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B6FF0"/>
              </a:buClr>
              <a:buSzPts val="977"/>
              <a:buFont typeface="Manrope"/>
              <a:buNone/>
            </a:pPr>
            <a:r>
              <a:rPr sz="950" b="0" i="0">
                <a:solidFill>
                  <a:srgbClr val="EEEAFF"/>
                </a:solidFill>
                <a:latin typeface="Manrope"/>
              </a:rPr>
              <a:t>Верифікація, стандартизація, вітрина</a:t>
            </a:r>
            <a:endParaRPr b="0" i="0" sz="977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9"/>
          <p:cNvSpPr/>
          <p:nvPr/>
        </p:nvSpPr>
        <p:spPr>
          <a:xfrm>
            <a:off x="6104466" y="1512022"/>
            <a:ext cx="2353733" cy="1168400"/>
          </a:xfrm>
          <a:prstGeom prst="roundRect">
            <a:avLst>
              <a:gd fmla="val 8333" name="adj"/>
            </a:avLst>
          </a:prstGeom>
          <a:solidFill>
            <a:srgbClr val="4B30B9"/>
          </a:solidFill>
          <a:ln>
            <a:noFill/>
          </a:ln>
        </p:spPr>
        <p:txBody>
          <a:bodyPr anchorCtr="0" anchor="ctr" bIns="89350" lIns="89350" spcFirstLastPara="1" rIns="89350" wrap="square" tIns="89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9"/>
          <p:cNvSpPr/>
          <p:nvPr/>
        </p:nvSpPr>
        <p:spPr>
          <a:xfrm>
            <a:off x="6282266" y="1689822"/>
            <a:ext cx="1998133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4650" lIns="89350" spcFirstLastPara="1" rIns="89350" wrap="square" tIns="44650">
            <a:noAutofit/>
          </a:bodyPr>
          <a:lstStyle/>
          <a:p>
            <a:pPr indent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3"/>
              <a:buFont typeface="Unbounded"/>
              <a:buNone/>
            </a:pPr>
            <a:r>
              <a:rPr sz="1400" b="1" i="0">
                <a:solidFill>
                  <a:srgbClr val="FFFFFF"/>
                </a:solidFill>
                <a:latin typeface="Manrope"/>
              </a:rPr>
              <a:t>Інвестори</a:t>
            </a:r>
            <a:endParaRPr b="0" i="0" sz="117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9"/>
          <p:cNvSpPr/>
          <p:nvPr/>
        </p:nvSpPr>
        <p:spPr>
          <a:xfrm>
            <a:off x="6282266" y="2147022"/>
            <a:ext cx="1998133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89350" spcFirstLastPara="1" rIns="89350" wrap="square" tIns="25400">
            <a:noAutofit/>
          </a:bodyPr>
          <a:lstStyle/>
          <a:p>
            <a:pPr indent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B6FF0"/>
              </a:buClr>
              <a:buSzPts val="977"/>
              <a:buFont typeface="Manrope"/>
              <a:buNone/>
            </a:pPr>
            <a:r>
              <a:rPr sz="950" b="0" i="0">
                <a:solidFill>
                  <a:srgbClr val="EEEAFF"/>
                </a:solidFill>
                <a:latin typeface="Manrope"/>
              </a:rPr>
              <a:t>Фонди, family office, стратегічні партнери</a:t>
            </a:r>
            <a:endParaRPr b="0" i="0" sz="977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9"/>
          <p:cNvSpPr/>
          <p:nvPr/>
        </p:nvSpPr>
        <p:spPr>
          <a:xfrm>
            <a:off x="3103033" y="1931122"/>
            <a:ext cx="228600" cy="330200"/>
          </a:xfrm>
          <a:prstGeom prst="rect">
            <a:avLst/>
          </a:prstGeom>
          <a:noFill/>
        </p:spPr>
        <p:txBody>
          <a:bodyPr anchorCtr="0" anchor="ctr" bIns="44650" lIns="0" spcFirstLastPara="1" rIns="0" wrap="square" tIns="44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2150"/>
              <a:buFont typeface="Manrope"/>
              <a:buNone/>
            </a:pPr>
            <a:r>
              <a:rPr b="1" i="0" lang="en-US" sz="2200" u="none" cap="none" strike="noStrike">
                <a:solidFill>
                  <a:srgbClr val="6C4CEB"/>
                </a:solidFill>
                <a:latin typeface="Manrope"/>
                <a:ea typeface="Manrope"/>
                <a:cs typeface="Manrope"/>
                <a:sym typeface="Manrope"/>
              </a:rPr>
              <a:t>→</a:t>
            </a:r>
            <a:endParaRPr b="0" i="0" sz="2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9"/>
          <p:cNvSpPr/>
          <p:nvPr/>
        </p:nvSpPr>
        <p:spPr>
          <a:xfrm>
            <a:off x="5812366" y="1931122"/>
            <a:ext cx="228600" cy="330200"/>
          </a:xfrm>
          <a:prstGeom prst="rect">
            <a:avLst/>
          </a:prstGeom>
          <a:noFill/>
        </p:spPr>
        <p:txBody>
          <a:bodyPr anchorCtr="0" anchor="ctr" bIns="44650" lIns="0" spcFirstLastPara="1" rIns="0" wrap="square" tIns="44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2150"/>
              <a:buFont typeface="Manrope"/>
              <a:buNone/>
            </a:pPr>
            <a:r>
              <a:rPr b="1" i="0" lang="en-US" sz="2200" u="none" cap="none" strike="noStrike">
                <a:solidFill>
                  <a:srgbClr val="6C4CEB"/>
                </a:solidFill>
                <a:latin typeface="Manrope"/>
                <a:ea typeface="Manrope"/>
                <a:cs typeface="Manrope"/>
                <a:sym typeface="Manrope"/>
              </a:rPr>
              <a:t>→</a:t>
            </a:r>
            <a:endParaRPr b="0" i="0" sz="2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9"/>
          <p:cNvSpPr/>
          <p:nvPr/>
        </p:nvSpPr>
        <p:spPr>
          <a:xfrm>
            <a:off x="685800" y="2883622"/>
            <a:ext cx="2353733" cy="1599478"/>
          </a:xfrm>
          <a:prstGeom prst="roundRect">
            <a:avLst>
              <a:gd fmla="val 6061" name="adj"/>
            </a:avLst>
          </a:prstGeom>
          <a:solidFill>
            <a:srgbClr val="FFFFFF"/>
          </a:solidFill>
          <a:ln>
            <a:noFill/>
          </a:ln>
          <a:effectLst>
            <a:outerShdw blurRad="94359" rotWithShape="0" algn="bl" dir="8100000" dist="23590">
              <a:srgbClr val="000000">
                <a:alpha val="5882"/>
              </a:srgbClr>
            </a:outerShdw>
          </a:effectLst>
        </p:spPr>
        <p:txBody>
          <a:bodyPr anchorCtr="0" anchor="ctr" bIns="84900" lIns="84900" spcFirstLastPara="1" rIns="84900" wrap="square" tIns="8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9"/>
          <p:cNvSpPr/>
          <p:nvPr/>
        </p:nvSpPr>
        <p:spPr>
          <a:xfrm>
            <a:off x="863600" y="3061422"/>
            <a:ext cx="1998133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marR="0" rtl="0" algn="l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1114"/>
              <a:buFont typeface="Unbounded"/>
              <a:buNone/>
            </a:pPr>
            <a:r>
              <a:rPr sz="1300" b="1" i="0">
                <a:solidFill>
                  <a:srgbClr val="6C4CEB"/>
                </a:solidFill>
                <a:latin typeface="Manrope"/>
              </a:rPr>
              <a:t>Можливості RWA</a:t>
            </a:r>
            <a:endParaRPr b="0" i="0" sz="111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9"/>
          <p:cNvSpPr/>
          <p:nvPr/>
        </p:nvSpPr>
        <p:spPr>
          <a:xfrm>
            <a:off x="863600" y="3493222"/>
            <a:ext cx="1998133" cy="81207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0" spcFirstLastPara="1" rIns="0" wrap="square" tIns="25400">
            <a:noAutofit/>
          </a:bodyPr>
          <a:lstStyle/>
          <a:p>
            <a:pPr indent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975"/>
              <a:buFont typeface="Manrope"/>
              <a:buNone/>
            </a:pPr>
            <a:r>
              <a:rPr sz="950" b="0" i="0">
                <a:solidFill>
                  <a:srgbClr val="4A4F5C"/>
                </a:solidFill>
                <a:latin typeface="Manrope"/>
              </a:rPr>
              <a:t>Об'єкти громади можна готувати до формату real-world assets і відкривати додаткові джерела капіталу після пілоту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9"/>
          <p:cNvSpPr/>
          <p:nvPr/>
        </p:nvSpPr>
        <p:spPr>
          <a:xfrm>
            <a:off x="3395133" y="2883622"/>
            <a:ext cx="2353733" cy="1599478"/>
          </a:xfrm>
          <a:prstGeom prst="roundRect">
            <a:avLst>
              <a:gd fmla="val 6061" name="adj"/>
            </a:avLst>
          </a:prstGeom>
          <a:solidFill>
            <a:srgbClr val="FFFFFF"/>
          </a:solidFill>
          <a:ln>
            <a:noFill/>
          </a:ln>
          <a:effectLst>
            <a:outerShdw blurRad="94359" rotWithShape="0" algn="bl" dir="8100000" dist="23590">
              <a:srgbClr val="000000">
                <a:alpha val="5882"/>
              </a:srgbClr>
            </a:outerShdw>
          </a:effectLst>
        </p:spPr>
        <p:txBody>
          <a:bodyPr anchorCtr="0" anchor="ctr" bIns="84900" lIns="84900" spcFirstLastPara="1" rIns="84900" wrap="square" tIns="8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9"/>
          <p:cNvSpPr/>
          <p:nvPr/>
        </p:nvSpPr>
        <p:spPr>
          <a:xfrm>
            <a:off x="3572933" y="3061422"/>
            <a:ext cx="1998133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marR="0" rtl="0" algn="l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1114"/>
              <a:buFont typeface="Unbounded"/>
              <a:buNone/>
            </a:pPr>
            <a:r>
              <a:rPr sz="1300" b="1" i="0">
                <a:solidFill>
                  <a:srgbClr val="6C4CEB"/>
                </a:solidFill>
                <a:latin typeface="Manrope"/>
              </a:rPr>
              <a:t>Прозорий процес</a:t>
            </a:r>
            <a:endParaRPr b="0" i="0" sz="111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9"/>
          <p:cNvSpPr/>
          <p:nvPr/>
        </p:nvSpPr>
        <p:spPr>
          <a:xfrm>
            <a:off x="3572933" y="3493222"/>
            <a:ext cx="1998133" cy="47777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0" spcFirstLastPara="1" rIns="0" wrap="square" tIns="25400">
            <a:noAutofit/>
          </a:bodyPr>
          <a:lstStyle/>
          <a:p>
            <a:pPr indent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975"/>
              <a:buFont typeface="Manrope"/>
              <a:buNone/>
            </a:pPr>
            <a:r>
              <a:rPr sz="1050" b="0" i="0">
                <a:solidFill>
                  <a:srgbClr val="4A4F5C"/>
                </a:solidFill>
                <a:latin typeface="Manrope"/>
              </a:rPr>
              <a:t>Зрозумілі статуси та звітність для громади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9"/>
          <p:cNvSpPr/>
          <p:nvPr/>
        </p:nvSpPr>
        <p:spPr>
          <a:xfrm>
            <a:off x="6104466" y="2883622"/>
            <a:ext cx="2353733" cy="1599478"/>
          </a:xfrm>
          <a:prstGeom prst="roundRect">
            <a:avLst>
              <a:gd fmla="val 6061" name="adj"/>
            </a:avLst>
          </a:prstGeom>
          <a:solidFill>
            <a:srgbClr val="FFFFFF"/>
          </a:solidFill>
          <a:ln>
            <a:noFill/>
          </a:ln>
          <a:effectLst>
            <a:outerShdw blurRad="94359" rotWithShape="0" algn="bl" dir="8100000" dist="23590">
              <a:srgbClr val="000000">
                <a:alpha val="5882"/>
              </a:srgbClr>
            </a:outerShdw>
          </a:effectLst>
        </p:spPr>
        <p:txBody>
          <a:bodyPr anchorCtr="0" anchor="ctr" bIns="84900" lIns="84900" spcFirstLastPara="1" rIns="84900" wrap="square" tIns="8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9"/>
          <p:cNvSpPr/>
          <p:nvPr/>
        </p:nvSpPr>
        <p:spPr>
          <a:xfrm>
            <a:off x="6282266" y="3061422"/>
            <a:ext cx="1998133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marR="0" rtl="0" algn="l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1114"/>
              <a:buFont typeface="Unbounded"/>
              <a:buNone/>
            </a:pPr>
            <a:r>
              <a:rPr sz="1300" b="1" i="0">
                <a:solidFill>
                  <a:srgbClr val="6C4CEB"/>
                </a:solidFill>
                <a:latin typeface="Manrope"/>
              </a:rPr>
              <a:t>Економічний ефект</a:t>
            </a:r>
            <a:endParaRPr b="0" i="0" sz="111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9"/>
          <p:cNvSpPr/>
          <p:nvPr/>
        </p:nvSpPr>
        <p:spPr>
          <a:xfrm>
            <a:off x="6282266" y="3493222"/>
            <a:ext cx="1998133" cy="6404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0" spcFirstLastPara="1" rIns="0" wrap="square" tIns="25400">
            <a:noAutofit/>
          </a:bodyPr>
          <a:lstStyle/>
          <a:p>
            <a:pPr indent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975"/>
              <a:buFont typeface="Manrope"/>
              <a:buNone/>
            </a:pPr>
            <a:r>
              <a:rPr sz="1050" b="0" i="0">
                <a:solidFill>
                  <a:srgbClr val="4A4F5C"/>
                </a:solidFill>
                <a:latin typeface="Manrope"/>
              </a:rPr>
              <a:t>Зростання інвестиційної активності та керований потік угод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C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logo_banda.png" id="274" name="Google Shape;274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05800" y="228600"/>
            <a:ext cx="482600" cy="482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10"/>
          <p:cNvSpPr/>
          <p:nvPr/>
        </p:nvSpPr>
        <p:spPr>
          <a:xfrm>
            <a:off x="685800" y="355600"/>
            <a:ext cx="7772400" cy="5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marL="0" marR="0" rtl="0" algn="l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2600"/>
              <a:buFont typeface="Unbounded"/>
              <a:buNone/>
            </a:pPr>
            <a:r>
              <a:rPr sz="2600" b="1" i="0">
                <a:solidFill>
                  <a:srgbClr val="12141A"/>
                </a:solidFill>
                <a:latin typeface="Manrope"/>
              </a:rPr>
              <a:t>Пілот: перші 90 днів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0"/>
          <p:cNvSpPr/>
          <p:nvPr/>
        </p:nvSpPr>
        <p:spPr>
          <a:xfrm>
            <a:off x="685800" y="990600"/>
            <a:ext cx="7772400" cy="394422"/>
          </a:xfrm>
          <a:prstGeom prst="rect">
            <a:avLst/>
          </a:prstGeom>
          <a:noFill/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300"/>
              <a:buFont typeface="Manrope"/>
              <a:buNone/>
            </a:pPr>
            <a:r>
              <a:rPr sz="1300" b="0" i="0">
                <a:solidFill>
                  <a:srgbClr val="4A4F5C"/>
                </a:solidFill>
                <a:latin typeface="Manrope"/>
              </a:rPr>
              <a:t>Зрозумілий план запуску без перевантаження адміністрації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0"/>
          <p:cNvSpPr/>
          <p:nvPr/>
        </p:nvSpPr>
        <p:spPr>
          <a:xfrm>
            <a:off x="685800" y="1647500"/>
            <a:ext cx="3731100" cy="2835600"/>
          </a:xfrm>
          <a:prstGeom prst="roundRect">
            <a:avLst>
              <a:gd fmla="val 2703" name="adj"/>
            </a:avLst>
          </a:prstGeom>
          <a:solidFill>
            <a:srgbClr val="FFFFFF"/>
          </a:solidFill>
          <a:ln>
            <a:noFill/>
          </a:ln>
          <a:effectLst>
            <a:outerShdw blurRad="95300" rotWithShape="0" algn="bl" dir="8100000" dist="23825">
              <a:srgbClr val="000000">
                <a:alpha val="5882"/>
              </a:srgbClr>
            </a:outerShdw>
          </a:effectLst>
        </p:spPr>
        <p:txBody>
          <a:bodyPr anchorCtr="0" anchor="ctr" bIns="85750" lIns="85750" spcFirstLastPara="1" rIns="85750" wrap="square" tIns="85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0"/>
          <p:cNvSpPr/>
          <p:nvPr/>
        </p:nvSpPr>
        <p:spPr>
          <a:xfrm>
            <a:off x="864666" y="1776155"/>
            <a:ext cx="1114800" cy="2991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1876"/>
              <a:buFont typeface="Unbounded"/>
              <a:buNone/>
            </a:pPr>
            <a:r>
              <a:rPr sz="1275" b="1" i="0">
                <a:solidFill>
                  <a:srgbClr val="6C4CEB"/>
                </a:solidFill>
                <a:latin typeface="Unbounded"/>
              </a:rPr>
              <a:t>0–30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0"/>
          <p:cNvSpPr/>
          <p:nvPr/>
        </p:nvSpPr>
        <p:spPr>
          <a:xfrm>
            <a:off x="2128550" y="1776150"/>
            <a:ext cx="20382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1032"/>
              <a:buFont typeface="Manrope"/>
              <a:buNone/>
            </a:pPr>
            <a:r>
              <a:rPr sz="700" b="0" i="0">
                <a:solidFill>
                  <a:srgbClr val="292C33"/>
                </a:solidFill>
                <a:latin typeface="Manrope"/>
              </a:rPr>
              <a:t>днів: MOU, координатор, перший пакет об'єктів</a:t>
            </a:r>
            <a:endParaRPr b="0" i="0" sz="103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0" name="Google Shape;280;p10"/>
          <p:cNvCxnSpPr/>
          <p:nvPr/>
        </p:nvCxnSpPr>
        <p:spPr>
          <a:xfrm>
            <a:off x="864666" y="2247890"/>
            <a:ext cx="3259200" cy="0"/>
          </a:xfrm>
          <a:prstGeom prst="straightConnector1">
            <a:avLst/>
          </a:prstGeom>
          <a:noFill/>
          <a:ln cap="flat" cmpd="sng" w="8925">
            <a:solidFill>
              <a:srgbClr val="EDE8F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1" name="Google Shape;281;p10"/>
          <p:cNvSpPr/>
          <p:nvPr/>
        </p:nvSpPr>
        <p:spPr>
          <a:xfrm>
            <a:off x="864666" y="2505199"/>
            <a:ext cx="1114800" cy="2991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1876"/>
              <a:buFont typeface="Unbounded"/>
              <a:buNone/>
            </a:pPr>
            <a:r>
              <a:rPr sz="1275" b="1" i="0">
                <a:solidFill>
                  <a:srgbClr val="6C4CEB"/>
                </a:solidFill>
                <a:latin typeface="Unbounded"/>
              </a:rPr>
              <a:t>31–60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0"/>
          <p:cNvSpPr/>
          <p:nvPr/>
        </p:nvSpPr>
        <p:spPr>
          <a:xfrm>
            <a:off x="2128550" y="2505199"/>
            <a:ext cx="20382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1032"/>
              <a:buFont typeface="Manrope"/>
              <a:buNone/>
            </a:pPr>
            <a:r>
              <a:rPr sz="700" b="0" i="0">
                <a:solidFill>
                  <a:srgbClr val="292C33"/>
                </a:solidFill>
                <a:latin typeface="Manrope"/>
              </a:rPr>
              <a:t>днів: публікація вітрини та робота з інвесторами</a:t>
            </a:r>
            <a:endParaRPr b="0" i="0" sz="103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3" name="Google Shape;283;p10"/>
          <p:cNvCxnSpPr/>
          <p:nvPr/>
        </p:nvCxnSpPr>
        <p:spPr>
          <a:xfrm>
            <a:off x="864666" y="2976934"/>
            <a:ext cx="3259200" cy="0"/>
          </a:xfrm>
          <a:prstGeom prst="straightConnector1">
            <a:avLst/>
          </a:prstGeom>
          <a:noFill/>
          <a:ln cap="flat" cmpd="sng" w="8925">
            <a:solidFill>
              <a:srgbClr val="EDE8F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4" name="Google Shape;284;p10"/>
          <p:cNvSpPr/>
          <p:nvPr/>
        </p:nvSpPr>
        <p:spPr>
          <a:xfrm>
            <a:off x="864666" y="3234244"/>
            <a:ext cx="1114800" cy="2991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1876"/>
              <a:buFont typeface="Unbounded"/>
              <a:buNone/>
            </a:pPr>
            <a:r>
              <a:rPr sz="1275" b="1" i="0">
                <a:solidFill>
                  <a:srgbClr val="6C4CEB"/>
                </a:solidFill>
                <a:latin typeface="Unbounded"/>
              </a:rPr>
              <a:t>61–90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0"/>
          <p:cNvSpPr/>
          <p:nvPr/>
        </p:nvSpPr>
        <p:spPr>
          <a:xfrm>
            <a:off x="2128550" y="3234249"/>
            <a:ext cx="20382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1032"/>
              <a:buFont typeface="Manrope"/>
              <a:buNone/>
            </a:pPr>
            <a:r>
              <a:rPr sz="700" b="0" i="0">
                <a:solidFill>
                  <a:srgbClr val="292C33"/>
                </a:solidFill>
                <a:latin typeface="Manrope"/>
              </a:rPr>
              <a:t>днів: кейси, KPI-звіт, масштабування</a:t>
            </a:r>
            <a:endParaRPr b="0" i="0" sz="103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6" name="Google Shape;286;p10"/>
          <p:cNvCxnSpPr/>
          <p:nvPr/>
        </p:nvCxnSpPr>
        <p:spPr>
          <a:xfrm>
            <a:off x="864666" y="3705978"/>
            <a:ext cx="3259200" cy="0"/>
          </a:xfrm>
          <a:prstGeom prst="straightConnector1">
            <a:avLst/>
          </a:prstGeom>
          <a:noFill/>
          <a:ln cap="flat" cmpd="sng" w="8925">
            <a:solidFill>
              <a:srgbClr val="EDE8F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7" name="Google Shape;287;p10"/>
          <p:cNvSpPr/>
          <p:nvPr/>
        </p:nvSpPr>
        <p:spPr>
          <a:xfrm>
            <a:off x="864666" y="3963288"/>
            <a:ext cx="1114800" cy="2991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1876"/>
              <a:buFont typeface="Unbounded"/>
              <a:buNone/>
            </a:pPr>
            <a:r>
              <a:rPr sz="1275" b="1" i="0">
                <a:solidFill>
                  <a:srgbClr val="6C4CEB"/>
                </a:solidFill>
                <a:latin typeface="Unbounded"/>
              </a:rPr>
              <a:t>KPI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0"/>
          <p:cNvSpPr/>
          <p:nvPr/>
        </p:nvSpPr>
        <p:spPr>
          <a:xfrm>
            <a:off x="2128550" y="3963298"/>
            <a:ext cx="2038200" cy="26134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1032"/>
              <a:buFont typeface="Manrope"/>
              <a:buNone/>
            </a:pPr>
            <a:r>
              <a:rPr sz="1031" b="0" i="0">
                <a:solidFill>
                  <a:srgbClr val="292C33"/>
                </a:solidFill>
                <a:latin typeface="Manrope"/>
              </a:rPr>
              <a:t>пілоту фіксуються щомісяця</a:t>
            </a:r>
            <a:endParaRPr b="0" i="0" sz="103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0"/>
          <p:cNvSpPr/>
          <p:nvPr/>
        </p:nvSpPr>
        <p:spPr>
          <a:xfrm>
            <a:off x="4638525" y="1647500"/>
            <a:ext cx="3731100" cy="2835600"/>
          </a:xfrm>
          <a:prstGeom prst="roundRect">
            <a:avLst>
              <a:gd fmla="val 2703" name="adj"/>
            </a:avLst>
          </a:prstGeom>
          <a:solidFill>
            <a:srgbClr val="4B30B9"/>
          </a:solidFill>
          <a:ln>
            <a:noFill/>
          </a:ln>
        </p:spPr>
        <p:txBody>
          <a:bodyPr anchorCtr="0" anchor="ctr" bIns="85750" lIns="85750" spcFirstLastPara="1" rIns="85750" wrap="square" tIns="85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0" name="Google Shape;290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52954" y="1776155"/>
            <a:ext cx="343078" cy="343078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10"/>
          <p:cNvSpPr/>
          <p:nvPr/>
        </p:nvSpPr>
        <p:spPr>
          <a:xfrm>
            <a:off x="5281803" y="1776155"/>
            <a:ext cx="2573100" cy="2904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19"/>
              <a:buFont typeface="Unbounded"/>
              <a:buNone/>
            </a:pPr>
            <a:r>
              <a:rPr sz="1219" b="1" i="0">
                <a:solidFill>
                  <a:srgbClr val="FFFFFF"/>
                </a:solidFill>
                <a:latin typeface="Unbounded"/>
              </a:rPr>
              <a:t>Що вимірюємо</a:t>
            </a:r>
            <a:endParaRPr b="0" i="0" sz="121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2" name="Google Shape;292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52954" y="2333659"/>
            <a:ext cx="188693" cy="188693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10"/>
          <p:cNvSpPr/>
          <p:nvPr/>
        </p:nvSpPr>
        <p:spPr>
          <a:xfrm>
            <a:off x="5153148" y="2290774"/>
            <a:ext cx="3001800" cy="254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5"/>
              <a:buFont typeface="Manrope"/>
              <a:buNone/>
            </a:pPr>
            <a:r>
              <a:rPr sz="984" b="0" i="0">
                <a:solidFill>
                  <a:srgbClr val="FFFFFF"/>
                </a:solidFill>
                <a:latin typeface="Manrope"/>
              </a:rPr>
              <a:t>Кількість об'єктів у роботі</a:t>
            </a:r>
            <a:endParaRPr b="0" i="0" sz="9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4" name="Google Shape;294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52954" y="2762509"/>
            <a:ext cx="188693" cy="188693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10"/>
          <p:cNvSpPr/>
          <p:nvPr/>
        </p:nvSpPr>
        <p:spPr>
          <a:xfrm>
            <a:off x="5153148" y="2719624"/>
            <a:ext cx="3001800" cy="254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5"/>
              <a:buFont typeface="Manrope"/>
              <a:buNone/>
            </a:pPr>
            <a:r>
              <a:rPr sz="984" b="0" i="0">
                <a:solidFill>
                  <a:srgbClr val="FFFFFF"/>
                </a:solidFill>
                <a:latin typeface="Manrope"/>
              </a:rPr>
              <a:t>Кількість інвестиційних запитів</a:t>
            </a:r>
            <a:endParaRPr b="0" i="0" sz="9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6" name="Google Shape;296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52954" y="3191359"/>
            <a:ext cx="188693" cy="188693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10"/>
          <p:cNvSpPr/>
          <p:nvPr/>
        </p:nvSpPr>
        <p:spPr>
          <a:xfrm>
            <a:off x="5153148" y="3148474"/>
            <a:ext cx="3001800" cy="254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5"/>
              <a:buFont typeface="Manrope"/>
              <a:buNone/>
            </a:pPr>
            <a:r>
              <a:rPr sz="984" b="0" i="0">
                <a:solidFill>
                  <a:srgbClr val="FFFFFF"/>
                </a:solidFill>
                <a:latin typeface="Manrope"/>
              </a:rPr>
              <a:t>Кількість активних переговорів</a:t>
            </a:r>
            <a:endParaRPr b="0" i="0" sz="9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8" name="Google Shape;298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52954" y="3620208"/>
            <a:ext cx="188693" cy="188693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10"/>
          <p:cNvSpPr/>
          <p:nvPr/>
        </p:nvSpPr>
        <p:spPr>
          <a:xfrm>
            <a:off x="5153148" y="3577323"/>
            <a:ext cx="3001800" cy="254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5"/>
              <a:buFont typeface="Manrope"/>
              <a:buNone/>
            </a:pPr>
            <a:r>
              <a:rPr sz="984" b="0" i="0">
                <a:solidFill>
                  <a:srgbClr val="FFFFFF"/>
                </a:solidFill>
                <a:latin typeface="Manrope"/>
              </a:rPr>
              <a:t>Кількість об'єктів у стадії угоди</a:t>
            </a:r>
            <a:endParaRPr b="0" i="0" sz="9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00" name="Google Shape;300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52954" y="4049058"/>
            <a:ext cx="188693" cy="188693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10"/>
          <p:cNvSpPr/>
          <p:nvPr/>
        </p:nvSpPr>
        <p:spPr>
          <a:xfrm>
            <a:off x="5153148" y="3948699"/>
            <a:ext cx="3001800" cy="254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5"/>
              <a:buFont typeface="Manrope"/>
              <a:buNone/>
            </a:pPr>
            <a:r>
              <a:rPr sz="984" b="0" i="0">
                <a:solidFill>
                  <a:srgbClr val="FFFFFF"/>
                </a:solidFill>
                <a:latin typeface="Manrope"/>
              </a:rPr>
              <a:t>Прогнозований бюджетний ефект</a:t>
            </a:r>
            <a:endParaRPr b="0" i="0" sz="9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C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logo_banda.png" id="307" name="Google Shape;307;p1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305800" y="228600"/>
            <a:ext cx="482600" cy="482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11"/>
          <p:cNvSpPr/>
          <p:nvPr/>
        </p:nvSpPr>
        <p:spPr>
          <a:xfrm>
            <a:off x="685800" y="355600"/>
            <a:ext cx="7772400" cy="5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marL="0" marR="0" rtl="0" algn="l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2600"/>
              <a:buFont typeface="Unbounded"/>
              <a:buNone/>
            </a:pPr>
            <a:r>
              <a:rPr sz="2600" b="1" i="0">
                <a:solidFill>
                  <a:srgbClr val="12141A"/>
                </a:solidFill>
                <a:latin typeface="Manrope"/>
              </a:rPr>
              <a:t>Що потрібно від муніципалітету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1"/>
          <p:cNvSpPr/>
          <p:nvPr/>
        </p:nvSpPr>
        <p:spPr>
          <a:xfrm>
            <a:off x="685800" y="990600"/>
            <a:ext cx="7772400" cy="394422"/>
          </a:xfrm>
          <a:prstGeom prst="rect">
            <a:avLst/>
          </a:prstGeom>
          <a:noFill/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300"/>
              <a:buFont typeface="Manrope"/>
              <a:buNone/>
            </a:pPr>
            <a:r>
              <a:rPr sz="1300" b="0" i="0">
                <a:solidFill>
                  <a:srgbClr val="4A4F5C"/>
                </a:solidFill>
                <a:latin typeface="Manrope"/>
              </a:rPr>
              <a:t>Мінімум дій для швидкого старту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1"/>
          <p:cNvSpPr/>
          <p:nvPr/>
        </p:nvSpPr>
        <p:spPr>
          <a:xfrm>
            <a:off x="685800" y="1512022"/>
            <a:ext cx="1828800" cy="2971078"/>
          </a:xfrm>
          <a:prstGeom prst="roundRect">
            <a:avLst>
              <a:gd fmla="val 3390" name="adj"/>
            </a:avLst>
          </a:prstGeom>
          <a:solidFill>
            <a:srgbClr val="FFFFFF"/>
          </a:solidFill>
          <a:ln>
            <a:noFill/>
          </a:ln>
          <a:effectLst>
            <a:outerShdw blurRad="96528" rotWithShape="0" algn="bl" dir="8100000" dist="24132">
              <a:srgbClr val="000000">
                <a:alpha val="5882"/>
              </a:srgbClr>
            </a:outerShdw>
          </a:effectLst>
        </p:spPr>
        <p:txBody>
          <a:bodyPr anchorCtr="0" anchor="ctr" bIns="86875" lIns="86875" spcFirstLastPara="1" rIns="86875" wrap="square" tIns="86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1"/>
          <p:cNvSpPr/>
          <p:nvPr/>
        </p:nvSpPr>
        <p:spPr>
          <a:xfrm>
            <a:off x="889000" y="1664422"/>
            <a:ext cx="558800" cy="558800"/>
          </a:xfrm>
          <a:prstGeom prst="ellipse">
            <a:avLst/>
          </a:prstGeom>
          <a:solidFill>
            <a:srgbClr val="EDE8FD"/>
          </a:solidFill>
          <a:ln>
            <a:noFill/>
          </a:ln>
        </p:spPr>
        <p:txBody>
          <a:bodyPr anchorCtr="0" anchor="ctr" bIns="86875" lIns="86875" spcFirstLastPara="1" rIns="86875" wrap="square" tIns="86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2" name="Google Shape;312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5200" y="179142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11"/>
          <p:cNvSpPr/>
          <p:nvPr/>
        </p:nvSpPr>
        <p:spPr>
          <a:xfrm>
            <a:off x="838200" y="2274022"/>
            <a:ext cx="1524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400" lIns="86875" spcFirstLastPara="1" rIns="86875" wrap="square" tIns="43400">
            <a:noAutofit/>
          </a:bodyPr>
          <a:lstStyle/>
          <a:p>
            <a:pPr indent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140"/>
              <a:buFont typeface="Unbounded"/>
              <a:buNone/>
            </a:pPr>
            <a:r>
              <a:rPr sz="1300" b="1">
                <a:solidFill>
                  <a:srgbClr val="6C4CEB"/>
                </a:solidFill>
                <a:latin typeface="Manrope"/>
              </a:rPr>
              <a:t>1. Підписати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14" name="Google Shape;314;p11" hidden="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3825" y="2920935"/>
            <a:ext cx="173750" cy="17375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11"/>
          <p:cNvSpPr/>
          <p:nvPr/>
        </p:nvSpPr>
        <p:spPr>
          <a:xfrm>
            <a:off x="838200" y="2756622"/>
            <a:ext cx="1524000" cy="47777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0" spcFirstLastPara="1" rIns="0" wrap="square" tIns="25400">
            <a:noAutofit/>
          </a:bodyPr>
          <a:lstStyle/>
          <a:p>
            <a:pPr indent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950"/>
              <a:buFont typeface="Manrope"/>
              <a:buNone/>
            </a:pPr>
            <a:r>
              <a:rPr sz="1050" b="0">
                <a:solidFill>
                  <a:srgbClr val="4A4F5C"/>
                </a:solidFill>
                <a:latin typeface="Manrope"/>
              </a:rPr>
              <a:t>рамковий MOU про співпрацю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16" name="Google Shape;316;p11" hidden="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3825" y="3268435"/>
            <a:ext cx="173750" cy="17375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11"/>
          <p:cNvSpPr/>
          <p:nvPr/>
        </p:nvSpPr>
        <p:spPr>
          <a:xfrm>
            <a:off x="2819400" y="2274022"/>
            <a:ext cx="1524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950"/>
              <a:buFont typeface="Manrope"/>
              <a:buNone/>
            </a:pPr>
            <a:r>
              <a:rPr sz="1300" b="1">
                <a:solidFill>
                  <a:srgbClr val="6C4CEB"/>
                </a:solidFill>
                <a:latin typeface="Manrope"/>
              </a:rPr>
              <a:t>2. Призначити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18" name="Google Shape;318;p11" hidden="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3825" y="3615936"/>
            <a:ext cx="173750" cy="17375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11" hidden="1"/>
          <p:cNvSpPr/>
          <p:nvPr/>
        </p:nvSpPr>
        <p:spPr>
          <a:xfrm>
            <a:off x="1074451" y="3541288"/>
            <a:ext cx="19980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950"/>
              <a:buFont typeface="Manrope"/>
              <a:buNone/>
            </a:pPr>
            <a:r>
              <a:rPr b="0" i="0" lang="en-US" sz="950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Прозора система винагород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20" name="Google Shape;320;p11" hidden="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3825" y="3963437"/>
            <a:ext cx="173750" cy="17375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11"/>
          <p:cNvSpPr/>
          <p:nvPr/>
        </p:nvSpPr>
        <p:spPr>
          <a:xfrm>
            <a:off x="2819400" y="2756622"/>
            <a:ext cx="1524000" cy="80314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0" spcFirstLastPara="1" rIns="0" wrap="square" tIns="25400">
            <a:noAutofit/>
          </a:bodyPr>
          <a:lstStyle/>
          <a:p>
            <a:pPr indent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950"/>
              <a:buFont typeface="Manrope"/>
              <a:buNone/>
            </a:pPr>
            <a:r>
              <a:rPr sz="1050" b="0">
                <a:solidFill>
                  <a:srgbClr val="4A4F5C"/>
                </a:solidFill>
                <a:latin typeface="Manrope"/>
              </a:rPr>
              <a:t>координатора та робочу групу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1">
              <a:lnSpc>
                <a:spcPct val="112000"/>
              </a:lnSpc>
            </a:pPr>
            <a:r>
              <a:rPr sz="1050" b="0">
                <a:solidFill>
                  <a:srgbClr val="4A4F5C"/>
                </a:solidFill>
                <a:latin typeface="Manrope"/>
              </a:rPr>
              <a:t>Посилання ESG-профілю громади</a:t>
            </a:r>
          </a:p>
        </p:txBody>
      </p:sp>
      <p:sp>
        <p:nvSpPr>
          <p:cNvPr id="322" name="Google Shape;322;p11"/>
          <p:cNvSpPr/>
          <p:nvPr/>
        </p:nvSpPr>
        <p:spPr>
          <a:xfrm>
            <a:off x="2667000" y="1512022"/>
            <a:ext cx="1828800" cy="2971078"/>
          </a:xfrm>
          <a:prstGeom prst="roundRect">
            <a:avLst>
              <a:gd fmla="val 3390" name="adj"/>
            </a:avLst>
          </a:prstGeom>
          <a:solidFill>
            <a:srgbClr val="FFFFFF"/>
          </a:solidFill>
          <a:ln>
            <a:noFill/>
          </a:ln>
          <a:effectLst>
            <a:outerShdw blurRad="96528" rotWithShape="0" algn="bl" dir="8100000" dist="24132">
              <a:srgbClr val="000000">
                <a:alpha val="5882"/>
              </a:srgbClr>
            </a:outerShdw>
          </a:effectLst>
        </p:spPr>
        <p:txBody>
          <a:bodyPr anchorCtr="0" anchor="ctr" bIns="86875" lIns="86875" spcFirstLastPara="1" rIns="86875" wrap="square" tIns="86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1"/>
          <p:cNvSpPr/>
          <p:nvPr/>
        </p:nvSpPr>
        <p:spPr>
          <a:xfrm>
            <a:off x="2870200" y="1664422"/>
            <a:ext cx="558800" cy="558800"/>
          </a:xfrm>
          <a:prstGeom prst="ellipse">
            <a:avLst/>
          </a:prstGeom>
          <a:solidFill>
            <a:srgbClr val="EDE8FD"/>
          </a:solidFill>
          <a:ln>
            <a:noFill/>
          </a:ln>
        </p:spPr>
        <p:txBody>
          <a:bodyPr anchorCtr="0" anchor="ctr" bIns="86875" lIns="86875" spcFirstLastPara="1" rIns="86875" wrap="square" tIns="86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4" name="Google Shape;324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946400" y="179142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11"/>
          <p:cNvSpPr/>
          <p:nvPr/>
        </p:nvSpPr>
        <p:spPr>
          <a:xfrm>
            <a:off x="4800600" y="2274022"/>
            <a:ext cx="1524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400" lIns="86875" spcFirstLastPara="1" rIns="86875" wrap="square" tIns="43400">
            <a:noAutofit/>
          </a:bodyPr>
          <a:lstStyle/>
          <a:p>
            <a:pPr indent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140"/>
              <a:buFont typeface="Unbounded"/>
              <a:buNone/>
            </a:pPr>
            <a:r>
              <a:rPr sz="1300" b="1">
                <a:solidFill>
                  <a:srgbClr val="6C4CEB"/>
                </a:solidFill>
                <a:latin typeface="Manrope"/>
              </a:rPr>
              <a:t>3. Передати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26" name="Google Shape;326;p11" hidden="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50394" y="2920935"/>
            <a:ext cx="173750" cy="17375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11"/>
          <p:cNvSpPr/>
          <p:nvPr/>
        </p:nvSpPr>
        <p:spPr>
          <a:xfrm>
            <a:off x="4800600" y="2756622"/>
            <a:ext cx="1524000" cy="47777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0" spcFirstLastPara="1" rIns="0" wrap="square" tIns="25400">
            <a:noAutofit/>
          </a:bodyPr>
          <a:lstStyle/>
          <a:p>
            <a:pPr indent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950"/>
              <a:buFont typeface="Manrope"/>
              <a:buNone/>
            </a:pPr>
            <a:r>
              <a:rPr sz="1050" b="0">
                <a:solidFill>
                  <a:srgbClr val="4A4F5C"/>
                </a:solidFill>
                <a:latin typeface="Manrope"/>
              </a:rPr>
              <a:t>перший пакет об'єктів для пілоту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28" name="Google Shape;328;p11" hidden="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50394" y="3268435"/>
            <a:ext cx="173750" cy="17375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11" hidden="1"/>
          <p:cNvSpPr/>
          <p:nvPr/>
        </p:nvSpPr>
        <p:spPr>
          <a:xfrm>
            <a:off x="3811019" y="3206272"/>
            <a:ext cx="19980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950"/>
              <a:buFont typeface="Manrope"/>
              <a:buNone/>
            </a:pPr>
            <a:r>
              <a:rPr b="0" i="0" lang="en-US" sz="950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Практичний досвід з реальними угодами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0" name="Google Shape;330;p11" hidden="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50394" y="3615936"/>
            <a:ext cx="173750" cy="17375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11" hidden="1"/>
          <p:cNvSpPr/>
          <p:nvPr/>
        </p:nvSpPr>
        <p:spPr>
          <a:xfrm>
            <a:off x="3811019" y="3541288"/>
            <a:ext cx="19980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950"/>
              <a:buFont typeface="Manrope"/>
              <a:buNone/>
            </a:pPr>
            <a:r>
              <a:rPr b="0" i="0" lang="en-US" sz="950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Гнучкий графік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2" name="Google Shape;332;p11" hidden="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50394" y="3963437"/>
            <a:ext cx="173750" cy="17375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11" hidden="1"/>
          <p:cNvSpPr/>
          <p:nvPr/>
        </p:nvSpPr>
        <p:spPr>
          <a:xfrm>
            <a:off x="3811019" y="3901273"/>
            <a:ext cx="19980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950"/>
              <a:buFont typeface="Manrope"/>
              <a:buNone/>
            </a:pPr>
            <a:r>
              <a:rPr b="0" i="0" lang="en-US" sz="950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Кадровий резерв для ринку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1"/>
          <p:cNvSpPr/>
          <p:nvPr/>
        </p:nvSpPr>
        <p:spPr>
          <a:xfrm>
            <a:off x="4648200" y="1512022"/>
            <a:ext cx="1828800" cy="2971078"/>
          </a:xfrm>
          <a:prstGeom prst="roundRect">
            <a:avLst>
              <a:gd fmla="val 3390" name="adj"/>
            </a:avLst>
          </a:prstGeom>
          <a:solidFill>
            <a:srgbClr val="FFFFFF"/>
          </a:solidFill>
          <a:ln>
            <a:noFill/>
          </a:ln>
          <a:effectLst>
            <a:outerShdw blurRad="96528" rotWithShape="0" algn="bl" dir="8100000" dist="24132">
              <a:srgbClr val="000000">
                <a:alpha val="5882"/>
              </a:srgbClr>
            </a:outerShdw>
          </a:effectLst>
        </p:spPr>
        <p:txBody>
          <a:bodyPr anchorCtr="0" anchor="ctr" bIns="86875" lIns="86875" spcFirstLastPara="1" rIns="86875" wrap="square" tIns="86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1"/>
          <p:cNvSpPr/>
          <p:nvPr/>
        </p:nvSpPr>
        <p:spPr>
          <a:xfrm>
            <a:off x="7112351" y="1748156"/>
            <a:ext cx="564600" cy="564600"/>
          </a:xfrm>
          <a:prstGeom prst="ellipse">
            <a:avLst/>
          </a:prstGeom>
          <a:solidFill>
            <a:srgbClr val="EDE8FD"/>
          </a:solidFill>
          <a:ln>
            <a:noFill/>
          </a:ln>
        </p:spPr>
        <p:txBody>
          <a:bodyPr anchorCtr="0" anchor="ctr" bIns="86875" lIns="86875" spcFirstLastPara="1" rIns="86875" wrap="square" tIns="86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6" name="Google Shape;336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927600" y="174062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11"/>
          <p:cNvSpPr/>
          <p:nvPr/>
        </p:nvSpPr>
        <p:spPr>
          <a:xfrm>
            <a:off x="6781800" y="2274022"/>
            <a:ext cx="1524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400" lIns="86875" spcFirstLastPara="1" rIns="86875" wrap="square" tIns="43400">
            <a:noAutofit/>
          </a:bodyPr>
          <a:lstStyle/>
          <a:p>
            <a:pPr indent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140"/>
              <a:buFont typeface="Unbounded"/>
              <a:buNone/>
            </a:pPr>
            <a:r>
              <a:rPr sz="1300" b="1">
                <a:solidFill>
                  <a:srgbClr val="6C4CEB"/>
                </a:solidFill>
                <a:latin typeface="Manrope"/>
              </a:rPr>
              <a:t>4. Підтвердити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8" name="Google Shape;338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908800" y="174062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11"/>
          <p:cNvSpPr/>
          <p:nvPr/>
        </p:nvSpPr>
        <p:spPr>
          <a:xfrm>
            <a:off x="6781800" y="2756622"/>
            <a:ext cx="1524000" cy="47777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0" spcFirstLastPara="1" rIns="0" wrap="square" tIns="25400">
            <a:noAutofit/>
          </a:bodyPr>
          <a:lstStyle/>
          <a:p>
            <a:pPr indent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950"/>
              <a:buFont typeface="Manrope"/>
              <a:buNone/>
            </a:pPr>
            <a:r>
              <a:rPr sz="1050" b="0">
                <a:solidFill>
                  <a:srgbClr val="4A4F5C"/>
                </a:solidFill>
                <a:latin typeface="Manrope"/>
              </a:rPr>
              <a:t>дату стартової робочої сесії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40" name="Google Shape;340;p11" hidden="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962" y="3268435"/>
            <a:ext cx="173750" cy="173750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11" hidden="1"/>
          <p:cNvSpPr/>
          <p:nvPr/>
        </p:nvSpPr>
        <p:spPr>
          <a:xfrm>
            <a:off x="6547587" y="3200029"/>
            <a:ext cx="19980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950"/>
              <a:buFont typeface="Manrope"/>
              <a:buNone/>
            </a:pPr>
            <a:r>
              <a:rPr b="0" i="0" lang="en-US" sz="950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Підтримка релокаційних програм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42" name="Google Shape;342;p11" hidden="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962" y="3615936"/>
            <a:ext cx="173750" cy="17375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11" hidden="1"/>
          <p:cNvSpPr/>
          <p:nvPr/>
        </p:nvSpPr>
        <p:spPr>
          <a:xfrm>
            <a:off x="6547587" y="3541288"/>
            <a:ext cx="19980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950"/>
              <a:buFont typeface="Manrope"/>
              <a:buNone/>
            </a:pPr>
            <a:r>
              <a:rPr b="0" i="0" lang="en-US" sz="950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Швидкий старт кар'єри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44" name="Google Shape;344;p11" hidden="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962" y="3963437"/>
            <a:ext cx="173750" cy="17375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11" hidden="1"/>
          <p:cNvSpPr/>
          <p:nvPr/>
        </p:nvSpPr>
        <p:spPr>
          <a:xfrm>
            <a:off x="6547587" y="3901273"/>
            <a:ext cx="19980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950"/>
              <a:buFont typeface="Manrope"/>
              <a:buNone/>
            </a:pPr>
            <a:r>
              <a:rPr b="0" i="0" lang="en-US" sz="950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Інтеграція через платформу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1"/>
          <p:cNvSpPr/>
          <p:nvPr/>
        </p:nvSpPr>
        <p:spPr>
          <a:xfrm>
            <a:off x="6629400" y="1512022"/>
            <a:ext cx="1828800" cy="2971078"/>
          </a:xfrm>
          <a:prstGeom prst="roundRect">
            <a:avLst>
              <a:gd fmla="val 3390" name="adj"/>
            </a:avLst>
          </a:prstGeom>
          <a:solidFill>
            <a:srgbClr val="FFFFFF"/>
          </a:solidFill>
          <a:ln>
            <a:noFill/>
          </a:ln>
          <a:effectLst>
            <a:outerShdw blurRad="96528" rotWithShape="0" algn="bl" dir="8100000" dist="24132">
              <a:srgbClr val="000000">
                <a:alpha val="5882"/>
              </a:srgbClr>
            </a:outerShdw>
          </a:effectLst>
        </p:spPr>
        <p:txBody>
          <a:bodyPr anchorCtr="0" anchor="ctr" bIns="86875" lIns="86875" spcFirstLastPara="1" rIns="86875" wrap="square" tIns="86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1"/>
          <p:cNvSpPr/>
          <p:nvPr/>
        </p:nvSpPr>
        <p:spPr>
          <a:xfrm>
            <a:off x="6629400" y="1512022"/>
            <a:ext cx="1828800" cy="2971078"/>
          </a:xfrm>
          <a:prstGeom prst="roundRect">
            <a:avLst>
              <a:gd fmla="val 3390" name="adj"/>
            </a:avLst>
          </a:prstGeom>
          <a:solidFill>
            <a:srgbClr val="FFFFFF"/>
          </a:solidFill>
          <a:ln>
            <a:noFill/>
          </a:ln>
          <a:effectLst>
            <a:outerShdw blurRad="96528" rotWithShape="0" algn="bl" dir="8100000" dist="24132">
              <a:srgbClr val="000000">
                <a:alpha val="5882"/>
              </a:srgbClr>
            </a:outerShdw>
          </a:effectLst>
        </p:spPr>
        <p:txBody>
          <a:bodyPr anchorCtr="0" anchor="ctr" bIns="86875" lIns="86875" spcFirstLastPara="1" rIns="86875" wrap="square" tIns="86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1"/>
          <p:cNvSpPr/>
          <p:nvPr/>
        </p:nvSpPr>
        <p:spPr>
          <a:xfrm>
            <a:off x="6629400" y="1512022"/>
            <a:ext cx="1828800" cy="2971078"/>
          </a:xfrm>
          <a:prstGeom prst="roundRect">
            <a:avLst>
              <a:gd fmla="val 3390" name="adj"/>
            </a:avLst>
          </a:prstGeom>
          <a:solidFill>
            <a:srgbClr val="FFFFFF"/>
          </a:solidFill>
          <a:ln>
            <a:noFill/>
          </a:ln>
          <a:effectLst>
            <a:outerShdw blurRad="96528" rotWithShape="0" algn="bl" dir="8100000" dist="24132">
              <a:srgbClr val="000000">
                <a:alpha val="5882"/>
              </a:srgbClr>
            </a:outerShdw>
          </a:effectLst>
        </p:spPr>
        <p:txBody>
          <a:bodyPr anchorCtr="0" anchor="ctr" bIns="86875" lIns="86875" spcFirstLastPara="1" rIns="86875" wrap="square" tIns="86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C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logo_banda.png" id="351" name="Google Shape;351;p1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305800" y="228600"/>
            <a:ext cx="482600" cy="48260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12"/>
          <p:cNvSpPr/>
          <p:nvPr/>
        </p:nvSpPr>
        <p:spPr>
          <a:xfrm>
            <a:off x="685800" y="355600"/>
            <a:ext cx="7772400" cy="5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marL="0" marR="0" rtl="0" algn="l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2600"/>
              <a:buFont typeface="Unbounded"/>
              <a:buNone/>
            </a:pPr>
            <a:r>
              <a:rPr sz="2600" b="1" i="0">
                <a:solidFill>
                  <a:srgbClr val="12141A"/>
                </a:solidFill>
                <a:latin typeface="Manrope"/>
              </a:rPr>
              <a:t>Екосистема учасників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2"/>
          <p:cNvSpPr/>
          <p:nvPr/>
        </p:nvSpPr>
        <p:spPr>
          <a:xfrm>
            <a:off x="3524250" y="1676400"/>
            <a:ext cx="2095500" cy="2095500"/>
          </a:xfrm>
          <a:prstGeom prst="ellipse">
            <a:avLst/>
          </a:prstGeom>
          <a:solidFill>
            <a:srgbClr val="4B30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logo_banda.png" id="354" name="Google Shape;354;p12"/>
          <p:cNvPicPr preferRelativeResize="0"/>
          <p:nvPr/>
        </p:nvPicPr>
        <p:blipFill rotWithShape="1">
          <a:blip r:embed="rId3">
            <a:alphaModFix/>
          </a:blip>
          <a:srcRect l="0" t="0" r="0" b="0"/>
          <a:stretch/>
        </p:blipFill>
        <p:spPr>
          <a:xfrm>
            <a:off x="3822700" y="2209800"/>
            <a:ext cx="1498600" cy="50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12"/>
          <p:cNvSpPr/>
          <p:nvPr/>
        </p:nvSpPr>
        <p:spPr>
          <a:xfrm>
            <a:off x="3524250" y="3162300"/>
            <a:ext cx="2095500" cy="330200"/>
          </a:xfrm>
          <a:prstGeom prst="rect">
            <a:avLst/>
          </a:prstGeom>
          <a:noFill/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marL="0" marR="0" rtl="0" algn="ctr">
              <a:spcBef>
                <a:spcPts val="0"/>
              </a:spcBef>
              <a:spcAft>
                <a:spcPts val="0"/>
              </a:spcAft>
              <a:buClr>
                <a:srgbClr val="8B6FF0"/>
              </a:buClr>
              <a:buSzPts val="1000"/>
              <a:buFont typeface="Manrope"/>
              <a:buNone/>
            </a:pPr>
            <a:r>
              <a:rPr sz="1300" b="1" i="0">
                <a:solidFill>
                  <a:srgbClr val="FFFFFF"/>
                </a:solidFill>
                <a:latin typeface="Manrope"/>
              </a:rPr>
              <a:t>Trust Layer</a:t>
            </a:r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2"/>
          <p:cNvSpPr/>
          <p:nvPr/>
        </p:nvSpPr>
        <p:spPr>
          <a:xfrm>
            <a:off x="685800" y="1752600"/>
            <a:ext cx="1917700" cy="812800"/>
          </a:xfrm>
          <a:prstGeom prst="roundRect">
            <a:avLst>
              <a:gd fmla="val 11111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7" name="Google Shape;357;p12"/>
          <p:cNvPicPr preferRelativeResize="0"/>
          <p:nvPr/>
        </p:nvPicPr>
        <p:blipFill rotWithShape="1">
          <a:blip r:embed="rId4">
            <a:alphaModFix/>
          </a:blip>
          <a:srcRect l="0" t="0" r="0" b="0"/>
          <a:stretch/>
        </p:blipFill>
        <p:spPr>
          <a:xfrm>
            <a:off x="812800" y="1981200"/>
            <a:ext cx="355600" cy="355600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12"/>
          <p:cNvSpPr/>
          <p:nvPr/>
        </p:nvSpPr>
        <p:spPr>
          <a:xfrm>
            <a:off x="1270000" y="2019300"/>
            <a:ext cx="1206500" cy="279400"/>
          </a:xfrm>
          <a:prstGeom prst="rect">
            <a:avLst/>
          </a:prstGeom>
          <a:noFill/>
        </p:spPr>
        <p:txBody>
          <a:bodyPr anchorCtr="0" anchor="ctr" bIns="0" lIns="0" spcFirstLastPara="1" rIns="0" wrap="square" tIns="0">
            <a:noAutofit/>
          </a:bodyPr>
          <a:lstStyle/>
          <a:p>
            <a:pPr indent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100"/>
              <a:buFont typeface="Manrope"/>
              <a:buNone/>
            </a:pPr>
            <a:r>
              <a:rPr sz="1150" b="1" i="0">
                <a:solidFill>
                  <a:srgbClr val="12141A"/>
                </a:solidFill>
                <a:latin typeface="Manrope"/>
              </a:rPr>
              <a:t>Агенти (пізніше)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2"/>
          <p:cNvSpPr/>
          <p:nvPr/>
        </p:nvSpPr>
        <p:spPr>
          <a:xfrm>
            <a:off x="685800" y="2317750"/>
            <a:ext cx="1917700" cy="812800"/>
          </a:xfrm>
          <a:prstGeom prst="roundRect">
            <a:avLst>
              <a:gd fmla="val 11111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0" name="Google Shape;360;p12"/>
          <p:cNvPicPr preferRelativeResize="0"/>
          <p:nvPr/>
        </p:nvPicPr>
        <p:blipFill rotWithShape="1">
          <a:blip r:embed="rId5">
            <a:alphaModFix/>
          </a:blip>
          <a:srcRect l="0" t="0" r="0" b="0"/>
          <a:stretch/>
        </p:blipFill>
        <p:spPr>
          <a:xfrm>
            <a:off x="812800" y="2546350"/>
            <a:ext cx="355600" cy="355600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12"/>
          <p:cNvSpPr/>
          <p:nvPr/>
        </p:nvSpPr>
        <p:spPr>
          <a:xfrm>
            <a:off x="1270000" y="2584450"/>
            <a:ext cx="1206500" cy="279400"/>
          </a:xfrm>
          <a:prstGeom prst="rect">
            <a:avLst/>
          </a:prstGeom>
          <a:noFill/>
        </p:spPr>
        <p:txBody>
          <a:bodyPr anchorCtr="0" anchor="ctr" bIns="0" lIns="0" spcFirstLastPara="1" rIns="0" wrap="square" tIns="0">
            <a:noAutofit/>
          </a:bodyPr>
          <a:lstStyle/>
          <a:p>
            <a:pPr indent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100"/>
              <a:buFont typeface="Manrope"/>
              <a:buNone/>
            </a:pPr>
            <a:r>
              <a:rPr sz="1150" b="1" i="0">
                <a:solidFill>
                  <a:srgbClr val="12141A"/>
                </a:solidFill>
                <a:latin typeface="Manrope"/>
              </a:rPr>
              <a:t>Муніципалітети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2"/>
          <p:cNvSpPr/>
          <p:nvPr/>
        </p:nvSpPr>
        <p:spPr>
          <a:xfrm>
            <a:off x="685800" y="2882900"/>
            <a:ext cx="1917700" cy="812800"/>
          </a:xfrm>
          <a:prstGeom prst="roundRect">
            <a:avLst>
              <a:gd fmla="val 11111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3" name="Google Shape;363;p12"/>
          <p:cNvPicPr preferRelativeResize="0"/>
          <p:nvPr/>
        </p:nvPicPr>
        <p:blipFill rotWithShape="1">
          <a:blip r:embed="rId6">
            <a:alphaModFix/>
          </a:blip>
          <a:srcRect l="0" t="0" r="0" b="0"/>
          <a:stretch/>
        </p:blipFill>
        <p:spPr>
          <a:xfrm>
            <a:off x="812800" y="3111500"/>
            <a:ext cx="355600" cy="355600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12"/>
          <p:cNvSpPr/>
          <p:nvPr/>
        </p:nvSpPr>
        <p:spPr>
          <a:xfrm>
            <a:off x="1270000" y="3149600"/>
            <a:ext cx="1206500" cy="279400"/>
          </a:xfrm>
          <a:prstGeom prst="rect">
            <a:avLst/>
          </a:prstGeom>
          <a:noFill/>
        </p:spPr>
        <p:txBody>
          <a:bodyPr anchorCtr="0" anchor="ctr" bIns="0" lIns="0" spcFirstLastPara="1" rIns="0" wrap="square" tIns="0">
            <a:noAutofit/>
          </a:bodyPr>
          <a:lstStyle/>
          <a:p>
            <a:pPr indent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100"/>
              <a:buFont typeface="Manrope"/>
              <a:buNone/>
            </a:pPr>
            <a:r>
              <a:rPr sz="1150" b="1" i="0">
                <a:solidFill>
                  <a:srgbClr val="12141A"/>
                </a:solidFill>
                <a:latin typeface="Manrope"/>
              </a:rPr>
              <a:t>Покупці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2"/>
          <p:cNvSpPr/>
          <p:nvPr/>
        </p:nvSpPr>
        <p:spPr>
          <a:xfrm>
            <a:off x="6540500" y="1752600"/>
            <a:ext cx="1917700" cy="812800"/>
          </a:xfrm>
          <a:prstGeom prst="roundRect">
            <a:avLst>
              <a:gd fmla="val 11111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6" name="Google Shape;366;p12"/>
          <p:cNvPicPr preferRelativeResize="0"/>
          <p:nvPr/>
        </p:nvPicPr>
        <p:blipFill rotWithShape="1">
          <a:blip r:embed="rId7">
            <a:alphaModFix/>
          </a:blip>
          <a:srcRect l="0" t="0" r="0" b="0"/>
          <a:stretch/>
        </p:blipFill>
        <p:spPr>
          <a:xfrm>
            <a:off x="6667500" y="1981200"/>
            <a:ext cx="355600" cy="355600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12"/>
          <p:cNvSpPr/>
          <p:nvPr/>
        </p:nvSpPr>
        <p:spPr>
          <a:xfrm>
            <a:off x="7124700" y="2019300"/>
            <a:ext cx="1206500" cy="279400"/>
          </a:xfrm>
          <a:prstGeom prst="rect">
            <a:avLst/>
          </a:prstGeom>
          <a:noFill/>
        </p:spPr>
        <p:txBody>
          <a:bodyPr anchorCtr="0" anchor="ctr" bIns="0" lIns="0" spcFirstLastPara="1" rIns="0" wrap="square" tIns="0">
            <a:noAutofit/>
          </a:bodyPr>
          <a:lstStyle/>
          <a:p>
            <a:pPr indent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100"/>
              <a:buFont typeface="Manrope"/>
              <a:buNone/>
            </a:pPr>
            <a:r>
              <a:rPr sz="1150" b="1" i="0">
                <a:solidFill>
                  <a:srgbClr val="12141A"/>
                </a:solidFill>
                <a:latin typeface="Manrope"/>
              </a:rPr>
              <a:t>Банки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2"/>
          <p:cNvSpPr/>
          <p:nvPr/>
        </p:nvSpPr>
        <p:spPr>
          <a:xfrm>
            <a:off x="6540500" y="2317750"/>
            <a:ext cx="1917700" cy="812800"/>
          </a:xfrm>
          <a:prstGeom prst="roundRect">
            <a:avLst>
              <a:gd fmla="val 11111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9" name="Google Shape;369;p12"/>
          <p:cNvPicPr preferRelativeResize="0"/>
          <p:nvPr/>
        </p:nvPicPr>
        <p:blipFill rotWithShape="1">
          <a:blip r:embed="rId8">
            <a:alphaModFix/>
          </a:blip>
          <a:srcRect l="0" t="0" r="0" b="0"/>
          <a:stretch/>
        </p:blipFill>
        <p:spPr>
          <a:xfrm>
            <a:off x="6667500" y="2546350"/>
            <a:ext cx="355600" cy="355600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12"/>
          <p:cNvSpPr/>
          <p:nvPr/>
        </p:nvSpPr>
        <p:spPr>
          <a:xfrm>
            <a:off x="7124700" y="2584450"/>
            <a:ext cx="1206500" cy="279400"/>
          </a:xfrm>
          <a:prstGeom prst="rect">
            <a:avLst/>
          </a:prstGeom>
          <a:noFill/>
        </p:spPr>
        <p:txBody>
          <a:bodyPr anchorCtr="0" anchor="ctr" bIns="0" lIns="0" spcFirstLastPara="1" rIns="0" wrap="square" tIns="0">
            <a:noAutofit/>
          </a:bodyPr>
          <a:lstStyle/>
          <a:p>
            <a:pPr indent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100"/>
              <a:buFont typeface="Manrope"/>
              <a:buNone/>
            </a:pPr>
            <a:r>
              <a:rPr sz="1150" b="1" i="0">
                <a:solidFill>
                  <a:srgbClr val="12141A"/>
                </a:solidFill>
                <a:latin typeface="Manrope"/>
              </a:rPr>
              <a:t>Девелопери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2"/>
          <p:cNvSpPr/>
          <p:nvPr/>
        </p:nvSpPr>
        <p:spPr>
          <a:xfrm>
            <a:off x="6540500" y="2882900"/>
            <a:ext cx="1917700" cy="812800"/>
          </a:xfrm>
          <a:prstGeom prst="roundRect">
            <a:avLst>
              <a:gd fmla="val 11111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2" name="Google Shape;372;p12"/>
          <p:cNvPicPr preferRelativeResize="0"/>
          <p:nvPr/>
        </p:nvPicPr>
        <p:blipFill rotWithShape="1">
          <a:blip r:embed="rId9">
            <a:alphaModFix/>
          </a:blip>
          <a:srcRect l="0" t="0" r="0" b="0"/>
          <a:stretch/>
        </p:blipFill>
        <p:spPr>
          <a:xfrm>
            <a:off x="6667500" y="3111500"/>
            <a:ext cx="355600" cy="355600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12"/>
          <p:cNvSpPr/>
          <p:nvPr/>
        </p:nvSpPr>
        <p:spPr>
          <a:xfrm>
            <a:off x="7124700" y="3149600"/>
            <a:ext cx="1206500" cy="279400"/>
          </a:xfrm>
          <a:prstGeom prst="rect">
            <a:avLst/>
          </a:prstGeom>
          <a:noFill/>
        </p:spPr>
        <p:txBody>
          <a:bodyPr anchorCtr="0" anchor="ctr" bIns="0" lIns="0" spcFirstLastPara="1" rIns="0" wrap="square" tIns="0">
            <a:noAutofit/>
          </a:bodyPr>
          <a:lstStyle/>
          <a:p>
            <a:pPr indent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100"/>
              <a:buFont typeface="Manrope"/>
              <a:buNone/>
            </a:pPr>
            <a:r>
              <a:rPr sz="1150" b="1" i="0">
                <a:solidFill>
                  <a:srgbClr val="12141A"/>
                </a:solidFill>
                <a:latin typeface="Manrope"/>
              </a:rPr>
              <a:t>Інвестори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C"/>
        </a:solid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logo_banda.png" id="379" name="Google Shape;379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05800" y="228600"/>
            <a:ext cx="482600" cy="482600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13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marL="0" marR="0" rtl="0" algn="l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2600"/>
              <a:buFont typeface="Unbounded"/>
              <a:buNone/>
            </a:pPr>
            <a:r>
              <a:rPr sz="2600" b="1" i="0">
                <a:solidFill>
                  <a:srgbClr val="12141A"/>
                </a:solidFill>
                <a:latin typeface="Manrope"/>
              </a:rPr>
              <a:t>Команда та довіра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3"/>
          <p:cNvSpPr/>
          <p:nvPr/>
        </p:nvSpPr>
        <p:spPr>
          <a:xfrm>
            <a:off x="640075" y="1087201"/>
            <a:ext cx="7925400" cy="3294300"/>
          </a:xfrm>
          <a:prstGeom prst="roundRect">
            <a:avLst>
              <a:gd fmla="val 2500" name="adj"/>
            </a:avLst>
          </a:prstGeom>
          <a:solidFill>
            <a:srgbClr val="FFFFFF"/>
          </a:solidFill>
          <a:ln>
            <a:noFill/>
          </a:ln>
          <a:effectLst>
            <a:outerShdw blurRad="97843" rotWithShape="0" algn="bl" dir="8100000" dist="24461">
              <a:srgbClr val="000000">
                <a:alpha val="5882"/>
              </a:srgbClr>
            </a:outerShdw>
          </a:effectLst>
        </p:spPr>
        <p:txBody>
          <a:bodyPr anchorCtr="0" anchor="ctr" bIns="88050" lIns="88050" spcFirstLastPara="1" rIns="88050" wrap="square" tIns="88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3"/>
          <p:cNvSpPr/>
          <p:nvPr/>
        </p:nvSpPr>
        <p:spPr>
          <a:xfrm>
            <a:off x="904250" y="1219299"/>
            <a:ext cx="7044600" cy="429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2119"/>
              <a:buFont typeface="Unbounded"/>
              <a:buNone/>
            </a:pPr>
            <a:r>
              <a:rPr sz="2118" b="1" i="0">
                <a:solidFill>
                  <a:srgbClr val="12141A"/>
                </a:solidFill>
                <a:latin typeface="Unbounded"/>
              </a:rPr>
              <a:t>Максим Калініченко</a:t>
            </a:r>
            <a:endParaRPr b="0" i="0" sz="211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3"/>
          <p:cNvSpPr/>
          <p:nvPr/>
        </p:nvSpPr>
        <p:spPr>
          <a:xfrm>
            <a:off x="904250" y="1703619"/>
            <a:ext cx="4402800" cy="3065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1348"/>
              <a:buFont typeface="Manrope"/>
              <a:buNone/>
            </a:pPr>
            <a:r>
              <a:rPr sz="1323" b="0" i="0">
                <a:solidFill>
                  <a:srgbClr val="6C4CEB"/>
                </a:solidFill>
                <a:latin typeface="Manrope"/>
              </a:rPr>
              <a:t>CEO  •  Eighty85 Ukraine SPV</a:t>
            </a:r>
            <a:endParaRPr b="0" i="0" sz="134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4" name="Google Shape;384;p13"/>
          <p:cNvCxnSpPr/>
          <p:nvPr/>
        </p:nvCxnSpPr>
        <p:spPr>
          <a:xfrm>
            <a:off x="904250" y="2143910"/>
            <a:ext cx="2641800" cy="0"/>
          </a:xfrm>
          <a:prstGeom prst="straightConnector1">
            <a:avLst/>
          </a:prstGeom>
          <a:noFill/>
          <a:ln cap="flat" cmpd="sng" w="12225">
            <a:solidFill>
              <a:srgbClr val="EDE8FD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preencoded.png" id="385" name="Google Shape;3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4250" y="2320026"/>
            <a:ext cx="176116" cy="176116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13"/>
          <p:cNvSpPr/>
          <p:nvPr/>
        </p:nvSpPr>
        <p:spPr>
          <a:xfrm>
            <a:off x="1168425" y="2275997"/>
            <a:ext cx="4402800" cy="2731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1107"/>
              <a:buFont typeface="Manrope"/>
              <a:buNone/>
            </a:pPr>
            <a:r>
              <a:rPr sz="1107" b="0" i="0">
                <a:solidFill>
                  <a:srgbClr val="292C33"/>
                </a:solidFill>
                <a:latin typeface="Manrope"/>
              </a:rPr>
              <a:t>Публічний амбасадор проєкту в Україні</a:t>
            </a:r>
            <a:endParaRPr b="0" i="0" sz="110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87" name="Google Shape;38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4250" y="2654647"/>
            <a:ext cx="176116" cy="176116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13"/>
          <p:cNvSpPr/>
          <p:nvPr/>
        </p:nvSpPr>
        <p:spPr>
          <a:xfrm>
            <a:off x="1168425" y="2610618"/>
            <a:ext cx="4402800" cy="2731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1107"/>
              <a:buFont typeface="Manrope"/>
              <a:buNone/>
            </a:pPr>
            <a:r>
              <a:rPr b="0" i="0" lang="en-US" sz="1107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Учасник чвертьфіналу ЧС-2006 (Німеччина)</a:t>
            </a:r>
            <a:endParaRPr b="0" i="0" sz="110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89" name="Google Shape;389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4250" y="2989268"/>
            <a:ext cx="176116" cy="176116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13"/>
          <p:cNvSpPr/>
          <p:nvPr/>
        </p:nvSpPr>
        <p:spPr>
          <a:xfrm>
            <a:off x="1168425" y="2945239"/>
            <a:ext cx="4402800" cy="2731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1107"/>
              <a:buFont typeface="Manrope"/>
              <a:buNone/>
            </a:pPr>
            <a:r>
              <a:rPr b="0" i="0" lang="en-US" sz="1107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47 матчів та 7 голів за збірну України</a:t>
            </a:r>
            <a:endParaRPr b="0" i="0" sz="110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91" name="Google Shape;391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4250" y="3323889"/>
            <a:ext cx="176116" cy="176116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13"/>
          <p:cNvSpPr/>
          <p:nvPr/>
        </p:nvSpPr>
        <p:spPr>
          <a:xfrm>
            <a:off x="1168425" y="3279859"/>
            <a:ext cx="4402800" cy="2731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1107"/>
              <a:buFont typeface="Manrope"/>
              <a:buNone/>
            </a:pPr>
            <a:r>
              <a:rPr b="0" i="0" lang="en-US" sz="1107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Нагороджений орденом «За мужність» III ступеня</a:t>
            </a:r>
            <a:endParaRPr b="0" i="0" sz="110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93" name="Google Shape;393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4250" y="3658509"/>
            <a:ext cx="176116" cy="176116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13"/>
          <p:cNvSpPr/>
          <p:nvPr/>
        </p:nvSpPr>
        <p:spPr>
          <a:xfrm>
            <a:off x="1168425" y="3614480"/>
            <a:ext cx="4402800" cy="2731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1107"/>
              <a:buFont typeface="Manrope"/>
              <a:buNone/>
            </a:pPr>
            <a:r>
              <a:rPr b="0" i="0" lang="en-US" sz="1107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Відкрита проукраїнська позиція з перших днів вторгнення</a:t>
            </a:r>
            <a:endParaRPr b="0" i="0" sz="110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95" name="Google Shape;39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4250" y="3993130"/>
            <a:ext cx="176116" cy="176116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13"/>
          <p:cNvSpPr/>
          <p:nvPr/>
        </p:nvSpPr>
        <p:spPr>
          <a:xfrm>
            <a:off x="1168425" y="3949101"/>
            <a:ext cx="4402800" cy="2731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1107"/>
              <a:buFont typeface="Manrope"/>
              <a:buNone/>
            </a:pPr>
            <a:r>
              <a:rPr b="0" i="0" lang="en-US" sz="1107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Визнання та довіра мільйонів українців</a:t>
            </a:r>
            <a:endParaRPr b="0" i="0" sz="110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3"/>
          <p:cNvSpPr/>
          <p:nvPr/>
        </p:nvSpPr>
        <p:spPr>
          <a:xfrm>
            <a:off x="5747458" y="2320026"/>
            <a:ext cx="2641800" cy="1232700"/>
          </a:xfrm>
          <a:prstGeom prst="roundRect">
            <a:avLst>
              <a:gd fmla="val 5714" name="adj"/>
            </a:avLst>
          </a:prstGeom>
          <a:solidFill>
            <a:srgbClr val="EDE8FD"/>
          </a:solidFill>
          <a:ln>
            <a:noFill/>
          </a:ln>
        </p:spPr>
        <p:txBody>
          <a:bodyPr anchorCtr="0" anchor="ctr" bIns="88050" lIns="88050" spcFirstLastPara="1" rIns="88050" wrap="square" tIns="88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3"/>
          <p:cNvSpPr/>
          <p:nvPr/>
        </p:nvSpPr>
        <p:spPr>
          <a:xfrm>
            <a:off x="5879546" y="2364055"/>
            <a:ext cx="2377500" cy="6595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4000" lIns="88050" spcFirstLastPara="1" rIns="88050" wrap="square" tIns="44000">
            <a:noAutofit/>
          </a:bodyPr>
          <a:lstStyle/>
          <a:p>
            <a:pPr indent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4B30B9"/>
              </a:buClr>
              <a:buSzPts val="1011"/>
              <a:buFont typeface="Manrope"/>
              <a:buNone/>
            </a:pPr>
            <a:r>
              <a:rPr sz="1011" b="0" i="1">
                <a:solidFill>
                  <a:srgbClr val="4B30B9"/>
                </a:solidFill>
                <a:latin typeface="Manrope"/>
              </a:rPr>
              <a:t>Сильний публічний профіль посилює довіру до ініціативи на рівні регіону</a:t>
            </a:r>
            <a:endParaRPr b="0" i="0" sz="101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C"/>
        </a:solidFill>
      </p:bgPr>
    </p:bg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logo_banda.png" id="404" name="Google Shape;40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05800" y="228600"/>
            <a:ext cx="482600" cy="482600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14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marL="0" marR="0" rtl="0" algn="l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2600"/>
              <a:buFont typeface="Unbounded"/>
              <a:buNone/>
            </a:pPr>
            <a:r>
              <a:rPr sz="2600" b="1" i="0">
                <a:solidFill>
                  <a:srgbClr val="12141A"/>
                </a:solidFill>
                <a:latin typeface="Manrope"/>
              </a:rPr>
              <a:t>Стратегічний фокус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4"/>
          <p:cNvSpPr/>
          <p:nvPr/>
        </p:nvSpPr>
        <p:spPr>
          <a:xfrm>
            <a:off x="633000" y="1107787"/>
            <a:ext cx="7878000" cy="3238800"/>
          </a:xfrm>
          <a:prstGeom prst="roundRect">
            <a:avLst>
              <a:gd fmla="val 2703" name="adj"/>
            </a:avLst>
          </a:prstGeom>
          <a:solidFill>
            <a:srgbClr val="FFFFFF"/>
          </a:solidFill>
          <a:ln>
            <a:noFill/>
          </a:ln>
          <a:effectLst>
            <a:outerShdw blurRad="97261" rotWithShape="0" algn="bl" dir="8100000" dist="24315">
              <a:srgbClr val="000000">
                <a:alpha val="5882"/>
              </a:srgbClr>
            </a:outerShdw>
          </a:effectLst>
        </p:spPr>
        <p:txBody>
          <a:bodyPr anchorCtr="0" anchor="ctr" bIns="87525" lIns="87525" spcFirstLastPara="1" rIns="87525" wrap="square" tIns="87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40"/>
          </a:p>
        </p:txBody>
      </p:sp>
      <p:pic>
        <p:nvPicPr>
          <p:cNvPr descr="/home/claude/logo_banda.png" id="407" name="Google Shape;40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02809" y="1326623"/>
            <a:ext cx="2538500" cy="875345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14"/>
          <p:cNvSpPr/>
          <p:nvPr/>
        </p:nvSpPr>
        <p:spPr>
          <a:xfrm>
            <a:off x="1070674" y="2377037"/>
            <a:ext cx="7002900" cy="3818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3750" lIns="87525" spcFirstLastPara="1" rIns="87525" wrap="square" tIns="43750">
            <a:noAutofit/>
          </a:bodyPr>
          <a:lstStyle/>
          <a:p>
            <a:pPr indent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1244"/>
              <a:buFont typeface="Manrope"/>
              <a:buNone/>
            </a:pPr>
            <a:r>
              <a:rPr sz="1244" b="0" i="0">
                <a:solidFill>
                  <a:srgbClr val="292C33"/>
                </a:solidFill>
                <a:latin typeface="Manrope"/>
              </a:rPr>
              <a:t>Найближчий пріоритет - громади: MOU, об'єкти, демо-платформа.</a:t>
            </a:r>
            <a:endParaRPr b="0" i="0" sz="124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4"/>
          <p:cNvSpPr/>
          <p:nvPr/>
        </p:nvSpPr>
        <p:spPr>
          <a:xfrm>
            <a:off x="1245743" y="2902243"/>
            <a:ext cx="6652500" cy="5448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3750" lIns="87525" spcFirstLastPara="1" rIns="87525" wrap="square" tIns="43750">
            <a:noAutofit/>
          </a:bodyPr>
          <a:lstStyle/>
          <a:p>
            <a:pPr indent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149"/>
              <a:buFont typeface="Manrope"/>
              <a:buNone/>
            </a:pPr>
            <a:r>
              <a:rPr sz="1148" b="0" i="0">
                <a:solidFill>
                  <a:srgbClr val="646870"/>
                </a:solidFill>
                <a:latin typeface="Manrope"/>
              </a:rPr>
              <a:t>Стратегія не скасовує банки, девелоперів і RWA, але запуск з муніципалітетами - перший крок зараз.</a:t>
            </a:r>
            <a:endParaRPr b="0" i="0" sz="114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C"/>
        </a:solid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logo_banda.png" id="415" name="Google Shape;41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05800" y="-88900"/>
            <a:ext cx="482600" cy="482600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15"/>
          <p:cNvSpPr/>
          <p:nvPr/>
        </p:nvSpPr>
        <p:spPr>
          <a:xfrm>
            <a:off x="685800" y="119126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2600"/>
              <a:buFont typeface="Unbounded"/>
              <a:buNone/>
            </a:pPr>
            <a:r>
              <a:rPr sz="2600" b="1" i="0">
                <a:solidFill>
                  <a:srgbClr val="12141A"/>
                </a:solidFill>
                <a:latin typeface="Manrope"/>
              </a:rPr>
              <a:t>Запустімо пілот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/>
            <a:r>
              <a:rPr sz="2600" b="1" i="0">
                <a:solidFill>
                  <a:srgbClr val="12141A"/>
                </a:solidFill>
                <a:latin typeface="Manrope"/>
              </a:rPr>
              <a:t>у вашій громаді</a:t>
            </a:r>
          </a:p>
        </p:txBody>
      </p:sp>
      <p:cxnSp>
        <p:nvCxnSpPr>
          <p:cNvPr id="417" name="Google Shape;417;p15"/>
          <p:cNvCxnSpPr/>
          <p:nvPr/>
        </p:nvCxnSpPr>
        <p:spPr>
          <a:xfrm>
            <a:off x="3200400" y="2288540"/>
            <a:ext cx="2743200" cy="0"/>
          </a:xfrm>
          <a:prstGeom prst="straightConnector1">
            <a:avLst/>
          </a:prstGeom>
          <a:noFill/>
          <a:ln cap="flat" cmpd="sng" w="19050">
            <a:solidFill>
              <a:srgbClr val="6C4C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8" name="Google Shape;418;p15"/>
          <p:cNvSpPr/>
          <p:nvPr/>
        </p:nvSpPr>
        <p:spPr>
          <a:xfrm>
            <a:off x="685800" y="2517140"/>
            <a:ext cx="7772400" cy="595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1300"/>
              <a:buFont typeface="Manrope"/>
              <a:buNone/>
            </a:pPr>
            <a:r>
              <a:rPr sz="1300" b="0" i="0">
                <a:solidFill>
                  <a:srgbClr val="6C4CEB"/>
                </a:solidFill>
                <a:latin typeface="Manrope"/>
              </a:rPr>
              <a:t>Eighty85 - це не витрати для муніципалітету.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>
              <a:lnSpc>
                <a:spcPct val="112000"/>
              </a:lnSpc>
            </a:pPr>
            <a:r>
              <a:rPr sz="1300" b="0" i="0">
                <a:solidFill>
                  <a:srgbClr val="6C4CEB"/>
                </a:solidFill>
                <a:latin typeface="Manrope"/>
              </a:rPr>
              <a:t>Це безкоштовний інструмент: прозорість, інвестиції, керований портфель об'єктів.</a:t>
            </a:r>
          </a:p>
        </p:txBody>
      </p:sp>
      <p:sp>
        <p:nvSpPr>
          <p:cNvPr id="419" name="Google Shape;419;p15"/>
          <p:cNvSpPr/>
          <p:nvPr/>
        </p:nvSpPr>
        <p:spPr>
          <a:xfrm>
            <a:off x="2286000" y="3431540"/>
            <a:ext cx="4572000" cy="1051560"/>
          </a:xfrm>
          <a:prstGeom prst="roundRect">
            <a:avLst>
              <a:gd fmla="val 8696" name="adj"/>
            </a:avLst>
          </a:prstGeom>
          <a:solidFill>
            <a:srgbClr val="4B30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5"/>
          <p:cNvSpPr/>
          <p:nvPr/>
        </p:nvSpPr>
        <p:spPr>
          <a:xfrm>
            <a:off x="2286000" y="3477260"/>
            <a:ext cx="4572000" cy="3634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Unbounded"/>
              <a:buNone/>
            </a:pPr>
            <a:r>
              <a:rPr sz="1100" b="1" i="0">
                <a:solidFill>
                  <a:srgbClr val="FFFFFF"/>
                </a:solidFill>
                <a:latin typeface="Unbounded"/>
              </a:rPr>
              <a:t>Наступний крок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5"/>
          <p:cNvSpPr/>
          <p:nvPr/>
        </p:nvSpPr>
        <p:spPr>
          <a:xfrm>
            <a:off x="2286000" y="384302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marL="0" marR="0" rtl="0" algn="ctr">
              <a:spcBef>
                <a:spcPts val="0"/>
              </a:spcBef>
              <a:spcAft>
                <a:spcPts val="0"/>
              </a:spcAft>
              <a:buClr>
                <a:srgbClr val="8B6FF0"/>
              </a:buClr>
              <a:buSzPts val="1100"/>
              <a:buFont typeface="Manrope"/>
              <a:buNone/>
            </a:pPr>
            <a:r>
              <a:rPr sz="700" b="0" i="0">
                <a:latin typeface="Manrope"/>
              </a:rPr>
              <a:t>MOU  •  координатор  •  перші об'єкти</a:t>
            </a:r>
            <a:endParaRPr b="0" i="0" sz="1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5"/>
          <p:cNvSpPr/>
          <p:nvPr/>
        </p:nvSpPr>
        <p:spPr>
          <a:xfrm>
            <a:off x="2286000" y="411734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anrope"/>
              <a:buNone/>
            </a:pPr>
            <a:r>
              <a:rPr sz="700" b="0" i="0">
                <a:solidFill>
                  <a:srgbClr val="FFFFFF"/>
                </a:solidFill>
                <a:latin typeface="Manrope"/>
              </a:rPr>
              <a:t>HQ: UAE  •  SPV: Spain &amp; Ukraine  •  Seed Stage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descr="/home/claude/logo_banda.png" id="152" name="Google Shape;152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05800" y="228600"/>
            <a:ext cx="482600" cy="482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6"/>
          <p:cNvSpPr/>
          <p:nvPr/>
        </p:nvSpPr>
        <p:spPr>
          <a:xfrm>
            <a:off x="685800" y="355600"/>
            <a:ext cx="7772400" cy="5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2600"/>
              <a:buFont typeface="Unbounded"/>
              <a:buNone/>
            </a:pPr>
            <a:r>
              <a:rPr sz="2600" b="1" i="0">
                <a:solidFill>
                  <a:srgbClr val="12141A"/>
                </a:solidFill>
                <a:latin typeface="Unbounded"/>
              </a:rPr>
              <a:t>Чому важливо діяти зараз?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685800" y="1512022"/>
            <a:ext cx="3822700" cy="952139"/>
          </a:xfrm>
          <a:prstGeom prst="roundRect">
            <a:avLst>
              <a:gd fmla="val 6897" name="adj"/>
            </a:avLst>
          </a:prstGeom>
          <a:solidFill>
            <a:srgbClr val="FFFFFF"/>
          </a:solidFill>
          <a:ln>
            <a:noFill/>
          </a:ln>
          <a:effectLst>
            <a:outerShdw blurRad="97182" rotWithShape="0" algn="bl" dir="8100000" dist="24296">
              <a:srgbClr val="000000">
                <a:alpha val="5882"/>
              </a:srgbClr>
            </a:outerShdw>
          </a:effectLst>
        </p:spPr>
        <p:txBody>
          <a:bodyPr anchorCtr="0" anchor="ctr" bIns="87450" lIns="87450" spcFirstLastPara="1" rIns="87450" wrap="square" tIns="87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6"/>
          <p:cNvSpPr/>
          <p:nvPr/>
        </p:nvSpPr>
        <p:spPr>
          <a:xfrm>
            <a:off x="863600" y="1689822"/>
            <a:ext cx="508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non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2296"/>
              <a:buFont typeface="Unbounded"/>
              <a:buNone/>
            </a:pPr>
            <a:r>
              <a:rPr sz="2600" b="1">
                <a:solidFill>
                  <a:srgbClr val="6C4CEB"/>
                </a:solidFill>
                <a:latin typeface="Manrope"/>
              </a:rPr>
              <a:t>1</a:t>
            </a:r>
            <a:endParaRPr b="0" i="0" sz="229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1498600" y="1689822"/>
            <a:ext cx="2832100" cy="59397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76200" wrap="square" tIns="25400">
            <a:no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Clr>
                <a:srgbClr val="646870"/>
              </a:buClr>
              <a:buSzPts val="1004"/>
              <a:buFont typeface="Manrope"/>
              <a:buNone/>
            </a:pPr>
            <a:r>
              <a:rPr sz="950" b="1">
                <a:solidFill>
                  <a:srgbClr val="12141A"/>
                </a:solidFill>
                <a:latin typeface="Manrope"/>
              </a:rPr>
              <a:t>Інші громади вже оформують MOU</a:t>
            </a:r>
            <a:endParaRPr b="0" i="0" sz="100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lnSpc>
                <a:spcPct val="112000"/>
              </a:lnSpc>
            </a:pPr>
            <a:r>
              <a:rPr sz="950" b="0">
                <a:solidFill>
                  <a:srgbClr val="4A4F5C"/>
                </a:solidFill>
                <a:latin typeface="Manrope"/>
              </a:rPr>
              <a:t>Поки ви відкладаєте, сусідні території виводять активи в цифровий канал.</a:t>
            </a:r>
          </a:p>
        </p:txBody>
      </p:sp>
      <p:sp>
        <p:nvSpPr>
          <p:cNvPr id="157" name="Google Shape;157;p6"/>
          <p:cNvSpPr/>
          <p:nvPr/>
        </p:nvSpPr>
        <p:spPr>
          <a:xfrm>
            <a:off x="4635500" y="1512022"/>
            <a:ext cx="3822700" cy="952139"/>
          </a:xfrm>
          <a:prstGeom prst="roundRect">
            <a:avLst>
              <a:gd fmla="val 6897" name="adj"/>
            </a:avLst>
          </a:prstGeom>
          <a:solidFill>
            <a:srgbClr val="FFFFFF"/>
          </a:solidFill>
          <a:ln>
            <a:noFill/>
          </a:ln>
          <a:effectLst>
            <a:outerShdw blurRad="97182" rotWithShape="0" algn="bl" dir="8100000" dist="24296">
              <a:srgbClr val="000000">
                <a:alpha val="5882"/>
              </a:srgbClr>
            </a:outerShdw>
          </a:effectLst>
        </p:spPr>
        <p:txBody>
          <a:bodyPr anchorCtr="0" anchor="ctr" bIns="87450" lIns="87450" spcFirstLastPara="1" rIns="87450" wrap="square" tIns="87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"/>
          <p:cNvSpPr/>
          <p:nvPr/>
        </p:nvSpPr>
        <p:spPr>
          <a:xfrm>
            <a:off x="4813300" y="1689822"/>
            <a:ext cx="508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non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2296"/>
              <a:buFont typeface="Unbounded"/>
              <a:buNone/>
            </a:pPr>
            <a:r>
              <a:rPr sz="2600" b="1">
                <a:solidFill>
                  <a:srgbClr val="6C4CEB"/>
                </a:solidFill>
                <a:latin typeface="Manrope"/>
              </a:rPr>
              <a:t>2</a:t>
            </a:r>
            <a:endParaRPr b="0" i="0" sz="229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5448300" y="1689822"/>
            <a:ext cx="2832100" cy="59653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76200" wrap="square" tIns="2540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Clr>
                <a:srgbClr val="646870"/>
              </a:buClr>
              <a:buSzPts val="1004"/>
              <a:buFont typeface="Manrope"/>
              <a:buNone/>
            </a:pPr>
            <a:r>
              <a:rPr sz="950" b="1">
                <a:solidFill>
                  <a:srgbClr val="12141A"/>
                </a:solidFill>
                <a:latin typeface="Manrope"/>
              </a:rPr>
              <a:t>Прозорий реєстр - мета громади</a:t>
            </a:r>
            <a:endParaRPr b="0" i="0" sz="100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lnSpc>
                <a:spcPct val="118000"/>
              </a:lnSpc>
            </a:pPr>
            <a:r>
              <a:rPr sz="950" b="0">
                <a:solidFill>
                  <a:srgbClr val="4A4F5C"/>
                </a:solidFill>
                <a:latin typeface="Manrope"/>
              </a:rPr>
              <a:t>Залучити інвестиції в землю, будівлі й проєкти у форматі, зрозумілому раді та ринку.</a:t>
            </a:r>
          </a:p>
        </p:txBody>
      </p:sp>
      <p:sp>
        <p:nvSpPr>
          <p:cNvPr id="160" name="Google Shape;160;p6"/>
          <p:cNvSpPr/>
          <p:nvPr/>
        </p:nvSpPr>
        <p:spPr>
          <a:xfrm>
            <a:off x="685800" y="2591161"/>
            <a:ext cx="3822700" cy="952139"/>
          </a:xfrm>
          <a:prstGeom prst="roundRect">
            <a:avLst>
              <a:gd fmla="val 6897" name="adj"/>
            </a:avLst>
          </a:prstGeom>
          <a:solidFill>
            <a:srgbClr val="FFFFFF"/>
          </a:solidFill>
          <a:ln>
            <a:noFill/>
          </a:ln>
          <a:effectLst>
            <a:outerShdw blurRad="97182" rotWithShape="0" algn="bl" dir="8100000" dist="24296">
              <a:srgbClr val="000000">
                <a:alpha val="5882"/>
              </a:srgbClr>
            </a:outerShdw>
          </a:effectLst>
        </p:spPr>
        <p:txBody>
          <a:bodyPr anchorCtr="0" anchor="ctr" bIns="87450" lIns="87450" spcFirstLastPara="1" rIns="87450" wrap="square" tIns="87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"/>
          <p:cNvSpPr/>
          <p:nvPr/>
        </p:nvSpPr>
        <p:spPr>
          <a:xfrm>
            <a:off x="863600" y="2768961"/>
            <a:ext cx="508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non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2296"/>
              <a:buFont typeface="Unbounded"/>
              <a:buNone/>
            </a:pPr>
            <a:r>
              <a:rPr sz="2600" b="1">
                <a:solidFill>
                  <a:srgbClr val="6C4CEB"/>
                </a:solidFill>
                <a:latin typeface="Manrope"/>
              </a:rPr>
              <a:t>3</a:t>
            </a:r>
            <a:endParaRPr b="0" i="0" sz="229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1498600" y="2768961"/>
            <a:ext cx="2832100" cy="59397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76200" wrap="square" tIns="25400">
            <a:no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Clr>
                <a:srgbClr val="646870"/>
              </a:buClr>
              <a:buSzPts val="1004"/>
              <a:buFont typeface="Manrope"/>
              <a:buNone/>
            </a:pPr>
            <a:r>
              <a:rPr sz="950" b="1">
                <a:solidFill>
                  <a:srgbClr val="12141A"/>
                </a:solidFill>
                <a:latin typeface="Manrope"/>
              </a:rPr>
              <a:t>MOU + об'єкти + демо</a:t>
            </a:r>
            <a:endParaRPr b="0" i="0" sz="100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lnSpc>
                <a:spcPct val="112000"/>
              </a:lnSpc>
            </a:pPr>
            <a:r>
              <a:rPr sz="950" b="0">
                <a:solidFill>
                  <a:srgbClr val="4A4F5C"/>
                </a:solidFill>
                <a:latin typeface="Manrope"/>
              </a:rPr>
              <a:t>Доказова база для банків і інвесторів, а не лише презентація на столі.</a:t>
            </a:r>
          </a:p>
        </p:txBody>
      </p:sp>
      <p:sp>
        <p:nvSpPr>
          <p:cNvPr id="163" name="Google Shape;163;p6"/>
          <p:cNvSpPr/>
          <p:nvPr/>
        </p:nvSpPr>
        <p:spPr>
          <a:xfrm>
            <a:off x="4635500" y="2591161"/>
            <a:ext cx="3822700" cy="952139"/>
          </a:xfrm>
          <a:prstGeom prst="roundRect">
            <a:avLst>
              <a:gd fmla="val 6897" name="adj"/>
            </a:avLst>
          </a:prstGeom>
          <a:solidFill>
            <a:srgbClr val="FFFFFF"/>
          </a:solidFill>
          <a:ln>
            <a:noFill/>
          </a:ln>
          <a:effectLst>
            <a:outerShdw blurRad="97182" rotWithShape="0" algn="bl" dir="8100000" dist="24296">
              <a:srgbClr val="000000">
                <a:alpha val="5882"/>
              </a:srgbClr>
            </a:outerShdw>
          </a:effectLst>
        </p:spPr>
        <p:txBody>
          <a:bodyPr anchorCtr="0" anchor="ctr" bIns="87450" lIns="87450" spcFirstLastPara="1" rIns="87450" wrap="square" tIns="87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6"/>
          <p:cNvSpPr/>
          <p:nvPr/>
        </p:nvSpPr>
        <p:spPr>
          <a:xfrm>
            <a:off x="4813300" y="2768961"/>
            <a:ext cx="508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non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2296"/>
              <a:buFont typeface="Unbounded"/>
              <a:buNone/>
            </a:pPr>
            <a:r>
              <a:rPr sz="2600" b="1">
                <a:solidFill>
                  <a:srgbClr val="6C4CEB"/>
                </a:solidFill>
                <a:latin typeface="Manrope"/>
              </a:rPr>
              <a:t>4</a:t>
            </a:r>
            <a:endParaRPr b="0" i="0" sz="229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5448300" y="2768961"/>
            <a:ext cx="2832100" cy="59397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76200" wrap="square" tIns="25400">
            <a:no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Clr>
                <a:srgbClr val="646870"/>
              </a:buClr>
              <a:buSzPts val="1004"/>
              <a:buFont typeface="Manrope"/>
              <a:buNone/>
            </a:pPr>
            <a:r>
              <a:rPr sz="950" b="1">
                <a:solidFill>
                  <a:srgbClr val="12141A"/>
                </a:solidFill>
                <a:latin typeface="Manrope"/>
              </a:rPr>
              <a:t>Ціна відкладання</a:t>
            </a:r>
            <a:endParaRPr b="0" i="0" sz="100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lnSpc>
                <a:spcPct val="112000"/>
              </a:lnSpc>
            </a:pPr>
            <a:r>
              <a:rPr sz="950" b="0">
                <a:solidFill>
                  <a:srgbClr val="4A4F5C"/>
                </a:solidFill>
                <a:latin typeface="Manrope"/>
              </a:rPr>
              <a:t>Кожен місяць без каналу ускладнює залучення капіталу в проєкти території.</a:t>
            </a:r>
          </a:p>
        </p:txBody>
      </p:sp>
      <p:sp>
        <p:nvSpPr>
          <p:cNvPr id="166" name="Google Shape;166;p6"/>
          <p:cNvSpPr/>
          <p:nvPr/>
        </p:nvSpPr>
        <p:spPr>
          <a:xfrm>
            <a:off x="685800" y="3670300"/>
            <a:ext cx="7772400" cy="812800"/>
          </a:xfrm>
          <a:prstGeom prst="roundRect">
            <a:avLst>
              <a:gd fmla="val 4762" name="adj"/>
            </a:avLst>
          </a:prstGeom>
          <a:solidFill>
            <a:srgbClr val="FFFFFF"/>
          </a:solidFill>
          <a:ln>
            <a:noFill/>
          </a:ln>
          <a:effectLst>
            <a:outerShdw blurRad="99342" rotWithShape="0" algn="bl" dir="8100000" dist="24836">
              <a:srgbClr val="000000">
                <a:alpha val="5882"/>
              </a:srgbClr>
            </a:outerShdw>
          </a:effectLst>
        </p:spPr>
        <p:txBody>
          <a:bodyPr anchorCtr="0" anchor="ctr" bIns="89400" lIns="89400" spcFirstLastPara="1" rIns="89400" wrap="square" tIns="89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68"/>
          </a:p>
        </p:txBody>
      </p:sp>
      <p:pic>
        <p:nvPicPr>
          <p:cNvPr descr="preencoded.png" id="167" name="Google Shape;167;p6" hidden="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3595" y="2511561"/>
            <a:ext cx="312927" cy="312927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6"/>
          <p:cNvSpPr/>
          <p:nvPr/>
        </p:nvSpPr>
        <p:spPr>
          <a:xfrm>
            <a:off x="863600" y="3848100"/>
            <a:ext cx="508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non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271"/>
              <a:buFont typeface="Unbounded"/>
              <a:buNone/>
            </a:pPr>
            <a:r>
              <a:rPr sz="2600" b="1">
                <a:solidFill>
                  <a:srgbClr val="6C4CEB"/>
                </a:solidFill>
                <a:latin typeface="Manrope"/>
              </a:rPr>
              <a:t>5</a:t>
            </a:r>
            <a:endParaRPr b="0" i="0" sz="127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9" name="Google Shape;169;p6" hidden="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3003" y="2958600"/>
            <a:ext cx="178815" cy="17881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6"/>
          <p:cNvSpPr/>
          <p:nvPr/>
        </p:nvSpPr>
        <p:spPr>
          <a:xfrm>
            <a:off x="1498600" y="3848100"/>
            <a:ext cx="6781800" cy="4545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76200" wrap="square" tIns="254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Clr>
                <a:srgbClr val="292C33"/>
              </a:buClr>
              <a:buSzPts val="1076"/>
              <a:buFont typeface="Manrope"/>
              <a:buNone/>
            </a:pPr>
            <a:r>
              <a:rPr sz="975" b="1">
                <a:solidFill>
                  <a:srgbClr val="12141A"/>
                </a:solidFill>
                <a:latin typeface="Manrope"/>
              </a:rPr>
              <a:t>Пілот на реальних активах</a:t>
            </a:r>
            <a:endParaRPr b="0" i="0" sz="10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lnSpc>
                <a:spcPct val="112000"/>
              </a:lnSpc>
            </a:pPr>
            <a:r>
              <a:rPr sz="975" b="0">
                <a:solidFill>
                  <a:srgbClr val="4A4F5C"/>
                </a:solidFill>
                <a:latin typeface="Manrope"/>
              </a:rPr>
              <a:t>Рішення на об'єктах громади, а не на гіпотезах у таблицях.</a:t>
            </a:r>
          </a:p>
        </p:txBody>
      </p:sp>
      <p:pic>
        <p:nvPicPr>
          <p:cNvPr descr="preencoded.png" id="171" name="Google Shape;171;p6" hidden="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3003" y="3253646"/>
            <a:ext cx="178815" cy="17881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6" hidden="1"/>
          <p:cNvSpPr/>
          <p:nvPr/>
        </p:nvSpPr>
        <p:spPr>
          <a:xfrm>
            <a:off x="1221227" y="3226824"/>
            <a:ext cx="7152600" cy="26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1076"/>
              <a:buFont typeface="Manrope"/>
              <a:buNone/>
            </a:pPr>
            <a:r>
              <a:rPr b="0" i="0" lang="en-US" sz="1075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Середня ціна в Києві - $2 011/м² на первинному ринку</a:t>
            </a:r>
            <a:endParaRPr b="0" i="0" sz="10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3" name="Google Shape;173;p6" hidden="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3003" y="3548692"/>
            <a:ext cx="178815" cy="178815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6" hidden="1"/>
          <p:cNvSpPr/>
          <p:nvPr/>
        </p:nvSpPr>
        <p:spPr>
          <a:xfrm>
            <a:off x="1221227" y="3521870"/>
            <a:ext cx="7152600" cy="26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1076"/>
              <a:buFont typeface="Manrope"/>
              <a:buNone/>
            </a:pPr>
            <a:r>
              <a:rPr b="0" i="0" lang="en-US" sz="1075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Київ, Львів та Одеса - найбільша концентрація пропозицій (52%)</a:t>
            </a:r>
            <a:endParaRPr b="0" i="0" sz="10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5" name="Google Shape;175;p6" hidden="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3003" y="3843738"/>
            <a:ext cx="178815" cy="178815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6" hidden="1"/>
          <p:cNvSpPr/>
          <p:nvPr/>
        </p:nvSpPr>
        <p:spPr>
          <a:xfrm>
            <a:off x="1221227" y="3816915"/>
            <a:ext cx="7152600" cy="26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1076"/>
              <a:buFont typeface="Manrope"/>
              <a:buNone/>
            </a:pPr>
            <a:r>
              <a:rPr b="0" i="0" lang="en-US" sz="1075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Програма єОселя - ключовий драйвер іпотечного кредитування</a:t>
            </a:r>
            <a:endParaRPr b="0" i="0" sz="10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7" name="Google Shape;177;p6" hidden="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3003" y="4138783"/>
            <a:ext cx="178815" cy="178815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6" hidden="1"/>
          <p:cNvSpPr/>
          <p:nvPr/>
        </p:nvSpPr>
        <p:spPr>
          <a:xfrm>
            <a:off x="1221227" y="4111961"/>
            <a:ext cx="7152600" cy="26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1076"/>
              <a:buFont typeface="Manrope"/>
              <a:buNone/>
            </a:pPr>
            <a:r>
              <a:rPr b="0" i="0" lang="en-US" sz="1075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Ринок вже пройшов дно та поступово входить у фазу зростання</a:t>
            </a:r>
            <a:endParaRPr b="0" i="0" sz="10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TextBox 178"/>
          <p:cNvSpPr txBox="1"/>
          <p:nvPr/>
        </p:nvSpPr>
        <p:spPr>
          <a:xfrm>
            <a:off x="685800" y="990600"/>
            <a:ext cx="7772400" cy="394422"/>
          </a:xfrm>
          <a:prstGeom prst="rect">
            <a:avLst/>
          </a:prstGeom>
          <a:noFill/>
        </p:spPr>
        <p:txBody>
          <a:bodyPr wrap="square" anchor="ctr" lIns="91425" rIns="91425" tIns="45700" bIns="4570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4A4F5C"/>
                </a:solidFill>
                <a:latin typeface="Manrope"/>
              </a:rPr>
              <a:t>Поки громада відкладає, інші вже формують цифровий канал до капіталу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2026-03-19T21:13:48Z</dcterms:created>
  <dc:creator>BANDA</dc:creator>
</cp:coreProperties>
</file>