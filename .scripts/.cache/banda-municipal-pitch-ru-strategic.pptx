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5143500" cy="9144000"/>
  <p:embeddedFontLst>
    <p:embeddedFont>
      <p:font typeface="Manrope"/>
      <p:regular r:id="rId21"/>
      <p:bold r:id="rId22"/>
    </p:embeddedFont>
    <p:embeddedFont>
      <p:font typeface="Unbounded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403">
          <p15:clr>
            <a:srgbClr val="747775"/>
          </p15:clr>
        </p15:guide>
        <p15:guide id="2" pos="2880">
          <p15:clr>
            <a:srgbClr val="747775"/>
          </p15:clr>
        </p15:guide>
        <p15:guide id="3" orient="horz" pos="1783">
          <p15:clr>
            <a:srgbClr val="747775"/>
          </p15:clr>
        </p15:guide>
        <p15:guide id="4" orient="horz" pos="2002">
          <p15:clr>
            <a:srgbClr val="747775"/>
          </p15:clr>
        </p15:guide>
        <p15:guide id="5" orient="horz" pos="2220">
          <p15:clr>
            <a:srgbClr val="747775"/>
          </p15:clr>
        </p15:guide>
        <p15:guide id="6" orient="horz" pos="2453">
          <p15:clr>
            <a:srgbClr val="747775"/>
          </p15:clr>
        </p15:guide>
      </p15:sldGuideLst>
    </p:ext>
    <p:ext uri="GoogleSlidesCustomDataVersion2">
      <go:slidesCustomData xmlns:go="http://customooxmlschemas.google.com/" r:id="rId25" roundtripDataSignature="AMtx7mifvrfIwEMh1dex4yL6skTzXS2R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03"/>
        <p:guide pos="2880"/>
        <p:guide pos="1783" orient="horz"/>
        <p:guide pos="2002" orient="horz"/>
        <p:guide pos="2220" orient="horz"/>
        <p:guide pos="2453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font" Target="fonts/Manrope-regular.fntdata"/><Relationship Id="rId22" Type="http://schemas.openxmlformats.org/officeDocument/2006/relationships/font" Target="fonts/Manrope-bold.fntdata"/><Relationship Id="rId23" Type="http://schemas.openxmlformats.org/officeDocument/2006/relationships/font" Target="fonts/Unbounded-regular.fntdata"/><Relationship Id="rId24" Type="http://schemas.openxmlformats.org/officeDocument/2006/relationships/font" Target="fonts/Unbounded-bold.fntdata"/><Relationship Id="rId2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1" name="Google Shape;27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6" name="Google Shape;37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1" name="Google Shape;40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25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2.png"/><Relationship Id="rId6" Type="http://schemas.openxmlformats.org/officeDocument/2006/relationships/image" Target="../media/image14.png"/><Relationship Id="rId7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Relationship Id="rId4" Type="http://schemas.openxmlformats.org/officeDocument/2006/relationships/image" Target="../media/image73.png"/><Relationship Id="rId5" Type="http://schemas.openxmlformats.org/officeDocument/2006/relationships/image" Target="../media/image29.png"/><Relationship Id="rId6" Type="http://schemas.openxmlformats.org/officeDocument/2006/relationships/image" Target="../media/image44.png"/><Relationship Id="rId7" Type="http://schemas.openxmlformats.org/officeDocument/2006/relationships/image" Target="../media/image16.png"/><Relationship Id="rId8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jpg"/><Relationship Id="rId4" Type="http://schemas.openxmlformats.org/officeDocument/2006/relationships/image" Target="../media/image29.png"/><Relationship Id="rId5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jpg"/><Relationship Id="rId4" Type="http://schemas.openxmlformats.org/officeDocument/2006/relationships/image" Target="../media/image20.png"/><Relationship Id="rId5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jpg"/><Relationship Id="rId4" Type="http://schemas.openxmlformats.org/officeDocument/2006/relationships/image" Target="../media/image42.png"/><Relationship Id="rId5" Type="http://schemas.openxmlformats.org/officeDocument/2006/relationships/image" Target="../media/image3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64.png"/><Relationship Id="rId5" Type="http://schemas.openxmlformats.org/officeDocument/2006/relationships/image" Target="../media/image6.png"/><Relationship Id="rId6" Type="http://schemas.openxmlformats.org/officeDocument/2006/relationships/image" Target="../media/image23.png"/><Relationship Id="rId7" Type="http://schemas.openxmlformats.org/officeDocument/2006/relationships/image" Target="../media/image1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75.png"/><Relationship Id="rId8" Type="http://schemas.openxmlformats.org/officeDocument/2006/relationships/image" Target="../media/image61.png"/><Relationship Id="rId9" Type="http://schemas.openxmlformats.org/officeDocument/2006/relationships/image" Target="../media/image7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jp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457200"/>
            <a:ext cx="246888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1"/>
          <p:cNvSpPr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sz="2800" b="1" i="0">
                <a:solidFill>
                  <a:srgbClr val="12141A"/>
                </a:solidFill>
                <a:latin typeface="Unbounded"/>
              </a:rPr>
              <a:t>Инфраструктурная платформа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2800" b="1" i="0">
                <a:solidFill>
                  <a:srgbClr val="12141A"/>
                </a:solidFill>
                <a:latin typeface="Unbounded"/>
              </a:rPr>
              <a:t>для рынка недвижимости</a:t>
            </a:r>
          </a:p>
        </p:txBody>
      </p:sp>
      <p:sp>
        <p:nvSpPr>
          <p:cNvPr id="18" name="Google Shape;18;p1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sz="1400" b="0" i="0">
                <a:solidFill>
                  <a:srgbClr val="6C4CEB"/>
                </a:solidFill>
                <a:latin typeface="Manrope"/>
              </a:rPr>
              <a:t>Как цифровая инфраструктура помогает громаде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400" b="0" i="0">
                <a:solidFill>
                  <a:srgbClr val="6C4CEB"/>
                </a:solidFill>
                <a:latin typeface="Manrope"/>
              </a:rPr>
              <a:t>привлекать инвестиции и управлять объектами</a:t>
            </a:r>
          </a:p>
        </p:txBody>
      </p:sp>
      <p:cxnSp>
        <p:nvCxnSpPr>
          <p:cNvPr id="19" name="Google Shape;19;p1"/>
          <p:cNvCxnSpPr/>
          <p:nvPr/>
        </p:nvCxnSpPr>
        <p:spPr>
          <a:xfrm>
            <a:off x="3200400" y="3749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" name="Google Shape;20;p1"/>
          <p:cNvSpPr/>
          <p:nvPr/>
        </p:nvSpPr>
        <p:spPr>
          <a:xfrm>
            <a:off x="914400" y="39776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200"/>
              <a:buFont typeface="Manrope"/>
              <a:buNone/>
            </a:pPr>
            <a:r>
              <a:rPr sz="1200" b="0" i="0">
                <a:solidFill>
                  <a:srgbClr val="646870"/>
                </a:solidFill>
                <a:latin typeface="Manrope"/>
              </a:rPr>
              <a:t>Презентация для муниципалитетов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14400" y="4343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00"/>
              <a:buFont typeface="Manrope"/>
              <a:buNone/>
            </a:pPr>
            <a:r>
              <a:rPr sz="1200" b="1" i="0">
                <a:solidFill>
                  <a:srgbClr val="12141A"/>
                </a:solidFill>
                <a:latin typeface="Manrope"/>
              </a:rPr>
              <a:t>8085 / BANDA  •  Infrastructure-First PropTech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" name="Google Shape;2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4" y="4631428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640080" y="365760"/>
            <a:ext cx="7772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800"/>
              <a:buFont typeface="Unbounded"/>
              <a:buNone/>
            </a:pPr>
            <a:r>
              <a:rPr sz="2800" b="1" i="0">
                <a:solidFill>
                  <a:srgbClr val="12141A"/>
                </a:solidFill>
                <a:latin typeface="Unbounded"/>
              </a:rPr>
              <a:t>Рынок недвижимости работает фрагментарно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9144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Системные проблемы, которые мешают развитию громады и бюджету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400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" name="Google Shape;3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/>
          <p:nvPr/>
        </p:nvSpPr>
        <p:spPr>
          <a:xfrm>
            <a:off x="13258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12141A"/>
                </a:solidFill>
                <a:latin typeface="Unbounded"/>
              </a:rPr>
              <a:t>Низкое доверие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13258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646870"/>
                </a:solidFill>
                <a:latin typeface="Manrope"/>
              </a:rPr>
              <a:t>Данные по сделкам разрознены.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 b="0" i="0">
                <a:solidFill>
                  <a:srgbClr val="646870"/>
                </a:solidFill>
                <a:latin typeface="Manrope"/>
              </a:rPr>
              <a:t>Банки и инвесторы не видят прозрачный pipeline объектов.</a:t>
            </a:r>
          </a:p>
        </p:txBody>
      </p:sp>
      <p:sp>
        <p:nvSpPr>
          <p:cNvPr id="34" name="Google Shape;34;p2"/>
          <p:cNvSpPr/>
          <p:nvPr/>
        </p:nvSpPr>
        <p:spPr>
          <a:xfrm>
            <a:off x="4754880" y="150876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" name="Google Shape;35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7760" y="169164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2"/>
          <p:cNvSpPr/>
          <p:nvPr/>
        </p:nvSpPr>
        <p:spPr>
          <a:xfrm>
            <a:off x="5440680" y="164592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12141A"/>
                </a:solidFill>
                <a:latin typeface="Unbounded"/>
              </a:rPr>
              <a:t>Неликвидные активы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40680" y="196596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646870"/>
                </a:solidFill>
                <a:latin typeface="Manrope"/>
              </a:rPr>
              <a:t>Объекты громады долго не выходят в оборот.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 b="0" i="0">
                <a:solidFill>
                  <a:srgbClr val="646870"/>
                </a:solidFill>
                <a:latin typeface="Manrope"/>
              </a:rPr>
              <a:t>Инвестиционный интерес не конвертируется в сделки.</a:t>
            </a:r>
          </a:p>
        </p:txBody>
      </p:sp>
      <p:sp>
        <p:nvSpPr>
          <p:cNvPr id="38" name="Google Shape;38;p2"/>
          <p:cNvSpPr/>
          <p:nvPr/>
        </p:nvSpPr>
        <p:spPr>
          <a:xfrm>
            <a:off x="6400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9" name="Google Shape;39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229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2"/>
          <p:cNvSpPr/>
          <p:nvPr/>
        </p:nvSpPr>
        <p:spPr>
          <a:xfrm>
            <a:off x="13258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12141A"/>
                </a:solidFill>
                <a:latin typeface="Unbounded"/>
              </a:rPr>
              <a:t>Длинные циклы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3258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646870"/>
                </a:solidFill>
                <a:latin typeface="Manrope"/>
              </a:rPr>
              <a:t>Сделка занимает 45–90 дней.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 b="0" i="0">
                <a:solidFill>
                  <a:srgbClr val="646870"/>
                </a:solidFill>
                <a:latin typeface="Manrope"/>
              </a:rPr>
              <a:t>Ручные процессы, дубли документов, нет единого стандарта.</a:t>
            </a:r>
          </a:p>
        </p:txBody>
      </p:sp>
      <p:sp>
        <p:nvSpPr>
          <p:cNvPr id="42" name="Google Shape;42;p2"/>
          <p:cNvSpPr/>
          <p:nvPr/>
        </p:nvSpPr>
        <p:spPr>
          <a:xfrm>
            <a:off x="4754880" y="3063240"/>
            <a:ext cx="3749040" cy="1371600"/>
          </a:xfrm>
          <a:prstGeom prst="roundRect">
            <a:avLst>
              <a:gd fmla="val 6667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3" name="Google Shape;43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937760" y="324612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2"/>
          <p:cNvSpPr/>
          <p:nvPr/>
        </p:nvSpPr>
        <p:spPr>
          <a:xfrm>
            <a:off x="5440680" y="320040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300"/>
              <a:buFont typeface="Unbounded"/>
              <a:buNone/>
            </a:pPr>
            <a:r>
              <a:rPr sz="1300" b="1" i="0">
                <a:solidFill>
                  <a:srgbClr val="12141A"/>
                </a:solidFill>
                <a:latin typeface="Unbounded"/>
              </a:rPr>
              <a:t>Слабая витрина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5440680" y="3520440"/>
            <a:ext cx="28346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646870"/>
                </a:solidFill>
                <a:latin typeface="Manrope"/>
              </a:rPr>
              <a:t>Нет единого канала для инвесторов.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100" b="0" i="0">
                <a:solidFill>
                  <a:srgbClr val="646870"/>
                </a:solidFill>
                <a:latin typeface="Manrope"/>
              </a:rPr>
              <a:t>Сложно показать объекты громады в понятном формате.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51" name="Google Shape;5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2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claude/logo_banda.png" id="52" name="Google Shape;5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568" y="320040"/>
            <a:ext cx="1280160" cy="448056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3"/>
          <p:cNvSpPr/>
          <p:nvPr/>
        </p:nvSpPr>
        <p:spPr>
          <a:xfrm>
            <a:off x="638221" y="91440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Что такое 8085 / BANDA?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32109" y="147414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400"/>
              <a:buFont typeface="Manrope"/>
              <a:buNone/>
            </a:pPr>
            <a:r>
              <a:rPr sz="1400" b="0" i="1">
                <a:solidFill>
                  <a:srgbClr val="6C4CEB"/>
                </a:solidFill>
                <a:latin typeface="Manrope"/>
              </a:rPr>
              <a:t>Не маркетплейс. Не CRM. Инфраструктура доверия и сделок.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46443" y="2129645"/>
            <a:ext cx="50292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50"/>
              <a:buFont typeface="Manrope"/>
              <a:buNone/>
            </a:pPr>
            <a:r>
              <a:rPr sz="1250" b="0" i="0">
                <a:solidFill>
                  <a:srgbClr val="292C33"/>
                </a:solidFill>
                <a:latin typeface="Manrope"/>
              </a:rPr>
              <a:t>8085 — proptech-платформа, которая соединяет муниципалитеты, банки, девелоперов и инвесторов в единый цифровой контур: объекты, проверка, взаимодействие, сделка.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5760720" y="1463040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7" name="Google Shape;5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1527048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3"/>
          <p:cNvSpPr/>
          <p:nvPr/>
        </p:nvSpPr>
        <p:spPr>
          <a:xfrm>
            <a:off x="6217920" y="1463040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Бесплатный инструмент для громады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760720" y="1938528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0" name="Google Shape;6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002536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3"/>
          <p:cNvSpPr/>
          <p:nvPr/>
        </p:nvSpPr>
        <p:spPr>
          <a:xfrm>
            <a:off x="6217920" y="1938528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Прозрачность каждой сделки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5760720" y="2414016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3" name="Google Shape;6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478024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3"/>
          <p:cNvSpPr/>
          <p:nvPr/>
        </p:nvSpPr>
        <p:spPr>
          <a:xfrm>
            <a:off x="6217920" y="2414016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Верификация данных и KYC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5760720" y="2889504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2953512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3"/>
          <p:cNvSpPr/>
          <p:nvPr/>
        </p:nvSpPr>
        <p:spPr>
          <a:xfrm>
            <a:off x="6217920" y="2889504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Стандартизированные объекты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760720" y="3364992"/>
            <a:ext cx="3017520" cy="384048"/>
          </a:xfrm>
          <a:prstGeom prst="roundRect">
            <a:avLst>
              <a:gd fmla="val 11905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2160" y="3429000"/>
            <a:ext cx="256032" cy="256032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/>
          <p:nvPr/>
        </p:nvSpPr>
        <p:spPr>
          <a:xfrm>
            <a:off x="6217920" y="3364992"/>
            <a:ext cx="2468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0" i="0">
                <a:solidFill>
                  <a:srgbClr val="12141A"/>
                </a:solidFill>
                <a:latin typeface="Manrope"/>
              </a:rPr>
              <a:t>Доступ к инвестиционному спросу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39642" y="4053840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0"/>
              <a:buFont typeface="Manrope"/>
              <a:buNone/>
            </a:pPr>
            <a:r>
              <a:rPr sz="1000" b="0" i="0">
                <a:solidFill>
                  <a:srgbClr val="646870"/>
                </a:solidFill>
                <a:latin typeface="Manrope"/>
              </a:rPr>
              <a:t>HQ: UAE  •  SPV: Spain &amp; Ukraine  •  Seed Stage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77" name="Google Shape;7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8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Как это работает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3266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4 шага: от объекта громады до инвестиционного интереса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640025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74204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01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1176742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78011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4"/>
          <p:cNvSpPr/>
          <p:nvPr/>
        </p:nvSpPr>
        <p:spPr>
          <a:xfrm>
            <a:off x="774204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Паспорт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76" b="1" i="0">
                <a:solidFill>
                  <a:srgbClr val="12141A"/>
                </a:solidFill>
                <a:latin typeface="Unbounded"/>
              </a:rPr>
              <a:t>объекта</a:t>
            </a:r>
          </a:p>
        </p:txBody>
      </p:sp>
      <p:sp>
        <p:nvSpPr>
          <p:cNvPr id="85" name="Google Shape;85;p4"/>
          <p:cNvSpPr/>
          <p:nvPr/>
        </p:nvSpPr>
        <p:spPr>
          <a:xfrm>
            <a:off x="774204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978" b="0" i="0">
                <a:solidFill>
                  <a:srgbClr val="646870"/>
                </a:solidFill>
                <a:latin typeface="Manrope"/>
              </a:rPr>
              <a:t>Объект загружается в стандартизированном формате.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978" b="0" i="0">
                <a:solidFill>
                  <a:srgbClr val="646870"/>
                </a:solidFill>
                <a:latin typeface="Manrope"/>
              </a:rPr>
              <a:t>Создается цифровая карточка актива.</a:t>
            </a:r>
          </a:p>
        </p:txBody>
      </p:sp>
      <p:sp>
        <p:nvSpPr>
          <p:cNvPr id="86" name="Google Shape;86;p4"/>
          <p:cNvSpPr/>
          <p:nvPr/>
        </p:nvSpPr>
        <p:spPr>
          <a:xfrm>
            <a:off x="2563260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2742166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2876345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02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3278883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0" name="Google Shape;90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80152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4"/>
          <p:cNvSpPr/>
          <p:nvPr/>
        </p:nvSpPr>
        <p:spPr>
          <a:xfrm>
            <a:off x="2876345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Matching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76" b="1" i="0">
                <a:solidFill>
                  <a:srgbClr val="12141A"/>
                </a:solidFill>
                <a:latin typeface="Unbounded"/>
              </a:rPr>
              <a:t>инвестор-объект</a:t>
            </a:r>
          </a:p>
        </p:txBody>
      </p:sp>
      <p:sp>
        <p:nvSpPr>
          <p:cNvPr id="92" name="Google Shape;92;p4"/>
          <p:cNvSpPr/>
          <p:nvPr/>
        </p:nvSpPr>
        <p:spPr>
          <a:xfrm>
            <a:off x="2876345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978" b="0" i="0">
                <a:solidFill>
                  <a:srgbClr val="646870"/>
                </a:solidFill>
                <a:latin typeface="Manrope"/>
              </a:rPr>
              <a:t>Инвесторы видят объекты громады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978" b="0" i="0">
                <a:solidFill>
                  <a:srgbClr val="646870"/>
                </a:solidFill>
                <a:latin typeface="Manrope"/>
              </a:rPr>
              <a:t>и оставляют запросы на контакт.</a:t>
            </a:r>
          </a:p>
        </p:txBody>
      </p:sp>
      <p:sp>
        <p:nvSpPr>
          <p:cNvPr id="93" name="Google Shape;93;p4"/>
          <p:cNvSpPr/>
          <p:nvPr/>
        </p:nvSpPr>
        <p:spPr>
          <a:xfrm>
            <a:off x="4665401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4844307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4978486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03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381024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7" name="Google Shape;9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82293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4"/>
          <p:cNvSpPr/>
          <p:nvPr/>
        </p:nvSpPr>
        <p:spPr>
          <a:xfrm>
            <a:off x="4978486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Маршрутизация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4978486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978" b="0" i="0">
                <a:solidFill>
                  <a:srgbClr val="646870"/>
                </a:solidFill>
                <a:latin typeface="Manrope"/>
              </a:rPr>
              <a:t>Сопровождение переговоров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978" b="0" i="0">
                <a:solidFill>
                  <a:srgbClr val="646870"/>
                </a:solidFill>
                <a:latin typeface="Manrope"/>
              </a:rPr>
              <a:t>и подготовка к сделке.</a:t>
            </a:r>
          </a:p>
        </p:txBody>
      </p:sp>
      <p:sp>
        <p:nvSpPr>
          <p:cNvPr id="100" name="Google Shape;100;p4"/>
          <p:cNvSpPr/>
          <p:nvPr/>
        </p:nvSpPr>
        <p:spPr>
          <a:xfrm>
            <a:off x="6767542" y="1845369"/>
            <a:ext cx="17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700" lIns="89450" spcFirstLastPara="1" rIns="89450" wrap="square" tIns="44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565"/>
              <a:buFont typeface="Manrope"/>
              <a:buNone/>
            </a:pPr>
            <a:r>
              <a:rPr b="0" i="0" lang="en-US" sz="1565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15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6946448" y="1219200"/>
            <a:ext cx="1923300" cy="2594100"/>
          </a:xfrm>
          <a:prstGeom prst="roundRect">
            <a:avLst>
              <a:gd fmla="val 4651" name="adj"/>
            </a:avLst>
          </a:prstGeom>
          <a:solidFill>
            <a:srgbClr val="FFFFFF"/>
          </a:solidFill>
          <a:ln>
            <a:noFill/>
          </a:ln>
          <a:effectLst>
            <a:outerShdw blurRad="99392" rotWithShape="0" algn="bl" dir="8100000" dist="24848">
              <a:srgbClr val="000000">
                <a:alpha val="5882"/>
              </a:srgbClr>
            </a:outerShdw>
          </a:effectLst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7080627" y="1308653"/>
            <a:ext cx="536700" cy="31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70"/>
              <a:buFont typeface="Unbounded"/>
              <a:buNone/>
            </a:pPr>
            <a:r>
              <a:rPr b="1" i="0" lang="en-US" sz="1369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04</a:t>
            </a:r>
            <a:endParaRPr b="0" i="0" sz="136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7483165" y="1711190"/>
            <a:ext cx="804900" cy="80490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89450" lIns="89450" spcFirstLastPara="1" rIns="89450" wrap="square" tIns="89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684434" y="1912459"/>
            <a:ext cx="402538" cy="4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4"/>
          <p:cNvSpPr/>
          <p:nvPr/>
        </p:nvSpPr>
        <p:spPr>
          <a:xfrm>
            <a:off x="7080627" y="2650444"/>
            <a:ext cx="16548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076"/>
              <a:buFont typeface="Unbounded"/>
              <a:buNone/>
            </a:pPr>
            <a:r>
              <a:rPr sz="1076" b="1" i="0">
                <a:solidFill>
                  <a:srgbClr val="12141A"/>
                </a:solidFill>
                <a:latin typeface="Unbounded"/>
              </a:rPr>
              <a:t>Закрытие</a:t>
            </a:r>
            <a:endParaRPr b="0" i="0" sz="107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76" b="1" i="0">
                <a:solidFill>
                  <a:srgbClr val="12141A"/>
                </a:solidFill>
                <a:latin typeface="Unbounded"/>
              </a:rPr>
              <a:t>сделки</a:t>
            </a:r>
          </a:p>
        </p:txBody>
      </p:sp>
      <p:sp>
        <p:nvSpPr>
          <p:cNvPr id="106" name="Google Shape;106;p4"/>
          <p:cNvSpPr/>
          <p:nvPr/>
        </p:nvSpPr>
        <p:spPr>
          <a:xfrm>
            <a:off x="7080627" y="3142434"/>
            <a:ext cx="1654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8"/>
              <a:buFont typeface="Manrope"/>
              <a:buNone/>
            </a:pPr>
            <a:r>
              <a:rPr sz="978" b="0" i="0">
                <a:solidFill>
                  <a:srgbClr val="646870"/>
                </a:solidFill>
                <a:latin typeface="Manrope"/>
              </a:rPr>
              <a:t>Фиксация статусов и прозрачный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978" b="0" i="0">
                <a:solidFill>
                  <a:srgbClr val="646870"/>
                </a:solidFill>
                <a:latin typeface="Manrope"/>
              </a:rPr>
              <a:t>контур для всех сторон.</a:t>
            </a:r>
          </a:p>
        </p:txBody>
      </p:sp>
      <p:sp>
        <p:nvSpPr>
          <p:cNvPr id="107" name="Google Shape;107;p4"/>
          <p:cNvSpPr/>
          <p:nvPr/>
        </p:nvSpPr>
        <p:spPr>
          <a:xfrm>
            <a:off x="640811" y="3977640"/>
            <a:ext cx="8229600" cy="502800"/>
          </a:xfrm>
          <a:prstGeom prst="roundRect">
            <a:avLst>
              <a:gd fmla="val 181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811" y="39776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Manrope"/>
              <a:buNone/>
            </a:pPr>
            <a:r>
              <a:rPr sz="1150" b="0" i="0">
                <a:solidFill>
                  <a:srgbClr val="FFFFFF"/>
                </a:solidFill>
                <a:latin typeface="Manrope"/>
              </a:rPr>
              <a:t>Громада → прозрачность  •  Банк → pipeline  •  Инвестор → доверие к данным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14" name="Google Shape;11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5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Ценность для муниципалитета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543859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Почему 8085 / BANDA — практический инструмент для вашей громады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4007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7422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9" name="Google Shape;119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600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5"/>
          <p:cNvSpPr/>
          <p:nvPr/>
        </p:nvSpPr>
        <p:spPr>
          <a:xfrm>
            <a:off x="135551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124" b="1" i="0">
                <a:solidFill>
                  <a:srgbClr val="12141A"/>
                </a:solidFill>
                <a:latin typeface="Unbounded"/>
              </a:rPr>
              <a:t>Прозрачность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7422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26" b="0" i="0">
                <a:solidFill>
                  <a:srgbClr val="646870"/>
                </a:solidFill>
                <a:latin typeface="Manrope"/>
              </a:rPr>
              <a:t>Единый цифровой стандарт объектов и статусов.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26" b="0" i="0">
                <a:solidFill>
                  <a:srgbClr val="646870"/>
                </a:solidFill>
                <a:latin typeface="Manrope"/>
              </a:rPr>
              <a:t>Контроль для администрации и депутатского корпуса.</a:t>
            </a:r>
          </a:p>
        </p:txBody>
      </p:sp>
      <p:sp>
        <p:nvSpPr>
          <p:cNvPr id="122" name="Google Shape;122;p5"/>
          <p:cNvSpPr/>
          <p:nvPr/>
        </p:nvSpPr>
        <p:spPr>
          <a:xfrm>
            <a:off x="3412420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3546566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4" name="Google Shape;12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658354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5"/>
          <p:cNvSpPr/>
          <p:nvPr/>
        </p:nvSpPr>
        <p:spPr>
          <a:xfrm>
            <a:off x="4127864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124" b="1" i="0">
                <a:solidFill>
                  <a:srgbClr val="12141A"/>
                </a:solidFill>
                <a:latin typeface="Unbounded"/>
              </a:rPr>
              <a:t>Инвестиции в регион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3546566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26" b="0" i="0">
                <a:solidFill>
                  <a:srgbClr val="646870"/>
                </a:solidFill>
                <a:latin typeface="Manrope"/>
              </a:rPr>
              <a:t>Витрина объектов для инвесторов.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26" b="0" i="0">
                <a:solidFill>
                  <a:srgbClr val="646870"/>
                </a:solidFill>
                <a:latin typeface="Manrope"/>
              </a:rPr>
              <a:t>Ускорение привлечения капитала в громаду.</a:t>
            </a:r>
          </a:p>
        </p:txBody>
      </p:sp>
      <p:sp>
        <p:nvSpPr>
          <p:cNvPr id="127" name="Google Shape;127;p5"/>
          <p:cNvSpPr/>
          <p:nvPr/>
        </p:nvSpPr>
        <p:spPr>
          <a:xfrm>
            <a:off x="6184765" y="1340389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6318911" y="1474535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29" name="Google Shape;12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30699" y="1586323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5"/>
          <p:cNvSpPr/>
          <p:nvPr/>
        </p:nvSpPr>
        <p:spPr>
          <a:xfrm>
            <a:off x="6900209" y="1474535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124" b="1" i="0">
                <a:solidFill>
                  <a:srgbClr val="12141A"/>
                </a:solidFill>
                <a:latin typeface="Unbounded"/>
              </a:rPr>
              <a:t>Рамочный MOU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6318911" y="1966402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26" b="0" i="0">
                <a:solidFill>
                  <a:srgbClr val="646870"/>
                </a:solidFill>
                <a:latin typeface="Manrope"/>
              </a:rPr>
              <a:t>Легкий меморандум без жестких обязательств.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26" b="0" i="0">
                <a:solidFill>
                  <a:srgbClr val="646870"/>
                </a:solidFill>
                <a:latin typeface="Manrope"/>
              </a:rPr>
              <a:t>Быстрый старт пилота.</a:t>
            </a:r>
          </a:p>
        </p:txBody>
      </p:sp>
      <p:sp>
        <p:nvSpPr>
          <p:cNvPr id="132" name="Google Shape;132;p5"/>
          <p:cNvSpPr/>
          <p:nvPr/>
        </p:nvSpPr>
        <p:spPr>
          <a:xfrm>
            <a:off x="64007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77422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4" name="Google Shape;134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8600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5"/>
          <p:cNvSpPr/>
          <p:nvPr/>
        </p:nvSpPr>
        <p:spPr>
          <a:xfrm>
            <a:off x="135551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124" b="1" i="0">
                <a:solidFill>
                  <a:srgbClr val="12141A"/>
                </a:solidFill>
                <a:latin typeface="Unbounded"/>
              </a:rPr>
              <a:t>Пилот 90 дней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77422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26" b="0" i="0">
                <a:solidFill>
                  <a:srgbClr val="646870"/>
                </a:solidFill>
                <a:latin typeface="Manrope"/>
              </a:rPr>
              <a:t>Понятные KPI: объекты, запросы,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26" b="0" i="0">
                <a:solidFill>
                  <a:srgbClr val="646870"/>
                </a:solidFill>
                <a:latin typeface="Manrope"/>
              </a:rPr>
              <a:t>переговоры, первые кейсы.</a:t>
            </a:r>
          </a:p>
        </p:txBody>
      </p:sp>
      <p:sp>
        <p:nvSpPr>
          <p:cNvPr id="137" name="Google Shape;137;p5"/>
          <p:cNvSpPr/>
          <p:nvPr/>
        </p:nvSpPr>
        <p:spPr>
          <a:xfrm>
            <a:off x="3412420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3546566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9" name="Google Shape;139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658354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5"/>
          <p:cNvSpPr/>
          <p:nvPr/>
        </p:nvSpPr>
        <p:spPr>
          <a:xfrm>
            <a:off x="4127864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124" b="1" i="0">
                <a:solidFill>
                  <a:srgbClr val="12141A"/>
                </a:solidFill>
                <a:latin typeface="Unbounded"/>
              </a:rPr>
              <a:t>Нулевая стоимость входа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3546566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26" b="0" i="0">
                <a:solidFill>
                  <a:srgbClr val="646870"/>
                </a:solidFill>
                <a:latin typeface="Manrope"/>
              </a:rPr>
              <a:t>Муниципалитет не платит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26" b="0" i="0">
                <a:solidFill>
                  <a:srgbClr val="646870"/>
                </a:solidFill>
                <a:latin typeface="Manrope"/>
              </a:rPr>
              <a:t>за пилотный доступ к платформе.</a:t>
            </a:r>
          </a:p>
        </p:txBody>
      </p:sp>
      <p:sp>
        <p:nvSpPr>
          <p:cNvPr id="142" name="Google Shape;142;p5"/>
          <p:cNvSpPr/>
          <p:nvPr/>
        </p:nvSpPr>
        <p:spPr>
          <a:xfrm>
            <a:off x="6184765" y="2994852"/>
            <a:ext cx="2593500" cy="14757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9367" rotWithShape="0" algn="bl" dir="8100000" dist="24842">
              <a:srgbClr val="000000">
                <a:alpha val="5882"/>
              </a:srgbClr>
            </a:outerShdw>
          </a:effectLst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318911" y="3128997"/>
            <a:ext cx="447300" cy="4473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9425" lIns="89425" spcFirstLastPara="1" rIns="89425" wrap="square" tIns="89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4" name="Google Shape;144;p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30699" y="3240785"/>
            <a:ext cx="223576" cy="223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6900209" y="3128997"/>
            <a:ext cx="17439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25"/>
              <a:buFont typeface="Unbounded"/>
              <a:buNone/>
            </a:pPr>
            <a:r>
              <a:rPr sz="1124" b="1" i="0">
                <a:solidFill>
                  <a:srgbClr val="12141A"/>
                </a:solidFill>
                <a:latin typeface="Unbounded"/>
              </a:rPr>
              <a:t>Эффект для бюджета</a:t>
            </a:r>
            <a:endParaRPr b="0" i="0" sz="112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6318911" y="3620864"/>
            <a:ext cx="2325300" cy="71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27"/>
              <a:buFont typeface="Manrope"/>
              <a:buNone/>
            </a:pPr>
            <a:r>
              <a:rPr sz="1026" b="0" i="0">
                <a:solidFill>
                  <a:srgbClr val="646870"/>
                </a:solidFill>
                <a:latin typeface="Manrope"/>
              </a:rPr>
              <a:t>Рост оборота объектов и</a:t>
            </a:r>
            <a:endParaRPr b="0" i="0" sz="102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026" b="0" i="0">
                <a:solidFill>
                  <a:srgbClr val="646870"/>
                </a:solidFill>
                <a:latin typeface="Manrope"/>
              </a:rPr>
              <a:t>потенциал дополнительных поступлений.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0207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Контекст рынка Украины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640075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640075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$550B+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640075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Обсяг ринку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2695469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2695469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19%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695469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Зростання цін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на квартири 2025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4750863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750863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1 500+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4750863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Житлових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комплексів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6806257" y="975350"/>
            <a:ext cx="1880400" cy="12684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  <a:effectLst>
            <a:outerShdw blurRad="97182" rotWithShape="0" algn="bl" dir="8100000" dist="24296">
              <a:srgbClr val="000000">
                <a:alpha val="5882"/>
              </a:srgbClr>
            </a:outerShdw>
          </a:effectLst>
        </p:spPr>
        <p:txBody>
          <a:bodyPr anchorCtr="0" anchor="ctr" bIns="87450" lIns="87450" spcFirstLastPara="1" rIns="87450" wrap="square" tIns="874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6806257" y="1062815"/>
            <a:ext cx="18804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296"/>
              <a:buFont typeface="Unbounded"/>
              <a:buNone/>
            </a:pPr>
            <a:r>
              <a:rPr b="1" i="0" lang="en-US" sz="2295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222 000</a:t>
            </a:r>
            <a:endParaRPr b="0" i="0" sz="229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6806257" y="1631337"/>
            <a:ext cx="1880400" cy="48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00" lIns="87450" spcFirstLastPara="1" rIns="87450" wrap="square" tIns="43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Нових квартир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004"/>
              <a:buFont typeface="Manrope"/>
              <a:buNone/>
            </a:pPr>
            <a:r>
              <a:rPr b="0" i="0" lang="en-US" sz="1004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здано з 2022</a:t>
            </a:r>
            <a:endParaRPr b="0" i="0" sz="100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640075" y="2377450"/>
            <a:ext cx="8046600" cy="2044800"/>
          </a:xfrm>
          <a:prstGeom prst="roundRect">
            <a:avLst>
              <a:gd fmla="val 4762" name="adj"/>
            </a:avLst>
          </a:prstGeom>
          <a:solidFill>
            <a:srgbClr val="FFFFFF"/>
          </a:solidFill>
          <a:ln>
            <a:noFill/>
          </a:ln>
          <a:effectLst>
            <a:outerShdw blurRad="99342" rotWithShape="0" algn="bl" dir="8100000" dist="24836">
              <a:srgbClr val="000000">
                <a:alpha val="5882"/>
              </a:srgbClr>
            </a:outerShdw>
          </a:effectLst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68"/>
          </a:p>
        </p:txBody>
      </p:sp>
      <p:pic>
        <p:nvPicPr>
          <p:cNvPr descr="preencoded.png" id="167" name="Google Shape;16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595" y="2511561"/>
            <a:ext cx="312927" cy="31292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/>
          <p:nvPr/>
        </p:nvSpPr>
        <p:spPr>
          <a:xfrm>
            <a:off x="1265931" y="2511561"/>
            <a:ext cx="35763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71"/>
              <a:buFont typeface="Unbounded"/>
              <a:buNone/>
            </a:pPr>
            <a:r>
              <a:rPr sz="1271" b="1" i="0">
                <a:solidFill>
                  <a:srgbClr val="12141A"/>
                </a:solidFill>
                <a:latin typeface="Unbounded"/>
              </a:rPr>
              <a:t>Почему важно действовать сейчас</a:t>
            </a:r>
            <a:endParaRPr b="0" i="0" sz="12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2958600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6"/>
          <p:cNvSpPr/>
          <p:nvPr/>
        </p:nvSpPr>
        <p:spPr>
          <a:xfrm>
            <a:off x="1221227" y="2931778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sz="1075" b="0" i="0">
                <a:solidFill>
                  <a:srgbClr val="292C33"/>
                </a:solidFill>
                <a:latin typeface="Manrope"/>
              </a:rPr>
              <a:t>Окно возможностей ограничено: конкуренты идут в municipal/B2G инфраструктуру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1" name="Google Shape;171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253646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6"/>
          <p:cNvSpPr/>
          <p:nvPr/>
        </p:nvSpPr>
        <p:spPr>
          <a:xfrm>
            <a:off x="1221227" y="3226824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sz="1075" b="0" i="0">
                <a:solidFill>
                  <a:srgbClr val="292C33"/>
                </a:solidFill>
                <a:latin typeface="Manrope"/>
              </a:rPr>
              <a:t>Громада, которая запускает витрину раньше, получает stronger negotiating position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3" name="Google Shape;173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548692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6"/>
          <p:cNvSpPr/>
          <p:nvPr/>
        </p:nvSpPr>
        <p:spPr>
          <a:xfrm>
            <a:off x="1221227" y="3521870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sz="1075" b="0" i="0">
                <a:solidFill>
                  <a:srgbClr val="292C33"/>
                </a:solidFill>
                <a:latin typeface="Manrope"/>
              </a:rPr>
              <a:t>MOU + объекты + demo flow = доказательная база для банков и инвесторов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5" name="Google Shape;17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3843738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6"/>
          <p:cNvSpPr/>
          <p:nvPr/>
        </p:nvSpPr>
        <p:spPr>
          <a:xfrm>
            <a:off x="1221227" y="3816915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sz="1075" b="0" i="0">
                <a:solidFill>
                  <a:srgbClr val="292C33"/>
                </a:solidFill>
                <a:latin typeface="Manrope"/>
              </a:rPr>
              <a:t>Отложенный старт повышает стоимость привлечения капитала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77" name="Google Shape;177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3003" y="4138783"/>
            <a:ext cx="178815" cy="178815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6"/>
          <p:cNvSpPr/>
          <p:nvPr/>
        </p:nvSpPr>
        <p:spPr>
          <a:xfrm>
            <a:off x="1221227" y="4111961"/>
            <a:ext cx="7152600" cy="26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76"/>
              <a:buFont typeface="Manrope"/>
              <a:buNone/>
            </a:pPr>
            <a:r>
              <a:rPr sz="1075" b="0" i="0">
                <a:solidFill>
                  <a:srgbClr val="292C33"/>
                </a:solidFill>
                <a:latin typeface="Manrope"/>
              </a:rPr>
              <a:t>Пилот дает решения на фактах, а не на гипотезах</a:t>
            </a:r>
            <a:endParaRPr b="0" i="0" sz="10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184" name="Google Shape;18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7"/>
          <p:cNvSpPr/>
          <p:nvPr/>
        </p:nvSpPr>
        <p:spPr>
          <a:xfrm>
            <a:off x="633838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Масштаб возможностей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7"/>
          <p:cNvSpPr/>
          <p:nvPr/>
        </p:nvSpPr>
        <p:spPr>
          <a:xfrm>
            <a:off x="551396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Инфраструктура, которая открывает громаде доступ к капиталу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7"/>
          <p:cNvSpPr/>
          <p:nvPr/>
        </p:nvSpPr>
        <p:spPr>
          <a:xfrm>
            <a:off x="64007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64007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$393T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>
            <a:off x="64007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Глобальний ринок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64007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Savills, 2025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380330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380330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$4.3T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3380330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Ринок транзакцій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нерухомості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3380330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Straits Research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6120585" y="1280150"/>
            <a:ext cx="2566200" cy="1479000"/>
          </a:xfrm>
          <a:prstGeom prst="roundRect">
            <a:avLst>
              <a:gd fmla="val 5882" name="adj"/>
            </a:avLst>
          </a:prstGeom>
          <a:solidFill>
            <a:srgbClr val="FFFFFF"/>
          </a:solidFill>
          <a:ln>
            <a:noFill/>
          </a:ln>
          <a:effectLst>
            <a:outerShdw blurRad="96658" rotWithShape="0" algn="bl" dir="8100000" dist="24165">
              <a:srgbClr val="000000">
                <a:alpha val="5882"/>
              </a:srgbClr>
            </a:outerShdw>
          </a:effectLst>
        </p:spPr>
        <p:txBody>
          <a:bodyPr anchorCtr="0" anchor="ctr" bIns="86975" lIns="86975" spcFirstLastPara="1" rIns="86975" wrap="square" tIns="869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6120585" y="1367143"/>
            <a:ext cx="2566200" cy="56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854"/>
              <a:buFont typeface="Unbounded"/>
              <a:buNone/>
            </a:pPr>
            <a:r>
              <a:rPr b="1" i="0" lang="en-US" sz="2854" u="none" cap="none" strike="noStrike">
                <a:solidFill>
                  <a:srgbClr val="6C4CEB"/>
                </a:solidFill>
                <a:latin typeface="Unbounded"/>
                <a:ea typeface="Unbounded"/>
                <a:cs typeface="Unbounded"/>
                <a:sym typeface="Unbounded"/>
              </a:rPr>
              <a:t>€580B</a:t>
            </a:r>
            <a:endParaRPr b="0" i="0" sz="285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6120585" y="1932600"/>
            <a:ext cx="25662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Європейський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47"/>
              <a:buFont typeface="Manrope"/>
              <a:buNone/>
            </a:pPr>
            <a:r>
              <a:rPr b="0" i="0" lang="en-US" sz="1046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транзакційний обсяг</a:t>
            </a:r>
            <a:endParaRPr b="0" i="0" sz="10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6120585" y="2411062"/>
            <a:ext cx="2566200" cy="26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75" lIns="86975" spcFirstLastPara="1" rIns="86975" wrap="square" tIns="43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856"/>
              <a:buFont typeface="Manrope"/>
              <a:buNone/>
            </a:pPr>
            <a:r>
              <a:rPr b="0" i="0" lang="en-US" sz="856" u="none" cap="none" strike="noStrike">
                <a:solidFill>
                  <a:srgbClr val="646870"/>
                </a:solidFill>
                <a:latin typeface="Manrope"/>
                <a:ea typeface="Manrope"/>
                <a:cs typeface="Manrope"/>
                <a:sym typeface="Manrope"/>
              </a:rPr>
              <a:t>Річний обіг</a:t>
            </a:r>
            <a:endParaRPr b="0" i="0" sz="85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640075" y="2923334"/>
            <a:ext cx="8046600" cy="1519800"/>
          </a:xfrm>
          <a:prstGeom prst="roundRect">
            <a:avLst>
              <a:gd fmla="val 5882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400" lIns="89400" spcFirstLastPara="1" rIns="89400" wrap="square" tIns="89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863595" y="3012742"/>
            <a:ext cx="71526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69"/>
              <a:buFont typeface="Unbounded"/>
              <a:buNone/>
            </a:pPr>
            <a:r>
              <a:rPr sz="1368" b="1" i="0">
                <a:solidFill>
                  <a:srgbClr val="FFFFFF"/>
                </a:solidFill>
                <a:latin typeface="Unbounded"/>
              </a:rPr>
              <a:t>Что это значит для муниципалитета</a:t>
            </a:r>
            <a:endParaRPr b="0" i="0" sz="136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63595" y="3415077"/>
            <a:ext cx="7599600" cy="8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Manrope"/>
              <a:buNone/>
            </a:pPr>
            <a:r>
              <a:rPr sz="1173" b="0" i="0">
                <a:solidFill>
                  <a:srgbClr val="FFFFFF"/>
                </a:solidFill>
                <a:latin typeface="Manrope"/>
              </a:rPr>
              <a:t>Громада получает не «еще одно приложение», а управляемый канал: объекты → интерес инвесторов → переговоры → сделки.</a:t>
            </a:r>
            <a:endParaRPr b="0" i="0" sz="117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07" name="Google Shape;20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600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8"/>
          <p:cNvSpPr/>
          <p:nvPr/>
        </p:nvSpPr>
        <p:spPr>
          <a:xfrm>
            <a:off x="627596" y="320040"/>
            <a:ext cx="82296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6C4CEB"/>
                </a:solidFill>
                <a:latin typeface="Unbounded"/>
              </a:rPr>
              <a:t>PPP и ко-инвестирование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Публично-частное партнерство через инфраструктуру доверия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007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FFFFFF"/>
          </a:solidFill>
          <a:ln>
            <a:noFill/>
          </a:ln>
          <a:effectLst>
            <a:outerShdw blurRad="96889" rotWithShape="0" algn="bl" dir="8100000" dist="24222">
              <a:srgbClr val="000000">
                <a:alpha val="5882"/>
              </a:srgbClr>
            </a:outerShdw>
          </a:effectLst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1" name="Google Shape;21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807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8"/>
          <p:cNvSpPr/>
          <p:nvPr/>
        </p:nvSpPr>
        <p:spPr>
          <a:xfrm>
            <a:off x="129407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240"/>
              <a:buFont typeface="Unbounded"/>
              <a:buNone/>
            </a:pPr>
            <a:r>
              <a:rPr sz="1239" b="1" i="0">
                <a:solidFill>
                  <a:srgbClr val="12141A"/>
                </a:solidFill>
                <a:latin typeface="Unbounded"/>
              </a:rPr>
              <a:t>Как работает цепочка через 8085 / BANDA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8"/>
          <p:cNvSpPr/>
          <p:nvPr/>
        </p:nvSpPr>
        <p:spPr>
          <a:xfrm>
            <a:off x="858076" y="2025602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"/>
          <p:cNvSpPr/>
          <p:nvPr/>
        </p:nvSpPr>
        <p:spPr>
          <a:xfrm>
            <a:off x="858076" y="2025602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1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8"/>
          <p:cNvSpPr/>
          <p:nvPr/>
        </p:nvSpPr>
        <p:spPr>
          <a:xfrm>
            <a:off x="1163276" y="1982001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Муниципалитет добавляет объекты редевелопмента и инвестиционные инициативы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8"/>
          <p:cNvSpPr/>
          <p:nvPr/>
        </p:nvSpPr>
        <p:spPr>
          <a:xfrm>
            <a:off x="858076" y="2461603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8"/>
          <p:cNvSpPr/>
          <p:nvPr/>
        </p:nvSpPr>
        <p:spPr>
          <a:xfrm>
            <a:off x="858076" y="2461603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2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8"/>
          <p:cNvSpPr/>
          <p:nvPr/>
        </p:nvSpPr>
        <p:spPr>
          <a:xfrm>
            <a:off x="1163276" y="2418003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Платформа стандартизирует данные и делает объекты инвестиционно понятными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8"/>
          <p:cNvSpPr/>
          <p:nvPr/>
        </p:nvSpPr>
        <p:spPr>
          <a:xfrm>
            <a:off x="858076" y="2897604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"/>
          <p:cNvSpPr/>
          <p:nvPr/>
        </p:nvSpPr>
        <p:spPr>
          <a:xfrm>
            <a:off x="858076" y="2897604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3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8"/>
          <p:cNvSpPr/>
          <p:nvPr/>
        </p:nvSpPr>
        <p:spPr>
          <a:xfrm>
            <a:off x="1163276" y="2854004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Инвесторы и девелоперы получают доступ к верифицированным объектам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/>
          <p:nvPr/>
        </p:nvSpPr>
        <p:spPr>
          <a:xfrm>
            <a:off x="858076" y="3333605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8"/>
          <p:cNvSpPr/>
          <p:nvPr/>
        </p:nvSpPr>
        <p:spPr>
          <a:xfrm>
            <a:off x="858076" y="3333605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4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8"/>
          <p:cNvSpPr/>
          <p:nvPr/>
        </p:nvSpPr>
        <p:spPr>
          <a:xfrm>
            <a:off x="1163276" y="3290005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После первых MOU и объектов открывается диалог с банками и министерствами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8"/>
          <p:cNvSpPr/>
          <p:nvPr/>
        </p:nvSpPr>
        <p:spPr>
          <a:xfrm>
            <a:off x="858076" y="3769606"/>
            <a:ext cx="218100" cy="218100"/>
          </a:xfrm>
          <a:prstGeom prst="ellipse">
            <a:avLst/>
          </a:prstGeom>
          <a:solidFill>
            <a:srgbClr val="6C4CEB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858076" y="3769606"/>
            <a:ext cx="218100" cy="2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575" lIns="87200" spcFirstLastPara="1" rIns="87200" wrap="square" tIns="43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8"/>
              <a:buFont typeface="Manrope"/>
              <a:buNone/>
            </a:pPr>
            <a:r>
              <a:rPr b="0" i="0" lang="en-US" sz="858" u="none" cap="none" strike="noStrike">
                <a:solidFill>
                  <a:srgbClr val="FFFFFF"/>
                </a:solidFill>
                <a:latin typeface="Manrope"/>
                <a:ea typeface="Manrope"/>
                <a:cs typeface="Manrope"/>
                <a:sym typeface="Manrope"/>
              </a:rPr>
              <a:t>5</a:t>
            </a:r>
            <a:endParaRPr b="0" i="0" sz="85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1163276" y="3726006"/>
            <a:ext cx="30519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292C33"/>
                </a:solidFill>
                <a:latin typeface="Manrope"/>
              </a:rPr>
              <a:t>Прозрачный контур сделки снижает репутационные риски для громады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4694885" y="1371600"/>
            <a:ext cx="3793200" cy="3051900"/>
          </a:xfrm>
          <a:prstGeom prst="roundRect">
            <a:avLst>
              <a:gd fmla="val 2857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7200" lIns="87200" spcFirstLastPara="1" rIns="87200" wrap="square" tIns="87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12886" y="1502400"/>
            <a:ext cx="348801" cy="34880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8"/>
          <p:cNvSpPr/>
          <p:nvPr/>
        </p:nvSpPr>
        <p:spPr>
          <a:xfrm>
            <a:off x="5348887" y="1502400"/>
            <a:ext cx="2877600" cy="34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40"/>
              <a:buFont typeface="Unbounded"/>
              <a:buNone/>
            </a:pPr>
            <a:r>
              <a:rPr sz="1239" b="1" i="0">
                <a:solidFill>
                  <a:srgbClr val="FFFFFF"/>
                </a:solidFill>
                <a:latin typeface="Unbounded"/>
              </a:rPr>
              <a:t>Результат для громады</a:t>
            </a:r>
            <a:endParaRPr b="0" i="0" sz="12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8"/>
          <p:cNvSpPr/>
          <p:nvPr/>
        </p:nvSpPr>
        <p:spPr>
          <a:xfrm>
            <a:off x="4912886" y="2025602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Залучення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8"/>
          <p:cNvSpPr/>
          <p:nvPr/>
        </p:nvSpPr>
        <p:spPr>
          <a:xfrm>
            <a:off x="6323249" y="2025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иноземных и локальных инвестиций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4912886" y="2461603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Прозорість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8"/>
          <p:cNvSpPr/>
          <p:nvPr/>
        </p:nvSpPr>
        <p:spPr>
          <a:xfrm>
            <a:off x="6323249" y="2461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каждой транзакции для администрации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8"/>
          <p:cNvSpPr/>
          <p:nvPr/>
        </p:nvSpPr>
        <p:spPr>
          <a:xfrm>
            <a:off x="4912886" y="2897604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Реінвестування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6323249" y="2897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эффекта внутри громады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912886" y="3333605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Ефективність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323249" y="3333600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цикла от запроса до переговоров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4912886" y="3769606"/>
            <a:ext cx="13080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1"/>
              <a:buFont typeface="Unbounded"/>
              <a:buNone/>
            </a:pPr>
            <a:r>
              <a:rPr b="1" i="0" lang="en-US" sz="1001" u="none" cap="none" strike="noStrike">
                <a:solidFill>
                  <a:schemeClr val="lt1"/>
                </a:solidFill>
                <a:latin typeface="Unbounded"/>
                <a:ea typeface="Unbounded"/>
                <a:cs typeface="Unbounded"/>
                <a:sym typeface="Unbounded"/>
              </a:rPr>
              <a:t>Зростання</a:t>
            </a:r>
            <a:endParaRPr b="0" i="0" sz="1001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/>
          <p:nvPr/>
        </p:nvSpPr>
        <p:spPr>
          <a:xfrm>
            <a:off x="6323249" y="3769601"/>
            <a:ext cx="1990500" cy="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1"/>
              <a:buFont typeface="Manrope"/>
              <a:buNone/>
            </a:pPr>
            <a:r>
              <a:rPr sz="1001" b="0" i="0">
                <a:solidFill>
                  <a:srgbClr val="FFFFFF"/>
                </a:solidFill>
                <a:latin typeface="Manrope"/>
              </a:rPr>
              <a:t>экономического развития региона</a:t>
            </a:r>
            <a:endParaRPr b="0" i="0" sz="100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46" name="Google Shape;24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6401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9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400"/>
              <a:buFont typeface="Unbounded"/>
              <a:buNone/>
            </a:pPr>
            <a:r>
              <a:rPr sz="2400" b="1" i="0">
                <a:solidFill>
                  <a:srgbClr val="12141A"/>
                </a:solidFill>
                <a:latin typeface="Unbounded"/>
              </a:rPr>
              <a:t>Привлечение инвестиций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545154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8085 / BANDA как канал инвестиций в громаду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9"/>
          <p:cNvSpPr/>
          <p:nvPr/>
        </p:nvSpPr>
        <p:spPr>
          <a:xfrm>
            <a:off x="640075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9"/>
          <p:cNvSpPr/>
          <p:nvPr/>
        </p:nvSpPr>
        <p:spPr>
          <a:xfrm>
            <a:off x="640075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sz="1172" b="1" i="0">
                <a:solidFill>
                  <a:srgbClr val="FFFFFF"/>
                </a:solidFill>
                <a:latin typeface="Unbounded"/>
              </a:rPr>
              <a:t>Муниципалитет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9"/>
          <p:cNvSpPr/>
          <p:nvPr/>
        </p:nvSpPr>
        <p:spPr>
          <a:xfrm>
            <a:off x="640075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sz="977" b="0" i="0">
                <a:latin typeface="Manrope"/>
              </a:rPr>
              <a:t>Объекты, земля, проекты PPP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9"/>
          <p:cNvSpPr/>
          <p:nvPr/>
        </p:nvSpPr>
        <p:spPr>
          <a:xfrm>
            <a:off x="3365614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9"/>
          <p:cNvSpPr/>
          <p:nvPr/>
        </p:nvSpPr>
        <p:spPr>
          <a:xfrm>
            <a:off x="3365614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sz="1172" b="1" i="0">
                <a:solidFill>
                  <a:srgbClr val="FFFFFF"/>
                </a:solidFill>
                <a:latin typeface="Unbounded"/>
              </a:rPr>
              <a:t>8085 / BANDA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9"/>
          <p:cNvSpPr/>
          <p:nvPr/>
        </p:nvSpPr>
        <p:spPr>
          <a:xfrm>
            <a:off x="3365614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sz="977" b="0" i="0">
                <a:latin typeface="Manrope"/>
              </a:rPr>
              <a:t>Верификация, стандартизация, витрина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9"/>
          <p:cNvSpPr/>
          <p:nvPr/>
        </p:nvSpPr>
        <p:spPr>
          <a:xfrm>
            <a:off x="6091153" y="1371600"/>
            <a:ext cx="2412900" cy="1072200"/>
          </a:xfrm>
          <a:prstGeom prst="roundRect">
            <a:avLst>
              <a:gd fmla="val 833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9350" lIns="89350" spcFirstLastPara="1" rIns="89350" wrap="square" tIns="893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"/>
          <p:cNvSpPr/>
          <p:nvPr/>
        </p:nvSpPr>
        <p:spPr>
          <a:xfrm>
            <a:off x="6091153" y="1416281"/>
            <a:ext cx="2412900" cy="40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3"/>
              <a:buFont typeface="Unbounded"/>
              <a:buNone/>
            </a:pPr>
            <a:r>
              <a:rPr sz="1172" b="1" i="0">
                <a:solidFill>
                  <a:srgbClr val="FFFFFF"/>
                </a:solidFill>
                <a:latin typeface="Unbounded"/>
              </a:rPr>
              <a:t>Инвесторы</a:t>
            </a:r>
            <a:endParaRPr b="0" i="0" sz="117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/>
          <p:nvPr/>
        </p:nvSpPr>
        <p:spPr>
          <a:xfrm>
            <a:off x="6091153" y="1818407"/>
            <a:ext cx="2412900" cy="491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977"/>
              <a:buFont typeface="Manrope"/>
              <a:buNone/>
            </a:pPr>
            <a:r>
              <a:rPr sz="977" b="0" i="0">
                <a:latin typeface="Manrope"/>
              </a:rPr>
              <a:t>Фонды, family office, стратегические партнеры</a:t>
            </a:r>
            <a:endParaRPr b="0" i="0" sz="977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2984184" y="1671512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9"/>
          <p:cNvSpPr/>
          <p:nvPr/>
        </p:nvSpPr>
        <p:spPr>
          <a:xfrm>
            <a:off x="5714670" y="1668923"/>
            <a:ext cx="312900" cy="4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650" lIns="89350" spcFirstLastPara="1" rIns="89350" wrap="square" tIns="446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150"/>
              <a:buFont typeface="Manrope"/>
              <a:buNone/>
            </a:pPr>
            <a:r>
              <a:rPr b="0" i="0" lang="en-US" sz="2150" u="none" cap="none" strike="noStrike">
                <a:solidFill>
                  <a:srgbClr val="6C4CEB"/>
                </a:solidFill>
                <a:latin typeface="Manrope"/>
                <a:ea typeface="Manrope"/>
                <a:cs typeface="Manrope"/>
                <a:sym typeface="Manrope"/>
              </a:rPr>
              <a:t>→</a:t>
            </a:r>
            <a:endParaRPr b="0" i="0" sz="2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9"/>
          <p:cNvSpPr/>
          <p:nvPr/>
        </p:nvSpPr>
        <p:spPr>
          <a:xfrm>
            <a:off x="648700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9"/>
          <p:cNvSpPr/>
          <p:nvPr/>
        </p:nvSpPr>
        <p:spPr>
          <a:xfrm>
            <a:off x="776085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sz="1114" b="1" i="0">
                <a:solidFill>
                  <a:srgbClr val="6C4CEB"/>
                </a:solidFill>
                <a:latin typeface="Unbounded"/>
              </a:rPr>
              <a:t>RWA-ready контур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9"/>
          <p:cNvSpPr/>
          <p:nvPr/>
        </p:nvSpPr>
        <p:spPr>
          <a:xfrm>
            <a:off x="776085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sz="975" b="0" i="0">
                <a:solidFill>
                  <a:srgbClr val="646870"/>
                </a:solidFill>
                <a:latin typeface="Manrope"/>
              </a:rPr>
              <a:t>Долгий трек tokenomics не блокирует municipal pilot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9"/>
          <p:cNvSpPr/>
          <p:nvPr/>
        </p:nvSpPr>
        <p:spPr>
          <a:xfrm>
            <a:off x="3323776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9"/>
          <p:cNvSpPr/>
          <p:nvPr/>
        </p:nvSpPr>
        <p:spPr>
          <a:xfrm>
            <a:off x="3451161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sz="1114" b="1" i="0">
                <a:solidFill>
                  <a:srgbClr val="6C4CEB"/>
                </a:solidFill>
                <a:latin typeface="Unbounded"/>
              </a:rPr>
              <a:t>Прозрачный процесс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3451161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sz="975" b="0" i="0">
                <a:solidFill>
                  <a:srgbClr val="646870"/>
                </a:solidFill>
                <a:latin typeface="Manrope"/>
              </a:rPr>
              <a:t>Понятные статусы и отчетность для громады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5998852" y="2743200"/>
            <a:ext cx="2505300" cy="1401300"/>
          </a:xfrm>
          <a:prstGeom prst="roundRect">
            <a:avLst>
              <a:gd fmla="val 6061" name="adj"/>
            </a:avLst>
          </a:prstGeom>
          <a:solidFill>
            <a:srgbClr val="FFFFFF"/>
          </a:solidFill>
          <a:ln>
            <a:noFill/>
          </a:ln>
          <a:effectLst>
            <a:outerShdw blurRad="94359" rotWithShape="0" algn="bl" dir="8100000" dist="23590">
              <a:srgbClr val="000000">
                <a:alpha val="5882"/>
              </a:srgbClr>
            </a:outerShdw>
          </a:effectLst>
        </p:spPr>
        <p:txBody>
          <a:bodyPr anchorCtr="0" anchor="ctr" bIns="84900" lIns="84900" spcFirstLastPara="1" rIns="84900" wrap="square" tIns="8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6126237" y="2828122"/>
            <a:ext cx="2250300" cy="29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114"/>
              <a:buFont typeface="Unbounded"/>
              <a:buNone/>
            </a:pPr>
            <a:r>
              <a:rPr sz="1114" b="1" i="0">
                <a:solidFill>
                  <a:srgbClr val="6C4CEB"/>
                </a:solidFill>
                <a:latin typeface="Unbounded"/>
              </a:rPr>
              <a:t>Экономический эффект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9"/>
          <p:cNvSpPr/>
          <p:nvPr/>
        </p:nvSpPr>
        <p:spPr>
          <a:xfrm>
            <a:off x="6126237" y="3167812"/>
            <a:ext cx="2250300" cy="76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975"/>
              <a:buFont typeface="Manrope"/>
              <a:buNone/>
            </a:pPr>
            <a:r>
              <a:rPr sz="975" b="0" i="0">
                <a:solidFill>
                  <a:srgbClr val="646870"/>
                </a:solidFill>
                <a:latin typeface="Manrope"/>
              </a:rPr>
              <a:t>Рост инвестиционной активности и управляемый pipeline</a:t>
            </a:r>
            <a:endParaRPr b="0" i="0" sz="9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274" name="Google Shape;27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8600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0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6C4CEB"/>
                </a:solidFill>
                <a:latin typeface="Unbounded"/>
              </a:rPr>
              <a:t>Пилот: первые 90 дней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/>
          <p:nvPr/>
        </p:nvSpPr>
        <p:spPr>
          <a:xfrm>
            <a:off x="563880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Понятный план запуска без перегруза администрации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0"/>
          <p:cNvSpPr/>
          <p:nvPr/>
        </p:nvSpPr>
        <p:spPr>
          <a:xfrm>
            <a:off x="650250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5300" rotWithShape="0" algn="bl" dir="8100000" dist="23825">
              <a:srgbClr val="000000">
                <a:alpha val="5882"/>
              </a:srgbClr>
            </a:outerShdw>
          </a:effectLst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"/>
          <p:cNvSpPr/>
          <p:nvPr/>
        </p:nvSpPr>
        <p:spPr>
          <a:xfrm>
            <a:off x="864666" y="1728855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575" b="1" i="0">
                <a:solidFill>
                  <a:srgbClr val="6C4CEB"/>
                </a:solidFill>
                <a:latin typeface="Unbounded"/>
              </a:rPr>
              <a:t>0–30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"/>
          <p:cNvSpPr/>
          <p:nvPr/>
        </p:nvSpPr>
        <p:spPr>
          <a:xfrm>
            <a:off x="2128550" y="1728850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1031" b="0" i="0">
                <a:solidFill>
                  <a:srgbClr val="292C33"/>
                </a:solidFill>
                <a:latin typeface="Manrope"/>
              </a:rPr>
              <a:t>дней: MOU, координатор, первый пакет объектов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0"/>
          <p:cNvCxnSpPr/>
          <p:nvPr/>
        </p:nvCxnSpPr>
        <p:spPr>
          <a:xfrm>
            <a:off x="864666" y="2200590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0"/>
          <p:cNvSpPr/>
          <p:nvPr/>
        </p:nvSpPr>
        <p:spPr>
          <a:xfrm>
            <a:off x="864666" y="2457899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575" b="1" i="0">
                <a:solidFill>
                  <a:srgbClr val="6C4CEB"/>
                </a:solidFill>
                <a:latin typeface="Unbounded"/>
              </a:rPr>
              <a:t>31–60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2128550" y="245789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1031" b="0" i="0">
                <a:solidFill>
                  <a:srgbClr val="292C33"/>
                </a:solidFill>
                <a:latin typeface="Manrope"/>
              </a:rPr>
              <a:t>дней: публикация витрины и работа с инвесторами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3" name="Google Shape;283;p10"/>
          <p:cNvCxnSpPr/>
          <p:nvPr/>
        </p:nvCxnSpPr>
        <p:spPr>
          <a:xfrm>
            <a:off x="864666" y="2929634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4" name="Google Shape;284;p10"/>
          <p:cNvSpPr/>
          <p:nvPr/>
        </p:nvSpPr>
        <p:spPr>
          <a:xfrm>
            <a:off x="864666" y="3186944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575" b="1" i="0">
                <a:solidFill>
                  <a:srgbClr val="6C4CEB"/>
                </a:solidFill>
                <a:latin typeface="Unbounded"/>
              </a:rPr>
              <a:t>61–90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2128550" y="3186949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1031" b="0" i="0">
                <a:solidFill>
                  <a:srgbClr val="292C33"/>
                </a:solidFill>
                <a:latin typeface="Manrope"/>
              </a:rPr>
              <a:t>дней: первые кейсы, KPI-отчет, решение о масштабировании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0"/>
          <p:cNvCxnSpPr/>
          <p:nvPr/>
        </p:nvCxnSpPr>
        <p:spPr>
          <a:xfrm>
            <a:off x="864666" y="3658678"/>
            <a:ext cx="3259200" cy="0"/>
          </a:xfrm>
          <a:prstGeom prst="straightConnector1">
            <a:avLst/>
          </a:prstGeom>
          <a:noFill/>
          <a:ln cap="flat" cmpd="sng" w="89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0"/>
          <p:cNvSpPr/>
          <p:nvPr/>
        </p:nvSpPr>
        <p:spPr>
          <a:xfrm>
            <a:off x="864666" y="3915988"/>
            <a:ext cx="11148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876"/>
              <a:buFont typeface="Unbounded"/>
              <a:buNone/>
            </a:pPr>
            <a:r>
              <a:rPr sz="1575" b="1" i="0">
                <a:solidFill>
                  <a:srgbClr val="6C4CEB"/>
                </a:solidFill>
                <a:latin typeface="Unbounded"/>
              </a:rPr>
              <a:t>KPI</a:t>
            </a:r>
            <a:endParaRPr b="0" i="0" sz="15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0"/>
          <p:cNvSpPr/>
          <p:nvPr/>
        </p:nvSpPr>
        <p:spPr>
          <a:xfrm>
            <a:off x="2128550" y="3915998"/>
            <a:ext cx="2038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032"/>
              <a:buFont typeface="Manrope"/>
              <a:buNone/>
            </a:pPr>
            <a:r>
              <a:rPr sz="1031" b="0" i="0">
                <a:solidFill>
                  <a:srgbClr val="292C33"/>
                </a:solidFill>
                <a:latin typeface="Manrope"/>
              </a:rPr>
              <a:t>пилота фиксируются ежемесячно</a:t>
            </a:r>
            <a:endParaRPr b="0" i="0" sz="103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4638525" y="1600200"/>
            <a:ext cx="3731100" cy="2835600"/>
          </a:xfrm>
          <a:prstGeom prst="roundRect">
            <a:avLst>
              <a:gd fmla="val 2703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85750" lIns="85750" spcFirstLastPara="1" rIns="85750" wrap="square" tIns="85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0" name="Google Shape;2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2954" y="1728855"/>
            <a:ext cx="343078" cy="343078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0"/>
          <p:cNvSpPr/>
          <p:nvPr/>
        </p:nvSpPr>
        <p:spPr>
          <a:xfrm>
            <a:off x="5281803" y="1728855"/>
            <a:ext cx="2573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19"/>
              <a:buFont typeface="Unbounded"/>
              <a:buNone/>
            </a:pPr>
            <a:r>
              <a:rPr sz="1219" b="1" i="0">
                <a:solidFill>
                  <a:srgbClr val="FFFFFF"/>
                </a:solidFill>
                <a:latin typeface="Unbounded"/>
              </a:rPr>
              <a:t>Что измеряем</a:t>
            </a:r>
            <a:endParaRPr b="0" i="0" sz="12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2" name="Google Shape;292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2863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0"/>
          <p:cNvSpPr/>
          <p:nvPr/>
        </p:nvSpPr>
        <p:spPr>
          <a:xfrm>
            <a:off x="5153148" y="22434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Количество объектов в работе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4" name="Google Shape;294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271520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0"/>
          <p:cNvSpPr/>
          <p:nvPr/>
        </p:nvSpPr>
        <p:spPr>
          <a:xfrm>
            <a:off x="5153148" y="267232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Количество инвестиционных запросов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6" name="Google Shape;29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144059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10"/>
          <p:cNvSpPr/>
          <p:nvPr/>
        </p:nvSpPr>
        <p:spPr>
          <a:xfrm>
            <a:off x="5153148" y="3101174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Количество активных переговоров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98" name="Google Shape;298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357290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0"/>
          <p:cNvSpPr/>
          <p:nvPr/>
        </p:nvSpPr>
        <p:spPr>
          <a:xfrm>
            <a:off x="5153148" y="3530023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Количество объектов в стадии сделки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00" name="Google Shape;300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2954" y="4001758"/>
            <a:ext cx="188693" cy="188693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10"/>
          <p:cNvSpPr/>
          <p:nvPr/>
        </p:nvSpPr>
        <p:spPr>
          <a:xfrm>
            <a:off x="5153148" y="3901399"/>
            <a:ext cx="3001800" cy="38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85"/>
              <a:buFont typeface="Manrope"/>
              <a:buNone/>
            </a:pPr>
            <a:r>
              <a:rPr sz="984" b="0" i="0">
                <a:solidFill>
                  <a:srgbClr val="FFFFFF"/>
                </a:solidFill>
                <a:latin typeface="Manrope"/>
              </a:rPr>
              <a:t>Прогнозируемый бюджетный эффект</a:t>
            </a:r>
            <a:endParaRPr b="0" i="0" sz="98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07" name="Google Shape;30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1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6C4CEB"/>
                </a:solidFill>
                <a:latin typeface="Unbounded"/>
              </a:rPr>
              <a:t>Что нужно от муниципалитета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1"/>
          <p:cNvSpPr/>
          <p:nvPr/>
        </p:nvSpPr>
        <p:spPr>
          <a:xfrm>
            <a:off x="557638" y="822960"/>
            <a:ext cx="7315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46870"/>
                </a:solidFill>
                <a:latin typeface="Manrope"/>
              </a:rPr>
              <a:t>Минимум действий для быстрого старта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1"/>
          <p:cNvSpPr/>
          <p:nvPr/>
        </p:nvSpPr>
        <p:spPr>
          <a:xfrm>
            <a:off x="640075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1"/>
          <p:cNvSpPr/>
          <p:nvPr/>
        </p:nvSpPr>
        <p:spPr>
          <a:xfrm>
            <a:off x="1639239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12" name="Google Shape;31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411" y="1711491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1"/>
          <p:cNvSpPr/>
          <p:nvPr/>
        </p:nvSpPr>
        <p:spPr>
          <a:xfrm>
            <a:off x="640075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sz="1140" b="1" i="0">
                <a:solidFill>
                  <a:srgbClr val="12141A"/>
                </a:solidFill>
                <a:latin typeface="Unbounded"/>
              </a:rPr>
              <a:t>1. Подписать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4" name="Google Shape;31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11"/>
          <p:cNvSpPr/>
          <p:nvPr/>
        </p:nvSpPr>
        <p:spPr>
          <a:xfrm>
            <a:off x="1074476" y="267800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950" b="0" i="0">
                <a:solidFill>
                  <a:srgbClr val="292C33"/>
                </a:solidFill>
                <a:latin typeface="Manrope"/>
              </a:rPr>
              <a:t>рамочный MOU о сотрудничестве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6" name="Google Shape;31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11"/>
          <p:cNvSpPr/>
          <p:nvPr/>
        </p:nvSpPr>
        <p:spPr>
          <a:xfrm>
            <a:off x="1074476" y="3025510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950" b="0" i="0">
                <a:solidFill>
                  <a:srgbClr val="292C33"/>
                </a:solidFill>
                <a:latin typeface="Manrope"/>
              </a:rPr>
              <a:t>2. Назначить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18" name="Google Shape;31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11"/>
          <p:cNvSpPr/>
          <p:nvPr/>
        </p:nvSpPr>
        <p:spPr>
          <a:xfrm>
            <a:off x="1074451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950" b="0" i="0">
                <a:solidFill>
                  <a:srgbClr val="292C33"/>
                </a:solidFill>
                <a:latin typeface="Manrope"/>
              </a:rPr>
              <a:t>координатора и рабочую группу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0" name="Google Shape;32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3825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11"/>
          <p:cNvSpPr/>
          <p:nvPr/>
        </p:nvSpPr>
        <p:spPr>
          <a:xfrm>
            <a:off x="1074451" y="3729715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Посилення ESG-профілю громади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3376643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1"/>
          <p:cNvSpPr/>
          <p:nvPr/>
        </p:nvSpPr>
        <p:spPr>
          <a:xfrm>
            <a:off x="4375795" y="1570319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24" name="Google Shape;32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16917" y="1711454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11"/>
          <p:cNvSpPr/>
          <p:nvPr/>
        </p:nvSpPr>
        <p:spPr>
          <a:xfrm>
            <a:off x="3376643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sz="1140" b="1" i="0">
                <a:solidFill>
                  <a:srgbClr val="12141A"/>
                </a:solidFill>
                <a:latin typeface="Unbounded"/>
              </a:rPr>
              <a:t>3. Передать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6" name="Google Shape;326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11"/>
          <p:cNvSpPr/>
          <p:nvPr/>
        </p:nvSpPr>
        <p:spPr>
          <a:xfrm>
            <a:off x="3811019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950" b="0" i="0">
                <a:solidFill>
                  <a:srgbClr val="292C33"/>
                </a:solidFill>
                <a:latin typeface="Manrope"/>
              </a:rPr>
              <a:t>первый пакет объектов для пилота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28" name="Google Shape;32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11"/>
          <p:cNvSpPr/>
          <p:nvPr/>
        </p:nvSpPr>
        <p:spPr>
          <a:xfrm>
            <a:off x="3811019" y="3028472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Практичний досвід з реальними угодами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0" name="Google Shape;33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11"/>
          <p:cNvSpPr/>
          <p:nvPr/>
        </p:nvSpPr>
        <p:spPr>
          <a:xfrm>
            <a:off x="3811019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Гнучкий графік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2" name="Google Shape;33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50394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11"/>
          <p:cNvSpPr/>
          <p:nvPr/>
        </p:nvSpPr>
        <p:spPr>
          <a:xfrm>
            <a:off x="3811019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Кадровий резерв для ринку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6113211" y="1396568"/>
            <a:ext cx="2562900" cy="2866800"/>
          </a:xfrm>
          <a:prstGeom prst="roundRect">
            <a:avLst>
              <a:gd fmla="val 3390" name="adj"/>
            </a:avLst>
          </a:prstGeom>
          <a:solidFill>
            <a:srgbClr val="FFFFFF"/>
          </a:solidFill>
          <a:ln>
            <a:noFill/>
          </a:ln>
          <a:effectLst>
            <a:outerShdw blurRad="96528" rotWithShape="0" algn="bl" dir="8100000" dist="24132">
              <a:srgbClr val="000000">
                <a:alpha val="5882"/>
              </a:srgbClr>
            </a:outerShdw>
          </a:effectLst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1"/>
          <p:cNvSpPr/>
          <p:nvPr/>
        </p:nvSpPr>
        <p:spPr>
          <a:xfrm>
            <a:off x="7112351" y="1570356"/>
            <a:ext cx="564600" cy="564600"/>
          </a:xfrm>
          <a:prstGeom prst="ellipse">
            <a:avLst/>
          </a:prstGeom>
          <a:solidFill>
            <a:srgbClr val="EDE8FD"/>
          </a:solidFill>
          <a:ln>
            <a:noFill/>
          </a:ln>
        </p:spPr>
        <p:txBody>
          <a:bodyPr anchorCtr="0" anchor="ctr" bIns="86875" lIns="86875" spcFirstLastPara="1" rIns="86875" wrap="square" tIns="86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6" name="Google Shape;336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53523" y="1711529"/>
            <a:ext cx="282344" cy="282344"/>
          </a:xfrm>
          <a:prstGeom prst="rect">
            <a:avLst/>
          </a:prstGeom>
          <a:noFill/>
          <a:ln>
            <a:noFill/>
          </a:ln>
        </p:spPr>
      </p:pic>
      <p:sp>
        <p:nvSpPr>
          <p:cNvPr id="337" name="Google Shape;337;p11"/>
          <p:cNvSpPr/>
          <p:nvPr/>
        </p:nvSpPr>
        <p:spPr>
          <a:xfrm>
            <a:off x="6113211" y="2265321"/>
            <a:ext cx="2562900" cy="3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400" lIns="86875" spcFirstLastPara="1" rIns="86875" wrap="square" tIns="43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40"/>
              <a:buFont typeface="Unbounded"/>
              <a:buNone/>
            </a:pPr>
            <a:r>
              <a:rPr sz="1140" b="1" i="0">
                <a:solidFill>
                  <a:srgbClr val="12141A"/>
                </a:solidFill>
                <a:latin typeface="Unbounded"/>
              </a:rPr>
              <a:t>4. Подтвердить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38" name="Google Shape;338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27431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1"/>
          <p:cNvSpPr/>
          <p:nvPr/>
        </p:nvSpPr>
        <p:spPr>
          <a:xfrm>
            <a:off x="6547587" y="267472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sz="950" b="0" i="0">
                <a:solidFill>
                  <a:srgbClr val="292C33"/>
                </a:solidFill>
                <a:latin typeface="Manrope"/>
              </a:rPr>
              <a:t>дату стартовой рабочей сессии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0" name="Google Shape;34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090635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1"/>
          <p:cNvSpPr/>
          <p:nvPr/>
        </p:nvSpPr>
        <p:spPr>
          <a:xfrm>
            <a:off x="6547587" y="3022229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Підтримка релокаційних програм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2" name="Google Shape;34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438136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1"/>
          <p:cNvSpPr/>
          <p:nvPr/>
        </p:nvSpPr>
        <p:spPr>
          <a:xfrm>
            <a:off x="6547587" y="3363488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Швидкий старт кар'єри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44" name="Google Shape;344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962" y="3785637"/>
            <a:ext cx="173750" cy="17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1"/>
          <p:cNvSpPr/>
          <p:nvPr/>
        </p:nvSpPr>
        <p:spPr>
          <a:xfrm>
            <a:off x="6547587" y="3723473"/>
            <a:ext cx="19980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950"/>
              <a:buFont typeface="Manrope"/>
              <a:buNone/>
            </a:pPr>
            <a:r>
              <a:rPr b="0" i="0" lang="en-US" sz="950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Інтеграція через платформу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51" name="Google Shape;35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6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12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6C4CEB"/>
                </a:solidFill>
                <a:latin typeface="Unbounded"/>
              </a:rPr>
              <a:t>Экосистема участников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2"/>
          <p:cNvSpPr/>
          <p:nvPr/>
        </p:nvSpPr>
        <p:spPr>
          <a:xfrm>
            <a:off x="3520440" y="1645920"/>
            <a:ext cx="2103120" cy="2103120"/>
          </a:xfrm>
          <a:prstGeom prst="ellipse">
            <a:avLst/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claude/logo_banda.png" id="354" name="Google Shape;3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4760" y="2331720"/>
            <a:ext cx="1554480" cy="53949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12"/>
          <p:cNvSpPr/>
          <p:nvPr/>
        </p:nvSpPr>
        <p:spPr>
          <a:xfrm>
            <a:off x="3520440" y="288036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000"/>
              <a:buFont typeface="Manrope"/>
              <a:buNone/>
            </a:pPr>
            <a:r>
              <a:rPr sz="1000" b="0" i="0">
                <a:latin typeface="Manrope"/>
              </a:rPr>
              <a:t>Trust Layer</a:t>
            </a:r>
            <a:endParaRPr b="0" i="0" sz="1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2"/>
          <p:cNvSpPr/>
          <p:nvPr/>
        </p:nvSpPr>
        <p:spPr>
          <a:xfrm>
            <a:off x="1046050" y="117655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57" name="Google Shape;35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3210" y="135943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12"/>
          <p:cNvSpPr/>
          <p:nvPr/>
        </p:nvSpPr>
        <p:spPr>
          <a:xfrm>
            <a:off x="1594690" y="117655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1" i="0">
                <a:solidFill>
                  <a:srgbClr val="12141A"/>
                </a:solidFill>
                <a:latin typeface="Manrope"/>
              </a:rPr>
              <a:t>Агенты (позже)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2"/>
          <p:cNvSpPr/>
          <p:nvPr/>
        </p:nvSpPr>
        <p:spPr>
          <a:xfrm>
            <a:off x="497520" y="235305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0" name="Google Shape;36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680" y="253593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12"/>
          <p:cNvSpPr/>
          <p:nvPr/>
        </p:nvSpPr>
        <p:spPr>
          <a:xfrm>
            <a:off x="1046160" y="235305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1" i="0">
                <a:solidFill>
                  <a:srgbClr val="12141A"/>
                </a:solidFill>
                <a:latin typeface="Manrope"/>
              </a:rPr>
              <a:t>Муниципалитеты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2"/>
          <p:cNvSpPr/>
          <p:nvPr/>
        </p:nvSpPr>
        <p:spPr>
          <a:xfrm>
            <a:off x="136615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3" name="Google Shape;36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0331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12"/>
          <p:cNvSpPr/>
          <p:nvPr/>
        </p:nvSpPr>
        <p:spPr>
          <a:xfrm>
            <a:off x="191479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1" i="0">
                <a:solidFill>
                  <a:srgbClr val="12141A"/>
                </a:solidFill>
                <a:latin typeface="Manrope"/>
              </a:rPr>
              <a:t>Покупатели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2"/>
          <p:cNvSpPr/>
          <p:nvPr/>
        </p:nvSpPr>
        <p:spPr>
          <a:xfrm>
            <a:off x="6177645" y="117652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6" name="Google Shape;366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314805" y="135940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12"/>
          <p:cNvSpPr/>
          <p:nvPr/>
        </p:nvSpPr>
        <p:spPr>
          <a:xfrm>
            <a:off x="6726285" y="117652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1" i="0">
                <a:solidFill>
                  <a:srgbClr val="12141A"/>
                </a:solidFill>
                <a:latin typeface="Manrope"/>
              </a:rPr>
              <a:t>Банки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2"/>
          <p:cNvSpPr/>
          <p:nvPr/>
        </p:nvSpPr>
        <p:spPr>
          <a:xfrm>
            <a:off x="6884685" y="2353005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69" name="Google Shape;369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21845" y="2535885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0" name="Google Shape;370;p12"/>
          <p:cNvSpPr/>
          <p:nvPr/>
        </p:nvSpPr>
        <p:spPr>
          <a:xfrm>
            <a:off x="7433325" y="2353005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1" i="0">
                <a:solidFill>
                  <a:srgbClr val="12141A"/>
                </a:solidFill>
                <a:latin typeface="Manrope"/>
              </a:rPr>
              <a:t>Девелоперы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2"/>
          <p:cNvSpPr/>
          <p:nvPr/>
        </p:nvSpPr>
        <p:spPr>
          <a:xfrm>
            <a:off x="5741668" y="3482800"/>
            <a:ext cx="1920300" cy="822900"/>
          </a:xfrm>
          <a:prstGeom prst="roundRect">
            <a:avLst>
              <a:gd fmla="val 11111" name="adj"/>
            </a:avLst>
          </a:prstGeom>
          <a:solidFill>
            <a:srgbClr val="FFFFFF"/>
          </a:solidFill>
          <a:ln>
            <a:noFill/>
          </a:ln>
          <a:effectLst>
            <a:outerShdw blurRad="101600" rotWithShape="0" algn="bl" dir="8100000" dist="254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2" name="Google Shape;372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878828" y="3665680"/>
            <a:ext cx="365760" cy="365760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2"/>
          <p:cNvSpPr/>
          <p:nvPr/>
        </p:nvSpPr>
        <p:spPr>
          <a:xfrm>
            <a:off x="6290308" y="3482800"/>
            <a:ext cx="12801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1100"/>
              <a:buFont typeface="Manrope"/>
              <a:buNone/>
            </a:pPr>
            <a:r>
              <a:rPr sz="1100" b="1" i="0">
                <a:solidFill>
                  <a:srgbClr val="12141A"/>
                </a:solidFill>
                <a:latin typeface="Manrope"/>
              </a:rPr>
              <a:t>Инвесторы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379" name="Google Shape;37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4517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13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6C4CEB"/>
                </a:solidFill>
                <a:latin typeface="Unbounded"/>
              </a:rPr>
              <a:t>Команда и доверие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3"/>
          <p:cNvSpPr/>
          <p:nvPr/>
        </p:nvSpPr>
        <p:spPr>
          <a:xfrm>
            <a:off x="640075" y="1087201"/>
            <a:ext cx="7925400" cy="3294300"/>
          </a:xfrm>
          <a:prstGeom prst="roundRect">
            <a:avLst>
              <a:gd fmla="val 2500" name="adj"/>
            </a:avLst>
          </a:prstGeom>
          <a:solidFill>
            <a:srgbClr val="FFFFFF"/>
          </a:solidFill>
          <a:ln>
            <a:noFill/>
          </a:ln>
          <a:effectLst>
            <a:outerShdw blurRad="97843" rotWithShape="0" algn="bl" dir="8100000" dist="24461">
              <a:srgbClr val="000000">
                <a:alpha val="5882"/>
              </a:srgbClr>
            </a:outerShdw>
          </a:effectLst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3"/>
          <p:cNvSpPr/>
          <p:nvPr/>
        </p:nvSpPr>
        <p:spPr>
          <a:xfrm>
            <a:off x="904250" y="1219299"/>
            <a:ext cx="7044600" cy="44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119"/>
              <a:buFont typeface="Unbounded"/>
              <a:buNone/>
            </a:pPr>
            <a:r>
              <a:rPr sz="2118" b="1" i="0">
                <a:solidFill>
                  <a:srgbClr val="12141A"/>
                </a:solidFill>
                <a:latin typeface="Unbounded"/>
              </a:rPr>
              <a:t>Максим Калиниченко</a:t>
            </a:r>
            <a:endParaRPr b="0" i="0" sz="21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3"/>
          <p:cNvSpPr/>
          <p:nvPr/>
        </p:nvSpPr>
        <p:spPr>
          <a:xfrm>
            <a:off x="904250" y="170361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48"/>
              <a:buFont typeface="Manrope"/>
              <a:buNone/>
            </a:pPr>
            <a:r>
              <a:rPr sz="1348" b="0" i="0">
                <a:solidFill>
                  <a:srgbClr val="6C4CEB"/>
                </a:solidFill>
                <a:latin typeface="Manrope"/>
              </a:rPr>
              <a:t>CEO  •  BANDA Ukraine SPV</a:t>
            </a:r>
            <a:endParaRPr b="0" i="0" sz="13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13"/>
          <p:cNvCxnSpPr/>
          <p:nvPr/>
        </p:nvCxnSpPr>
        <p:spPr>
          <a:xfrm>
            <a:off x="904250" y="2143910"/>
            <a:ext cx="2641800" cy="0"/>
          </a:xfrm>
          <a:prstGeom prst="straightConnector1">
            <a:avLst/>
          </a:prstGeom>
          <a:noFill/>
          <a:ln cap="flat" cmpd="sng" w="12225">
            <a:solidFill>
              <a:srgbClr val="EDE8FD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preencoded.png" id="385" name="Google Shape;3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320026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13"/>
          <p:cNvSpPr/>
          <p:nvPr/>
        </p:nvSpPr>
        <p:spPr>
          <a:xfrm>
            <a:off x="1168425" y="2275997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sz="1107" b="0" i="0">
                <a:solidFill>
                  <a:srgbClr val="292C33"/>
                </a:solidFill>
                <a:latin typeface="Manrope"/>
              </a:rPr>
              <a:t>Публичный амбассадор проекта в Украине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7" name="Google Shape;3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654647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3"/>
          <p:cNvSpPr/>
          <p:nvPr/>
        </p:nvSpPr>
        <p:spPr>
          <a:xfrm>
            <a:off x="1168425" y="2610618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Учасник чвертьфіналу ЧС-2006 (Німеччина)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89" name="Google Shape;389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2989268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13"/>
          <p:cNvSpPr/>
          <p:nvPr/>
        </p:nvSpPr>
        <p:spPr>
          <a:xfrm>
            <a:off x="1168425" y="294523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47 матчів та 7 голів за збірну України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1" name="Google Shape;391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32388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13"/>
          <p:cNvSpPr/>
          <p:nvPr/>
        </p:nvSpPr>
        <p:spPr>
          <a:xfrm>
            <a:off x="1168425" y="3279859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Нагороджений орденом «За мужність» III ступеня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3" name="Google Shape;39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658509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13"/>
          <p:cNvSpPr/>
          <p:nvPr/>
        </p:nvSpPr>
        <p:spPr>
          <a:xfrm>
            <a:off x="1168425" y="3614480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Відкрита проукраїнська позиція з перших днів вторгнення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395" name="Google Shape;3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04250" y="3993130"/>
            <a:ext cx="176116" cy="176116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13"/>
          <p:cNvSpPr/>
          <p:nvPr/>
        </p:nvSpPr>
        <p:spPr>
          <a:xfrm>
            <a:off x="1168425" y="3949101"/>
            <a:ext cx="4402800" cy="3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107"/>
              <a:buFont typeface="Manrope"/>
              <a:buNone/>
            </a:pPr>
            <a:r>
              <a:rPr b="0" i="0" lang="en-US" sz="1107" u="none" cap="none" strike="noStrike">
                <a:solidFill>
                  <a:srgbClr val="292C33"/>
                </a:solidFill>
                <a:latin typeface="Manrope"/>
                <a:ea typeface="Manrope"/>
                <a:cs typeface="Manrope"/>
                <a:sym typeface="Manrope"/>
              </a:rPr>
              <a:t>Визнання та довіра мільйонів українців</a:t>
            </a:r>
            <a:endParaRPr b="0" i="0" sz="110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3"/>
          <p:cNvSpPr/>
          <p:nvPr/>
        </p:nvSpPr>
        <p:spPr>
          <a:xfrm>
            <a:off x="5747458" y="2320026"/>
            <a:ext cx="2641800" cy="1232700"/>
          </a:xfrm>
          <a:prstGeom prst="roundRect">
            <a:avLst>
              <a:gd fmla="val 5714" name="adj"/>
            </a:avLst>
          </a:prstGeom>
          <a:solidFill>
            <a:srgbClr val="EDE8FD"/>
          </a:solidFill>
          <a:ln>
            <a:noFill/>
          </a:ln>
        </p:spPr>
        <p:txBody>
          <a:bodyPr anchorCtr="0" anchor="ctr" bIns="88050" lIns="88050" spcFirstLastPara="1" rIns="88050" wrap="square" tIns="88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"/>
          <p:cNvSpPr/>
          <p:nvPr/>
        </p:nvSpPr>
        <p:spPr>
          <a:xfrm>
            <a:off x="5879546" y="2364055"/>
            <a:ext cx="23775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4000" lIns="88050" spcFirstLastPara="1" rIns="88050" wrap="square" tIns="440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B30B9"/>
              </a:buClr>
              <a:buSzPts val="1011"/>
              <a:buFont typeface="Manrope"/>
              <a:buNone/>
            </a:pPr>
            <a:r>
              <a:rPr sz="1011" b="0" i="1">
                <a:solidFill>
                  <a:srgbClr val="4B30B9"/>
                </a:solidFill>
                <a:latin typeface="Manrope"/>
              </a:rPr>
              <a:t>Сильный публичный профиль усиливает доверие к инициативе на уровне региона</a:t>
            </a:r>
            <a:endParaRPr b="0" i="0" sz="101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04" name="Google Shape;40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75" y="4631425"/>
            <a:ext cx="822960" cy="283464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4"/>
          <p:cNvSpPr/>
          <p:nvPr/>
        </p:nvSpPr>
        <p:spPr>
          <a:xfrm>
            <a:off x="640080" y="3200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6C4CEB"/>
                </a:solidFill>
                <a:latin typeface="Unbounded"/>
              </a:rPr>
              <a:t>Стратегический фокус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4"/>
          <p:cNvSpPr/>
          <p:nvPr/>
        </p:nvSpPr>
        <p:spPr>
          <a:xfrm>
            <a:off x="633000" y="1107787"/>
            <a:ext cx="7878000" cy="3238800"/>
          </a:xfrm>
          <a:prstGeom prst="roundRect">
            <a:avLst>
              <a:gd fmla="val 2703" name="adj"/>
            </a:avLst>
          </a:prstGeom>
          <a:solidFill>
            <a:srgbClr val="FFFFFF"/>
          </a:solidFill>
          <a:ln>
            <a:noFill/>
          </a:ln>
          <a:effectLst>
            <a:outerShdw blurRad="97261" rotWithShape="0" algn="bl" dir="8100000" dist="24315">
              <a:srgbClr val="000000">
                <a:alpha val="5882"/>
              </a:srgbClr>
            </a:outerShdw>
          </a:effectLst>
        </p:spPr>
        <p:txBody>
          <a:bodyPr anchorCtr="0" anchor="ctr" bIns="87525" lIns="87525" spcFirstLastPara="1" rIns="87525" wrap="square" tIns="875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"/>
          </a:p>
        </p:txBody>
      </p:sp>
      <p:pic>
        <p:nvPicPr>
          <p:cNvPr descr="/home/claude/logo_banda.png" id="407" name="Google Shape;40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2809" y="1326623"/>
            <a:ext cx="2538500" cy="875345"/>
          </a:xfrm>
          <a:prstGeom prst="rect">
            <a:avLst/>
          </a:prstGeom>
          <a:noFill/>
          <a:ln>
            <a:noFill/>
          </a:ln>
        </p:spPr>
      </p:pic>
      <p:sp>
        <p:nvSpPr>
          <p:cNvPr id="408" name="Google Shape;408;p14"/>
          <p:cNvSpPr/>
          <p:nvPr/>
        </p:nvSpPr>
        <p:spPr>
          <a:xfrm>
            <a:off x="1070674" y="2377037"/>
            <a:ext cx="70029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C33"/>
              </a:buClr>
              <a:buSzPts val="1244"/>
              <a:buFont typeface="Manrope"/>
              <a:buNone/>
            </a:pPr>
            <a:r>
              <a:rPr sz="1244" b="0" i="0">
                <a:solidFill>
                  <a:srgbClr val="292C33"/>
                </a:solidFill>
                <a:latin typeface="Manrope"/>
              </a:rPr>
              <a:t>Ближайший приоритет — municipal track: MOU, объекты, demo platform.</a:t>
            </a:r>
            <a:endParaRPr b="0" i="0" sz="124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4"/>
          <p:cNvSpPr/>
          <p:nvPr/>
        </p:nvSpPr>
        <p:spPr>
          <a:xfrm>
            <a:off x="1245743" y="2902243"/>
            <a:ext cx="6652500" cy="122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3750" lIns="87525" spcFirstLastPara="1" rIns="87525" wrap="square" tIns="4375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46870"/>
              </a:buClr>
              <a:buSzPts val="1149"/>
              <a:buFont typeface="Manrope"/>
              <a:buNone/>
            </a:pPr>
            <a:r>
              <a:rPr sz="1148" b="0" i="0">
                <a:solidFill>
                  <a:srgbClr val="646870"/>
                </a:solidFill>
                <a:latin typeface="Manrope"/>
              </a:rPr>
              <a:t>Инфраструктурная стратегия не отменяет будущие каналы (банки, девелоперы, RWA), но municipal execution — P0 на текущем этапе.</a:t>
            </a:r>
            <a:endParaRPr b="0" i="0" sz="114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5FC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claude/logo_banda.png" id="415" name="Google Shape;4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37560" y="457200"/>
            <a:ext cx="2468880" cy="85953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15"/>
          <p:cNvSpPr/>
          <p:nvPr/>
        </p:nvSpPr>
        <p:spPr>
          <a:xfrm>
            <a:off x="914400" y="150876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2141A"/>
              </a:buClr>
              <a:buSzPts val="2600"/>
              <a:buFont typeface="Unbounded"/>
              <a:buNone/>
            </a:pPr>
            <a:r>
              <a:rPr sz="2600" b="1" i="0">
                <a:solidFill>
                  <a:srgbClr val="12141A"/>
                </a:solidFill>
                <a:latin typeface="Unbounded"/>
              </a:rPr>
              <a:t>Давайте запустим пилот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2600" b="1" i="0">
                <a:solidFill>
                  <a:srgbClr val="12141A"/>
                </a:solidFill>
                <a:latin typeface="Unbounded"/>
              </a:rPr>
              <a:t>в вашей громаде</a:t>
            </a:r>
          </a:p>
        </p:txBody>
      </p:sp>
      <p:cxnSp>
        <p:nvCxnSpPr>
          <p:cNvPr id="417" name="Google Shape;417;p15"/>
          <p:cNvCxnSpPr/>
          <p:nvPr/>
        </p:nvCxnSpPr>
        <p:spPr>
          <a:xfrm>
            <a:off x="3200400" y="2606040"/>
            <a:ext cx="2743200" cy="0"/>
          </a:xfrm>
          <a:prstGeom prst="straightConnector1">
            <a:avLst/>
          </a:prstGeom>
          <a:noFill/>
          <a:ln cap="flat" cmpd="sng" w="19050">
            <a:solidFill>
              <a:srgbClr val="6C4C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8" name="Google Shape;418;p15"/>
          <p:cNvSpPr/>
          <p:nvPr/>
        </p:nvSpPr>
        <p:spPr>
          <a:xfrm>
            <a:off x="1371600" y="2834640"/>
            <a:ext cx="6400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C4CEB"/>
              </a:buClr>
              <a:buSzPts val="1300"/>
              <a:buFont typeface="Manrope"/>
              <a:buNone/>
            </a:pPr>
            <a:r>
              <a:rPr sz="1300" b="0" i="0">
                <a:solidFill>
                  <a:srgbClr val="6C4CEB"/>
                </a:solidFill>
                <a:latin typeface="Manrope"/>
              </a:rPr>
              <a:t>8085 / BANDA — это не расход для муниципалитета.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r>
              <a:rPr sz="1300" b="0" i="0">
                <a:solidFill>
                  <a:srgbClr val="6C4CEB"/>
                </a:solidFill>
                <a:latin typeface="Manrope"/>
              </a:rPr>
              <a:t>Это бесплатный инструмент: прозрачность, инвестиции, управляемый pipeline объектов.</a:t>
            </a:r>
          </a:p>
        </p:txBody>
      </p:sp>
      <p:sp>
        <p:nvSpPr>
          <p:cNvPr id="419" name="Google Shape;419;p15"/>
          <p:cNvSpPr/>
          <p:nvPr/>
        </p:nvSpPr>
        <p:spPr>
          <a:xfrm>
            <a:off x="2286000" y="3749040"/>
            <a:ext cx="4572000" cy="1051560"/>
          </a:xfrm>
          <a:prstGeom prst="roundRect">
            <a:avLst>
              <a:gd fmla="val 8696" name="adj"/>
            </a:avLst>
          </a:prstGeom>
          <a:solidFill>
            <a:srgbClr val="4B30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286000" y="379476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Unbounded"/>
              <a:buNone/>
            </a:pPr>
            <a:r>
              <a:rPr sz="1400" b="1" i="0">
                <a:solidFill>
                  <a:srgbClr val="FFFFFF"/>
                </a:solidFill>
                <a:latin typeface="Unbounded"/>
              </a:rPr>
              <a:t>Следующий шаг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5"/>
          <p:cNvSpPr/>
          <p:nvPr/>
        </p:nvSpPr>
        <p:spPr>
          <a:xfrm>
            <a:off x="2286000" y="41605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6FF0"/>
              </a:buClr>
              <a:buSzPts val="1100"/>
              <a:buFont typeface="Manrope"/>
              <a:buNone/>
            </a:pPr>
            <a:r>
              <a:rPr sz="1100" b="0" i="0">
                <a:latin typeface="Manrope"/>
              </a:rPr>
              <a:t>Подписать MOU  •  Назначить координатора  •  Загрузить объекты</a:t>
            </a:r>
            <a:endParaRPr b="0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2286000" y="4434840"/>
            <a:ext cx="4572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Manrope"/>
              <a:buNone/>
            </a:pPr>
            <a:r>
              <a:rPr sz="900" b="0" i="0">
                <a:solidFill>
                  <a:srgbClr val="FFFFFF"/>
                </a:solidFill>
                <a:latin typeface="Manrope"/>
              </a:rPr>
              <a:t>HQ: UAE  •  SPV: Spain &amp; Ukraine  •  Seed Stage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2026-03-19T21:13:48Z</dcterms:created>
  <dc:creator>BANDA</dc:creator>
</cp:coreProperties>
</file>