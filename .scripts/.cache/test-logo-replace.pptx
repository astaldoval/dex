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5143500" cx="9144000"/>
  <p:notesSz cx="5143500" cy="9144000"/>
  <p:embeddedFontLst>
    <p:embeddedFont>
      <p:font typeface="Manrope"/>
      <p:regular r:id="rId21"/>
      <p:bold r:id="rId22"/>
    </p:embeddedFont>
    <p:embeddedFont>
      <p:font typeface="Unbounded"/>
      <p:regular r:id="rId23"/>
      <p:bold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pos="403">
          <p15:clr>
            <a:srgbClr val="747775"/>
          </p15:clr>
        </p15:guide>
        <p15:guide id="2" pos="2880">
          <p15:clr>
            <a:srgbClr val="747775"/>
          </p15:clr>
        </p15:guide>
        <p15:guide id="3" orient="horz" pos="1783">
          <p15:clr>
            <a:srgbClr val="747775"/>
          </p15:clr>
        </p15:guide>
        <p15:guide id="4" orient="horz" pos="2002">
          <p15:clr>
            <a:srgbClr val="747775"/>
          </p15:clr>
        </p15:guide>
        <p15:guide id="5" orient="horz" pos="2220">
          <p15:clr>
            <a:srgbClr val="747775"/>
          </p15:clr>
        </p15:guide>
        <p15:guide id="6" orient="horz" pos="2453">
          <p15:clr>
            <a:srgbClr val="747775"/>
          </p15:clr>
        </p15:guide>
      </p15:sldGuideLst>
    </p:ext>
    <p:ext uri="GoogleSlidesCustomDataVersion2">
      <go:slidesCustomData xmlns:go="http://customooxmlschemas.google.com/" r:id="rId25" roundtripDataSignature="AMtx7mifvrfIwEMh1dex4yL6skTzXS2RL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403"/>
        <p:guide pos="2880"/>
        <p:guide pos="1783" orient="horz"/>
        <p:guide pos="2002" orient="horz"/>
        <p:guide pos="2220" orient="horz"/>
        <p:guide pos="2453" orient="horz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font" Target="fonts/Manrope-regular.fntdata"/><Relationship Id="rId22" Type="http://schemas.openxmlformats.org/officeDocument/2006/relationships/font" Target="fonts/Manrope-bold.fntdata"/><Relationship Id="rId23" Type="http://schemas.openxmlformats.org/officeDocument/2006/relationships/font" Target="fonts/Unbounded-regular.fntdata"/><Relationship Id="rId24" Type="http://schemas.openxmlformats.org/officeDocument/2006/relationships/font" Target="fonts/Unbounded-bold.fntdata"/><Relationship Id="rId25" Type="http://customschemas.google.com/relationships/presentationmetadata" Target="meta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" name="Google Shape;24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" name="Google Shape;48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4" name="Google Shape;74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1" name="Google Shape;111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9" name="Google Shape;149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1" name="Google Shape;181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4" name="Google Shape;204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3" name="Google Shape;243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1" name="Google Shape;271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4" name="Google Shape;304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8" name="Google Shape;348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6" name="Google Shape;376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7" name="Google Shape;377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1" name="Google Shape;401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2" name="Google Shape;412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3" name="Google Shape;413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3.jpg"/><Relationship Id="rId4" Type="http://schemas.openxmlformats.org/officeDocument/2006/relationships/image" Target="../media/image5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3.jpg"/><Relationship Id="rId4" Type="http://schemas.openxmlformats.org/officeDocument/2006/relationships/image" Target="../media/image25.png"/><Relationship Id="rId5" Type="http://schemas.openxmlformats.org/officeDocument/2006/relationships/image" Target="../media/image3.png"/><Relationship Id="rId6" Type="http://schemas.openxmlformats.org/officeDocument/2006/relationships/image" Target="../media/image1.png"/><Relationship Id="rId7" Type="http://schemas.openxmlformats.org/officeDocument/2006/relationships/image" Target="../media/image7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3.jpg"/><Relationship Id="rId4" Type="http://schemas.openxmlformats.org/officeDocument/2006/relationships/image" Target="../media/image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3.jpg"/><Relationship Id="rId4" Type="http://schemas.openxmlformats.org/officeDocument/2006/relationships/image" Target="../media/image4.png"/><Relationship Id="rId5" Type="http://schemas.openxmlformats.org/officeDocument/2006/relationships/image" Target="../media/image2.png"/><Relationship Id="rId6" Type="http://schemas.openxmlformats.org/officeDocument/2006/relationships/image" Target="../media/image14.png"/><Relationship Id="rId7" Type="http://schemas.openxmlformats.org/officeDocument/2006/relationships/image" Target="../media/image10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3.jpg"/><Relationship Id="rId4" Type="http://schemas.openxmlformats.org/officeDocument/2006/relationships/image" Target="../media/image73.png"/><Relationship Id="rId5" Type="http://schemas.openxmlformats.org/officeDocument/2006/relationships/image" Target="../media/image29.png"/><Relationship Id="rId6" Type="http://schemas.openxmlformats.org/officeDocument/2006/relationships/image" Target="../media/image44.png"/><Relationship Id="rId7" Type="http://schemas.openxmlformats.org/officeDocument/2006/relationships/image" Target="../media/image16.png"/><Relationship Id="rId8" Type="http://schemas.openxmlformats.org/officeDocument/2006/relationships/image" Target="../media/image20.png"/><Relationship Id="rId9" Type="http://schemas.openxmlformats.org/officeDocument/2006/relationships/image" Target="../media/image2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3.jpg"/><Relationship Id="rId4" Type="http://schemas.openxmlformats.org/officeDocument/2006/relationships/image" Target="../media/image29.png"/><Relationship Id="rId5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3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3.jpg"/><Relationship Id="rId4" Type="http://schemas.openxmlformats.org/officeDocument/2006/relationships/image" Target="../media/image20.png"/><Relationship Id="rId5" Type="http://schemas.openxmlformats.org/officeDocument/2006/relationships/image" Target="../media/image3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3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3.jpg"/><Relationship Id="rId4" Type="http://schemas.openxmlformats.org/officeDocument/2006/relationships/image" Target="../media/image42.png"/><Relationship Id="rId5" Type="http://schemas.openxmlformats.org/officeDocument/2006/relationships/image" Target="../media/image3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3.jpg"/><Relationship Id="rId4" Type="http://schemas.openxmlformats.org/officeDocument/2006/relationships/image" Target="../media/image64.png"/><Relationship Id="rId5" Type="http://schemas.openxmlformats.org/officeDocument/2006/relationships/image" Target="../media/image6.png"/><Relationship Id="rId6" Type="http://schemas.openxmlformats.org/officeDocument/2006/relationships/image" Target="../media/image23.png"/><Relationship Id="rId7" Type="http://schemas.openxmlformats.org/officeDocument/2006/relationships/image" Target="../media/image1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3.jpg"/><Relationship Id="rId4" Type="http://schemas.openxmlformats.org/officeDocument/2006/relationships/image" Target="../media/image16.png"/><Relationship Id="rId5" Type="http://schemas.openxmlformats.org/officeDocument/2006/relationships/image" Target="../media/image57.png"/><Relationship Id="rId6" Type="http://schemas.openxmlformats.org/officeDocument/2006/relationships/image" Target="../media/image59.png"/><Relationship Id="rId7" Type="http://schemas.openxmlformats.org/officeDocument/2006/relationships/image" Target="../media/image75.png"/><Relationship Id="rId8" Type="http://schemas.openxmlformats.org/officeDocument/2006/relationships/image" Target="../media/image61.png"/><Relationship Id="rId9" Type="http://schemas.openxmlformats.org/officeDocument/2006/relationships/image" Target="../media/image70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3.jpg"/><Relationship Id="rId4" Type="http://schemas.openxmlformats.org/officeDocument/2006/relationships/image" Target="../media/image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3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3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5FC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"/>
          <p:cNvSpPr/>
          <p:nvPr/>
        </p:nvSpPr>
        <p:spPr>
          <a:xfrm>
            <a:off x="457200" y="1554480"/>
            <a:ext cx="82296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2141A"/>
              </a:buClr>
              <a:buSzPts val="2800"/>
              <a:buFont typeface="Unbounded"/>
              <a:buNone/>
            </a:pPr>
            <a:r>
              <a:rPr b="1" i="0" lang="en-US" sz="2800" u="none" cap="none" strike="noStrike">
                <a:solidFill>
                  <a:srgbClr val="12141A"/>
                </a:solidFill>
                <a:latin typeface="Unbounded"/>
                <a:ea typeface="Unbounded"/>
                <a:cs typeface="Unbounded"/>
                <a:sym typeface="Unbounded"/>
              </a:rPr>
              <a:t>Інфраструктурна платформа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2141A"/>
              </a:buClr>
              <a:buSzPts val="2800"/>
              <a:buFont typeface="Unbounded"/>
              <a:buNone/>
            </a:pPr>
            <a:r>
              <a:rPr b="1" i="0" lang="en-US" sz="2800" u="none" cap="none" strike="noStrike">
                <a:solidFill>
                  <a:srgbClr val="12141A"/>
                </a:solidFill>
                <a:latin typeface="Unbounded"/>
                <a:ea typeface="Unbounded"/>
                <a:cs typeface="Unbounded"/>
                <a:sym typeface="Unbounded"/>
              </a:rPr>
              <a:t>для ринку нерухомості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1371600" y="2834640"/>
            <a:ext cx="64008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C4CEB"/>
              </a:buClr>
              <a:buSzPts val="1400"/>
              <a:buFont typeface="Manrope"/>
              <a:buNone/>
            </a:pPr>
            <a:r>
              <a:rPr b="0" i="0" lang="en-US" sz="1400" u="none" cap="none" strike="noStrike">
                <a:solidFill>
                  <a:srgbClr val="6C4CEB"/>
                </a:solidFill>
                <a:latin typeface="Manrope"/>
                <a:ea typeface="Manrope"/>
                <a:cs typeface="Manrope"/>
                <a:sym typeface="Manrope"/>
              </a:rPr>
              <a:t>Як цифрова інфраструктура змінює ринок нерухомості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C4CEB"/>
              </a:buClr>
              <a:buSzPts val="1400"/>
              <a:buFont typeface="Manrope"/>
              <a:buNone/>
            </a:pPr>
            <a:r>
              <a:rPr b="0" i="0" lang="en-US" sz="1400" u="none" cap="none" strike="noStrike">
                <a:solidFill>
                  <a:srgbClr val="6C4CEB"/>
                </a:solidFill>
                <a:latin typeface="Manrope"/>
                <a:ea typeface="Manrope"/>
                <a:cs typeface="Manrope"/>
                <a:sym typeface="Manrope"/>
              </a:rPr>
              <a:t>та створює нові можливості для муніципалітетів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" name="Google Shape;19;p1"/>
          <p:cNvCxnSpPr/>
          <p:nvPr/>
        </p:nvCxnSpPr>
        <p:spPr>
          <a:xfrm>
            <a:off x="3200400" y="3749040"/>
            <a:ext cx="2743200" cy="0"/>
          </a:xfrm>
          <a:prstGeom prst="straightConnector1">
            <a:avLst/>
          </a:prstGeom>
          <a:noFill/>
          <a:ln cap="flat" cmpd="sng" w="19050">
            <a:solidFill>
              <a:srgbClr val="6C4CE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" name="Google Shape;20;p1"/>
          <p:cNvSpPr/>
          <p:nvPr/>
        </p:nvSpPr>
        <p:spPr>
          <a:xfrm>
            <a:off x="914400" y="397764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6870"/>
              </a:buClr>
              <a:buSzPts val="1200"/>
              <a:buFont typeface="Manrope"/>
              <a:buNone/>
            </a:pPr>
            <a:r>
              <a:rPr b="0" i="0" lang="en-US" sz="1200" u="none" cap="none" strike="noStrike">
                <a:solidFill>
                  <a:srgbClr val="646870"/>
                </a:solidFill>
                <a:latin typeface="Manrope"/>
                <a:ea typeface="Manrope"/>
                <a:cs typeface="Manrope"/>
                <a:sym typeface="Manrope"/>
              </a:rPr>
              <a:t>Презентація для муніципалітетів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914400" y="434340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2141A"/>
              </a:buClr>
              <a:buSzPts val="1200"/>
              <a:buFont typeface="Manrope"/>
              <a:buNone/>
            </a:pPr>
            <a:r>
              <a:rPr b="1" i="0" lang="en-US" sz="1200" u="none" cap="none" strike="noStrike">
                <a:solidFill>
                  <a:srgbClr val="12141A"/>
                </a:solidFill>
                <a:latin typeface="Manrope"/>
                <a:ea typeface="Manrope"/>
                <a:cs typeface="Manrope"/>
                <a:sym typeface="Manrope"/>
              </a:rPr>
              <a:t>Alex Grynevych  •  CBDO &amp; Board Member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" name="Picture 21" descr="8085-logo-ligh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37560" y="457200"/>
            <a:ext cx="2468880" cy="85953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5FC"/>
        </a:solidFill>
      </p:bgPr>
    </p:bg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claude/logo_banda.png" id="27" name="Google Shape;27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0074" y="4631428"/>
            <a:ext cx="822960" cy="283464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2"/>
          <p:cNvSpPr/>
          <p:nvPr/>
        </p:nvSpPr>
        <p:spPr>
          <a:xfrm>
            <a:off x="640080" y="365760"/>
            <a:ext cx="7772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141A"/>
              </a:buClr>
              <a:buSzPts val="2800"/>
              <a:buFont typeface="Unbounded"/>
              <a:buNone/>
            </a:pPr>
            <a:r>
              <a:rPr b="1" i="0" lang="en-US" sz="2800" u="none" cap="none" strike="noStrike">
                <a:solidFill>
                  <a:srgbClr val="12141A"/>
                </a:solidFill>
                <a:latin typeface="Unbounded"/>
                <a:ea typeface="Unbounded"/>
                <a:cs typeface="Unbounded"/>
                <a:sym typeface="Unbounded"/>
              </a:rPr>
              <a:t>Ринок нерухомості </a:t>
            </a:r>
            <a:r>
              <a:rPr b="1" i="0" lang="en-US" sz="2800" u="none" cap="none" strike="noStrike">
                <a:solidFill>
                  <a:srgbClr val="6C4CEB"/>
                </a:solidFill>
                <a:latin typeface="Unbounded"/>
                <a:ea typeface="Unbounded"/>
                <a:cs typeface="Unbounded"/>
                <a:sym typeface="Unbounded"/>
              </a:rPr>
              <a:t>зламаний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2"/>
          <p:cNvSpPr/>
          <p:nvPr/>
        </p:nvSpPr>
        <p:spPr>
          <a:xfrm>
            <a:off x="640080" y="91440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6870"/>
              </a:buClr>
              <a:buSzPts val="1300"/>
              <a:buFont typeface="Manrope"/>
              <a:buNone/>
            </a:pPr>
            <a:r>
              <a:rPr b="0" i="0" lang="en-US" sz="1300" u="none" cap="none" strike="noStrike">
                <a:solidFill>
                  <a:srgbClr val="646870"/>
                </a:solidFill>
                <a:latin typeface="Manrope"/>
                <a:ea typeface="Manrope"/>
                <a:cs typeface="Manrope"/>
                <a:sym typeface="Manrope"/>
              </a:rPr>
              <a:t>Системні проблеми, які заважають розвитку ринку та муніципалітетів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2"/>
          <p:cNvSpPr/>
          <p:nvPr/>
        </p:nvSpPr>
        <p:spPr>
          <a:xfrm>
            <a:off x="640080" y="1508760"/>
            <a:ext cx="3749040" cy="1371600"/>
          </a:xfrm>
          <a:prstGeom prst="roundRect">
            <a:avLst>
              <a:gd fmla="val 6667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254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1" name="Google Shape;31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22960" y="169164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2"/>
          <p:cNvSpPr/>
          <p:nvPr/>
        </p:nvSpPr>
        <p:spPr>
          <a:xfrm>
            <a:off x="1325880" y="1645920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141A"/>
              </a:buClr>
              <a:buSzPts val="1300"/>
              <a:buFont typeface="Unbounded"/>
              <a:buNone/>
            </a:pPr>
            <a:r>
              <a:rPr b="1" i="0" lang="en-US" sz="1300" u="none" cap="none" strike="noStrike">
                <a:solidFill>
                  <a:srgbClr val="12141A"/>
                </a:solidFill>
                <a:latin typeface="Unbounded"/>
                <a:ea typeface="Unbounded"/>
                <a:cs typeface="Unbounded"/>
                <a:sym typeface="Unbounded"/>
              </a:rPr>
              <a:t>Відсутність довіри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2"/>
          <p:cNvSpPr/>
          <p:nvPr/>
        </p:nvSpPr>
        <p:spPr>
          <a:xfrm>
            <a:off x="1325880" y="1965960"/>
            <a:ext cx="28346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46870"/>
              </a:buClr>
              <a:buSzPts val="1100"/>
              <a:buFont typeface="Manrope"/>
              <a:buNone/>
            </a:pPr>
            <a:r>
              <a:rPr b="0" i="0" lang="en-US" sz="1100" u="none" cap="none" strike="noStrike">
                <a:solidFill>
                  <a:srgbClr val="646870"/>
                </a:solidFill>
                <a:latin typeface="Manrope"/>
                <a:ea typeface="Manrope"/>
                <a:cs typeface="Manrope"/>
                <a:sym typeface="Manrope"/>
              </a:rPr>
              <a:t>Індекс довіри в галузі ≈ 12 з 100.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46870"/>
              </a:buClr>
              <a:buSzPts val="1100"/>
              <a:buFont typeface="Manrope"/>
              <a:buNone/>
            </a:pPr>
            <a:r>
              <a:rPr b="0" i="0" lang="en-US" sz="1100" u="none" cap="none" strike="noStrike">
                <a:solidFill>
                  <a:srgbClr val="646870"/>
                </a:solidFill>
                <a:latin typeface="Manrope"/>
                <a:ea typeface="Manrope"/>
                <a:cs typeface="Manrope"/>
                <a:sym typeface="Manrope"/>
              </a:rPr>
              <a:t>Банки не довіряють даним агентів,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46870"/>
              </a:buClr>
              <a:buSzPts val="1100"/>
              <a:buFont typeface="Manrope"/>
              <a:buNone/>
            </a:pPr>
            <a:r>
              <a:rPr b="0" i="0" lang="en-US" sz="1100" u="none" cap="none" strike="noStrike">
                <a:solidFill>
                  <a:srgbClr val="646870"/>
                </a:solidFill>
                <a:latin typeface="Manrope"/>
                <a:ea typeface="Manrope"/>
                <a:cs typeface="Manrope"/>
                <a:sym typeface="Manrope"/>
              </a:rPr>
              <a:t>агенти не довіряють один одному.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2"/>
          <p:cNvSpPr/>
          <p:nvPr/>
        </p:nvSpPr>
        <p:spPr>
          <a:xfrm>
            <a:off x="4754880" y="1508760"/>
            <a:ext cx="3749040" cy="1371600"/>
          </a:xfrm>
          <a:prstGeom prst="roundRect">
            <a:avLst>
              <a:gd fmla="val 6667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254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5" name="Google Shape;35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937760" y="169164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36;p2"/>
          <p:cNvSpPr/>
          <p:nvPr/>
        </p:nvSpPr>
        <p:spPr>
          <a:xfrm>
            <a:off x="5440680" y="1645920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141A"/>
              </a:buClr>
              <a:buSzPts val="1300"/>
              <a:buFont typeface="Unbounded"/>
              <a:buNone/>
            </a:pPr>
            <a:r>
              <a:rPr b="1" i="0" lang="en-US" sz="1300" u="none" cap="none" strike="noStrike">
                <a:solidFill>
                  <a:srgbClr val="12141A"/>
                </a:solidFill>
                <a:latin typeface="Unbounded"/>
                <a:ea typeface="Unbounded"/>
                <a:cs typeface="Unbounded"/>
                <a:sym typeface="Unbounded"/>
              </a:rPr>
              <a:t>Фрагментація ринку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2"/>
          <p:cNvSpPr/>
          <p:nvPr/>
        </p:nvSpPr>
        <p:spPr>
          <a:xfrm>
            <a:off x="5440680" y="1965960"/>
            <a:ext cx="28346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46870"/>
              </a:buClr>
              <a:buSzPts val="1100"/>
              <a:buFont typeface="Manrope"/>
              <a:buNone/>
            </a:pPr>
            <a:r>
              <a:rPr b="0" i="0" lang="en-US" sz="1100" u="none" cap="none" strike="noStrike">
                <a:solidFill>
                  <a:srgbClr val="646870"/>
                </a:solidFill>
                <a:latin typeface="Manrope"/>
                <a:ea typeface="Manrope"/>
                <a:cs typeface="Manrope"/>
                <a:sym typeface="Manrope"/>
              </a:rPr>
              <a:t>150 000+ агентів в Україні працюють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46870"/>
              </a:buClr>
              <a:buSzPts val="1100"/>
              <a:buFont typeface="Manrope"/>
              <a:buNone/>
            </a:pPr>
            <a:r>
              <a:rPr b="0" i="0" lang="en-US" sz="1100" u="none" cap="none" strike="noStrike">
                <a:solidFill>
                  <a:srgbClr val="646870"/>
                </a:solidFill>
                <a:latin typeface="Manrope"/>
                <a:ea typeface="Manrope"/>
                <a:cs typeface="Manrope"/>
                <a:sym typeface="Manrope"/>
              </a:rPr>
              <a:t>ізольовано. Дані не синхронізовані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46870"/>
              </a:buClr>
              <a:buSzPts val="1100"/>
              <a:buFont typeface="Manrope"/>
              <a:buNone/>
            </a:pPr>
            <a:r>
              <a:rPr b="0" i="0" lang="en-US" sz="1100" u="none" cap="none" strike="noStrike">
                <a:solidFill>
                  <a:srgbClr val="646870"/>
                </a:solidFill>
                <a:latin typeface="Manrope"/>
                <a:ea typeface="Manrope"/>
                <a:cs typeface="Manrope"/>
                <a:sym typeface="Manrope"/>
              </a:rPr>
              <a:t>з банками та реєстрами.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2"/>
          <p:cNvSpPr/>
          <p:nvPr/>
        </p:nvSpPr>
        <p:spPr>
          <a:xfrm>
            <a:off x="640080" y="3063240"/>
            <a:ext cx="3749040" cy="1371600"/>
          </a:xfrm>
          <a:prstGeom prst="roundRect">
            <a:avLst>
              <a:gd fmla="val 6667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254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9" name="Google Shape;39;p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22960" y="324612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Google Shape;40;p2"/>
          <p:cNvSpPr/>
          <p:nvPr/>
        </p:nvSpPr>
        <p:spPr>
          <a:xfrm>
            <a:off x="1325880" y="3200400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141A"/>
              </a:buClr>
              <a:buSzPts val="1300"/>
              <a:buFont typeface="Unbounded"/>
              <a:buNone/>
            </a:pPr>
            <a:r>
              <a:rPr b="1" i="0" lang="en-US" sz="1300" u="none" cap="none" strike="noStrike">
                <a:solidFill>
                  <a:srgbClr val="12141A"/>
                </a:solidFill>
                <a:latin typeface="Unbounded"/>
                <a:ea typeface="Unbounded"/>
                <a:cs typeface="Unbounded"/>
                <a:sym typeface="Unbounded"/>
              </a:rPr>
              <a:t>Довгі цикли угод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1325880" y="3520440"/>
            <a:ext cx="28346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46870"/>
              </a:buClr>
              <a:buSzPts val="1100"/>
              <a:buFont typeface="Manrope"/>
              <a:buNone/>
            </a:pPr>
            <a:r>
              <a:rPr b="0" i="0" lang="en-US" sz="1100" u="none" cap="none" strike="noStrike">
                <a:solidFill>
                  <a:srgbClr val="646870"/>
                </a:solidFill>
                <a:latin typeface="Manrope"/>
                <a:ea typeface="Manrope"/>
                <a:cs typeface="Manrope"/>
                <a:sym typeface="Manrope"/>
              </a:rPr>
              <a:t>Закриття угоди займає 45–90 днів.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46870"/>
              </a:buClr>
              <a:buSzPts val="1100"/>
              <a:buFont typeface="Manrope"/>
              <a:buNone/>
            </a:pPr>
            <a:r>
              <a:rPr b="0" i="0" lang="en-US" sz="1100" u="none" cap="none" strike="noStrike">
                <a:solidFill>
                  <a:srgbClr val="646870"/>
                </a:solidFill>
                <a:latin typeface="Manrope"/>
                <a:ea typeface="Manrope"/>
                <a:cs typeface="Manrope"/>
                <a:sym typeface="Manrope"/>
              </a:rPr>
              <a:t>Ручні процеси, дублювання документів,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46870"/>
              </a:buClr>
              <a:buSzPts val="1100"/>
              <a:buFont typeface="Manrope"/>
              <a:buNone/>
            </a:pPr>
            <a:r>
              <a:rPr b="0" i="0" lang="en-US" sz="1100" u="none" cap="none" strike="noStrike">
                <a:solidFill>
                  <a:srgbClr val="646870"/>
                </a:solidFill>
                <a:latin typeface="Manrope"/>
                <a:ea typeface="Manrope"/>
                <a:cs typeface="Manrope"/>
                <a:sym typeface="Manrope"/>
              </a:rPr>
              <a:t>відсутність стандартів.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2"/>
          <p:cNvSpPr/>
          <p:nvPr/>
        </p:nvSpPr>
        <p:spPr>
          <a:xfrm>
            <a:off x="4754880" y="3063240"/>
            <a:ext cx="3749040" cy="1371600"/>
          </a:xfrm>
          <a:prstGeom prst="roundRect">
            <a:avLst>
              <a:gd fmla="val 6667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254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3" name="Google Shape;43;p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937760" y="324612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2"/>
          <p:cNvSpPr/>
          <p:nvPr/>
        </p:nvSpPr>
        <p:spPr>
          <a:xfrm>
            <a:off x="5440680" y="3200400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141A"/>
              </a:buClr>
              <a:buSzPts val="1300"/>
              <a:buFont typeface="Unbounded"/>
              <a:buNone/>
            </a:pPr>
            <a:r>
              <a:rPr b="1" i="0" lang="en-US" sz="1300" u="none" cap="none" strike="noStrike">
                <a:solidFill>
                  <a:srgbClr val="12141A"/>
                </a:solidFill>
                <a:latin typeface="Unbounded"/>
                <a:ea typeface="Unbounded"/>
                <a:cs typeface="Unbounded"/>
                <a:sym typeface="Unbounded"/>
              </a:rPr>
              <a:t>Непрозорість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2"/>
          <p:cNvSpPr/>
          <p:nvPr/>
        </p:nvSpPr>
        <p:spPr>
          <a:xfrm>
            <a:off x="5440680" y="3520440"/>
            <a:ext cx="28346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46870"/>
              </a:buClr>
              <a:buSzPts val="1100"/>
              <a:buFont typeface="Manrope"/>
              <a:buNone/>
            </a:pPr>
            <a:r>
              <a:rPr b="0" i="0" lang="en-US" sz="1100" u="none" cap="none" strike="noStrike">
                <a:solidFill>
                  <a:srgbClr val="646870"/>
                </a:solidFill>
                <a:latin typeface="Manrope"/>
                <a:ea typeface="Manrope"/>
                <a:cs typeface="Manrope"/>
                <a:sym typeface="Manrope"/>
              </a:rPr>
              <a:t>В Україні відсутні публічні реєстри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46870"/>
              </a:buClr>
              <a:buSzPts val="1100"/>
              <a:buFont typeface="Manrope"/>
              <a:buNone/>
            </a:pPr>
            <a:r>
              <a:rPr b="0" i="0" lang="en-US" sz="1100" u="none" cap="none" strike="noStrike">
                <a:solidFill>
                  <a:srgbClr val="646870"/>
                </a:solidFill>
                <a:latin typeface="Manrope"/>
                <a:ea typeface="Manrope"/>
                <a:cs typeface="Manrope"/>
                <a:sym typeface="Manrope"/>
              </a:rPr>
              <a:t>угод. Неможливо перевірити реальні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46870"/>
              </a:buClr>
              <a:buSzPts val="1100"/>
              <a:buFont typeface="Manrope"/>
              <a:buNone/>
            </a:pPr>
            <a:r>
              <a:rPr b="0" i="0" lang="en-US" sz="1100" u="none" cap="none" strike="noStrike">
                <a:solidFill>
                  <a:srgbClr val="646870"/>
                </a:solidFill>
                <a:latin typeface="Manrope"/>
                <a:ea typeface="Manrope"/>
                <a:cs typeface="Manrope"/>
                <a:sym typeface="Manrope"/>
              </a:rPr>
              <a:t>ціни та умови.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5FC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claude/logo_banda.png" id="51" name="Google Shape;51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0072" y="4631425"/>
            <a:ext cx="822960" cy="28346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home/claude/logo_banda.png" id="52" name="Google Shape;52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4568" y="320040"/>
            <a:ext cx="1280160" cy="448056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3"/>
          <p:cNvSpPr/>
          <p:nvPr/>
        </p:nvSpPr>
        <p:spPr>
          <a:xfrm>
            <a:off x="638221" y="914400"/>
            <a:ext cx="82296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141A"/>
              </a:buClr>
              <a:buSzPts val="2600"/>
              <a:buFont typeface="Unbounded"/>
              <a:buNone/>
            </a:pPr>
            <a:r>
              <a:rPr b="1" i="0" lang="en-US" sz="2600" u="none" cap="none" strike="noStrike">
                <a:solidFill>
                  <a:srgbClr val="12141A"/>
                </a:solidFill>
                <a:latin typeface="Unbounded"/>
                <a:ea typeface="Unbounded"/>
                <a:cs typeface="Unbounded"/>
                <a:sym typeface="Unbounded"/>
              </a:rPr>
              <a:t>Що таке </a:t>
            </a:r>
            <a:r>
              <a:rPr b="1" i="0" lang="en-US" sz="2600" u="none" cap="none" strike="noStrike">
                <a:solidFill>
                  <a:srgbClr val="6C4CEB"/>
                </a:solidFill>
                <a:latin typeface="Unbounded"/>
                <a:ea typeface="Unbounded"/>
                <a:cs typeface="Unbounded"/>
                <a:sym typeface="Unbounded"/>
              </a:rPr>
              <a:t>BANDA</a:t>
            </a:r>
            <a:r>
              <a:rPr b="1" i="0" lang="en-US" sz="2600" u="none" cap="none" strike="noStrike">
                <a:solidFill>
                  <a:srgbClr val="12141A"/>
                </a:solidFill>
                <a:latin typeface="Unbounded"/>
                <a:ea typeface="Unbounded"/>
                <a:cs typeface="Unbounded"/>
                <a:sym typeface="Unbounded"/>
              </a:rPr>
              <a:t>?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3"/>
          <p:cNvSpPr/>
          <p:nvPr/>
        </p:nvSpPr>
        <p:spPr>
          <a:xfrm>
            <a:off x="532109" y="1474145"/>
            <a:ext cx="54864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C4CEB"/>
              </a:buClr>
              <a:buSzPts val="1400"/>
              <a:buFont typeface="Manrope"/>
              <a:buNone/>
            </a:pPr>
            <a:r>
              <a:rPr b="0" i="1" lang="en-US" sz="1400" u="none" cap="none" strike="noStrike">
                <a:solidFill>
                  <a:srgbClr val="6C4CEB"/>
                </a:solidFill>
                <a:latin typeface="Manrope"/>
                <a:ea typeface="Manrope"/>
                <a:cs typeface="Manrope"/>
                <a:sym typeface="Manrope"/>
              </a:rPr>
              <a:t>Не маркетплейс. Не CRM. Інфраструктура довіри.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3"/>
          <p:cNvSpPr/>
          <p:nvPr/>
        </p:nvSpPr>
        <p:spPr>
          <a:xfrm>
            <a:off x="546443" y="2129645"/>
            <a:ext cx="5029200" cy="128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92C33"/>
              </a:buClr>
              <a:buSzPts val="1250"/>
              <a:buFont typeface="Manrope"/>
              <a:buNone/>
            </a:pPr>
            <a:r>
              <a:rPr b="0" i="0" lang="en-US" sz="1250" u="none" cap="none" strike="noStrike">
                <a:solidFill>
                  <a:srgbClr val="292C33"/>
                </a:solidFill>
                <a:latin typeface="Manrope"/>
                <a:ea typeface="Manrope"/>
                <a:cs typeface="Manrope"/>
                <a:sym typeface="Manrope"/>
              </a:rPr>
              <a:t>BANDA — це proptech-платформа, яка об'єднує всіх учасників ринку нерухомості в єдину цифрову інфраструктуру: агентів, муніципалітети, банки, девелоперів, покупців та інвесторів. Платформа стандартизує, верифікує та оркеструє дані між усіма учасниками, створюючи прозорий та захищений транзакційний потік.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3"/>
          <p:cNvSpPr/>
          <p:nvPr/>
        </p:nvSpPr>
        <p:spPr>
          <a:xfrm>
            <a:off x="5760720" y="1463040"/>
            <a:ext cx="3017520" cy="384048"/>
          </a:xfrm>
          <a:prstGeom prst="roundRect">
            <a:avLst>
              <a:gd fmla="val 11905" name="adj"/>
            </a:avLst>
          </a:prstGeom>
          <a:solidFill>
            <a:srgbClr val="EDE8F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7" name="Google Shape;57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52160" y="1527048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3"/>
          <p:cNvSpPr/>
          <p:nvPr/>
        </p:nvSpPr>
        <p:spPr>
          <a:xfrm>
            <a:off x="6217920" y="1463040"/>
            <a:ext cx="24688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141A"/>
              </a:buClr>
              <a:buSzPts val="1100"/>
              <a:buFont typeface="Manrope"/>
              <a:buNone/>
            </a:pPr>
            <a:r>
              <a:rPr b="0" i="0" lang="en-US" sz="1100" u="none" cap="none" strike="noStrike">
                <a:solidFill>
                  <a:srgbClr val="12141A"/>
                </a:solidFill>
                <a:latin typeface="Manrope"/>
                <a:ea typeface="Manrope"/>
                <a:cs typeface="Manrope"/>
                <a:sym typeface="Manrope"/>
              </a:rPr>
              <a:t>Безкоштовний доступ для агентів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3"/>
          <p:cNvSpPr/>
          <p:nvPr/>
        </p:nvSpPr>
        <p:spPr>
          <a:xfrm>
            <a:off x="5760720" y="1938528"/>
            <a:ext cx="3017520" cy="384048"/>
          </a:xfrm>
          <a:prstGeom prst="roundRect">
            <a:avLst>
              <a:gd fmla="val 11905" name="adj"/>
            </a:avLst>
          </a:prstGeom>
          <a:solidFill>
            <a:srgbClr val="EDE8F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0" name="Google Shape;60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52160" y="2002536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3"/>
          <p:cNvSpPr/>
          <p:nvPr/>
        </p:nvSpPr>
        <p:spPr>
          <a:xfrm>
            <a:off x="6217920" y="1938528"/>
            <a:ext cx="24688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141A"/>
              </a:buClr>
              <a:buSzPts val="1100"/>
              <a:buFont typeface="Manrope"/>
              <a:buNone/>
            </a:pPr>
            <a:r>
              <a:rPr b="0" i="0" lang="en-US" sz="1100" u="none" cap="none" strike="noStrike">
                <a:solidFill>
                  <a:srgbClr val="12141A"/>
                </a:solidFill>
                <a:latin typeface="Manrope"/>
                <a:ea typeface="Manrope"/>
                <a:cs typeface="Manrope"/>
                <a:sym typeface="Manrope"/>
              </a:rPr>
              <a:t>Прозорість кожної угоди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3"/>
          <p:cNvSpPr/>
          <p:nvPr/>
        </p:nvSpPr>
        <p:spPr>
          <a:xfrm>
            <a:off x="5760720" y="2414016"/>
            <a:ext cx="3017520" cy="384048"/>
          </a:xfrm>
          <a:prstGeom prst="roundRect">
            <a:avLst>
              <a:gd fmla="val 11905" name="adj"/>
            </a:avLst>
          </a:prstGeom>
          <a:solidFill>
            <a:srgbClr val="EDE8F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3" name="Google Shape;63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52160" y="2478024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3"/>
          <p:cNvSpPr/>
          <p:nvPr/>
        </p:nvSpPr>
        <p:spPr>
          <a:xfrm>
            <a:off x="6217920" y="2414016"/>
            <a:ext cx="24688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141A"/>
              </a:buClr>
              <a:buSzPts val="1100"/>
              <a:buFont typeface="Manrope"/>
              <a:buNone/>
            </a:pPr>
            <a:r>
              <a:rPr b="0" i="0" lang="en-US" sz="1100" u="none" cap="none" strike="noStrike">
                <a:solidFill>
                  <a:srgbClr val="12141A"/>
                </a:solidFill>
                <a:latin typeface="Manrope"/>
                <a:ea typeface="Manrope"/>
                <a:cs typeface="Manrope"/>
                <a:sym typeface="Manrope"/>
              </a:rPr>
              <a:t>AI-верифікація документів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3"/>
          <p:cNvSpPr/>
          <p:nvPr/>
        </p:nvSpPr>
        <p:spPr>
          <a:xfrm>
            <a:off x="5760720" y="2889504"/>
            <a:ext cx="3017520" cy="384048"/>
          </a:xfrm>
          <a:prstGeom prst="roundRect">
            <a:avLst>
              <a:gd fmla="val 11905" name="adj"/>
            </a:avLst>
          </a:prstGeom>
          <a:solidFill>
            <a:srgbClr val="EDE8F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6" name="Google Shape;66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52160" y="2953512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3"/>
          <p:cNvSpPr/>
          <p:nvPr/>
        </p:nvSpPr>
        <p:spPr>
          <a:xfrm>
            <a:off x="6217920" y="2889504"/>
            <a:ext cx="24688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141A"/>
              </a:buClr>
              <a:buSzPts val="1100"/>
              <a:buFont typeface="Manrope"/>
              <a:buNone/>
            </a:pPr>
            <a:r>
              <a:rPr b="0" i="0" lang="en-US" sz="1100" u="none" cap="none" strike="noStrike">
                <a:solidFill>
                  <a:srgbClr val="12141A"/>
                </a:solidFill>
                <a:latin typeface="Manrope"/>
                <a:ea typeface="Manrope"/>
                <a:cs typeface="Manrope"/>
                <a:sym typeface="Manrope"/>
              </a:rPr>
              <a:t>Стандартизовані дані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3"/>
          <p:cNvSpPr/>
          <p:nvPr/>
        </p:nvSpPr>
        <p:spPr>
          <a:xfrm>
            <a:off x="5760720" y="3364992"/>
            <a:ext cx="3017520" cy="384048"/>
          </a:xfrm>
          <a:prstGeom prst="roundRect">
            <a:avLst>
              <a:gd fmla="val 11905" name="adj"/>
            </a:avLst>
          </a:prstGeom>
          <a:solidFill>
            <a:srgbClr val="EDE8F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9" name="Google Shape;69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52160" y="3429000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3"/>
          <p:cNvSpPr/>
          <p:nvPr/>
        </p:nvSpPr>
        <p:spPr>
          <a:xfrm>
            <a:off x="6217920" y="3364992"/>
            <a:ext cx="24688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141A"/>
              </a:buClr>
              <a:buSzPts val="1100"/>
              <a:buFont typeface="Manrope"/>
              <a:buNone/>
            </a:pPr>
            <a:r>
              <a:rPr b="0" i="0" lang="en-US" sz="1100" u="none" cap="none" strike="noStrike">
                <a:solidFill>
                  <a:srgbClr val="12141A"/>
                </a:solidFill>
                <a:latin typeface="Manrope"/>
                <a:ea typeface="Manrope"/>
                <a:cs typeface="Manrope"/>
                <a:sym typeface="Manrope"/>
              </a:rPr>
              <a:t>Міжнародний доступ до об'єктів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3"/>
          <p:cNvSpPr/>
          <p:nvPr/>
        </p:nvSpPr>
        <p:spPr>
          <a:xfrm>
            <a:off x="539642" y="4053840"/>
            <a:ext cx="4572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6870"/>
              </a:buClr>
              <a:buSzPts val="1000"/>
              <a:buFont typeface="Manrope"/>
              <a:buNone/>
            </a:pPr>
            <a:r>
              <a:rPr b="0" i="0" lang="en-US" sz="1000" u="none" cap="none" strike="noStrike">
                <a:solidFill>
                  <a:srgbClr val="646870"/>
                </a:solidFill>
                <a:latin typeface="Manrope"/>
                <a:ea typeface="Manrope"/>
                <a:cs typeface="Manrope"/>
                <a:sym typeface="Manrope"/>
              </a:rPr>
              <a:t>HQ: UAE  •  SPV: Spain &amp; Ukraine  •  Seed Stage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5FC"/>
        </a:solidFill>
      </p:bgPr>
    </p:bg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claude/logo_banda.png" id="77" name="Google Shape;77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0800" y="4631425"/>
            <a:ext cx="822960" cy="283464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4"/>
          <p:cNvSpPr/>
          <p:nvPr/>
        </p:nvSpPr>
        <p:spPr>
          <a:xfrm>
            <a:off x="640080" y="32004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141A"/>
              </a:buClr>
              <a:buSzPts val="2600"/>
              <a:buFont typeface="Unbounded"/>
              <a:buNone/>
            </a:pPr>
            <a:r>
              <a:rPr b="1" i="0" lang="en-US" sz="2600" u="none" cap="none" strike="noStrike">
                <a:solidFill>
                  <a:srgbClr val="12141A"/>
                </a:solidFill>
                <a:latin typeface="Unbounded"/>
                <a:ea typeface="Unbounded"/>
                <a:cs typeface="Unbounded"/>
                <a:sym typeface="Unbounded"/>
              </a:rPr>
              <a:t>Як це </a:t>
            </a:r>
            <a:r>
              <a:rPr b="1" i="0" lang="en-US" sz="2600" u="none" cap="none" strike="noStrike">
                <a:solidFill>
                  <a:srgbClr val="6C4CEB"/>
                </a:solidFill>
                <a:latin typeface="Unbounded"/>
                <a:ea typeface="Unbounded"/>
                <a:cs typeface="Unbounded"/>
                <a:sym typeface="Unbounded"/>
              </a:rPr>
              <a:t>працює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4"/>
          <p:cNvSpPr/>
          <p:nvPr/>
        </p:nvSpPr>
        <p:spPr>
          <a:xfrm>
            <a:off x="532669" y="822960"/>
            <a:ext cx="7315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6870"/>
              </a:buClr>
              <a:buSzPts val="1300"/>
              <a:buFont typeface="Manrope"/>
              <a:buNone/>
            </a:pPr>
            <a:r>
              <a:rPr b="0" i="0" lang="en-US" sz="1300" u="none" cap="none" strike="noStrike">
                <a:solidFill>
                  <a:srgbClr val="646870"/>
                </a:solidFill>
                <a:latin typeface="Manrope"/>
                <a:ea typeface="Manrope"/>
                <a:cs typeface="Manrope"/>
                <a:sym typeface="Manrope"/>
              </a:rPr>
              <a:t>4 кроки, що перетворюють хаос ринку на прозорий процес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4"/>
          <p:cNvSpPr/>
          <p:nvPr/>
        </p:nvSpPr>
        <p:spPr>
          <a:xfrm>
            <a:off x="640025" y="1219200"/>
            <a:ext cx="1923300" cy="2594100"/>
          </a:xfrm>
          <a:prstGeom prst="roundRect">
            <a:avLst>
              <a:gd fmla="val 4651" name="adj"/>
            </a:avLst>
          </a:prstGeom>
          <a:solidFill>
            <a:srgbClr val="FFFFFF"/>
          </a:solidFill>
          <a:ln>
            <a:noFill/>
          </a:ln>
          <a:effectLst>
            <a:outerShdw blurRad="99392" rotWithShape="0" algn="bl" dir="8100000" dist="24848">
              <a:srgbClr val="000000">
                <a:alpha val="5882"/>
              </a:srgbClr>
            </a:outerShdw>
          </a:effectLst>
        </p:spPr>
        <p:txBody>
          <a:bodyPr anchorCtr="0" anchor="ctr" bIns="89450" lIns="89450" spcFirstLastPara="1" rIns="89450" wrap="square" tIns="89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4"/>
          <p:cNvSpPr/>
          <p:nvPr/>
        </p:nvSpPr>
        <p:spPr>
          <a:xfrm>
            <a:off x="774204" y="1308653"/>
            <a:ext cx="536700" cy="31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C4CEB"/>
              </a:buClr>
              <a:buSzPts val="1370"/>
              <a:buFont typeface="Unbounded"/>
              <a:buNone/>
            </a:pPr>
            <a:r>
              <a:rPr b="1" i="0" lang="en-US" sz="1369" u="none" cap="none" strike="noStrike">
                <a:solidFill>
                  <a:srgbClr val="6C4CEB"/>
                </a:solidFill>
                <a:latin typeface="Unbounded"/>
                <a:ea typeface="Unbounded"/>
                <a:cs typeface="Unbounded"/>
                <a:sym typeface="Unbounded"/>
              </a:rPr>
              <a:t>01</a:t>
            </a:r>
            <a:endParaRPr b="0" i="0" sz="136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4"/>
          <p:cNvSpPr/>
          <p:nvPr/>
        </p:nvSpPr>
        <p:spPr>
          <a:xfrm>
            <a:off x="1176742" y="1711190"/>
            <a:ext cx="804900" cy="804900"/>
          </a:xfrm>
          <a:prstGeom prst="ellipse">
            <a:avLst/>
          </a:prstGeom>
          <a:solidFill>
            <a:srgbClr val="4B30B9"/>
          </a:solidFill>
          <a:ln>
            <a:noFill/>
          </a:ln>
        </p:spPr>
        <p:txBody>
          <a:bodyPr anchorCtr="0" anchor="ctr" bIns="89450" lIns="89450" spcFirstLastPara="1" rIns="89450" wrap="square" tIns="89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3" name="Google Shape;83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78011" y="1912459"/>
            <a:ext cx="402538" cy="402538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4"/>
          <p:cNvSpPr/>
          <p:nvPr/>
        </p:nvSpPr>
        <p:spPr>
          <a:xfrm>
            <a:off x="774204" y="2650444"/>
            <a:ext cx="1654800" cy="4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2141A"/>
              </a:buClr>
              <a:buSzPts val="1076"/>
              <a:buFont typeface="Unbounded"/>
              <a:buNone/>
            </a:pPr>
            <a:r>
              <a:rPr b="1" i="0" lang="en-US" sz="1076" u="none" cap="none" strike="noStrike">
                <a:solidFill>
                  <a:srgbClr val="12141A"/>
                </a:solidFill>
                <a:latin typeface="Unbounded"/>
                <a:ea typeface="Unbounded"/>
                <a:cs typeface="Unbounded"/>
                <a:sym typeface="Unbounded"/>
              </a:rPr>
              <a:t>Паспорт</a:t>
            </a:r>
            <a:endParaRPr b="0" i="0" sz="107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2141A"/>
              </a:buClr>
              <a:buSzPts val="1076"/>
              <a:buFont typeface="Unbounded"/>
              <a:buNone/>
            </a:pPr>
            <a:r>
              <a:rPr b="1" i="0" lang="en-US" sz="1076" u="none" cap="none" strike="noStrike">
                <a:solidFill>
                  <a:srgbClr val="12141A"/>
                </a:solidFill>
                <a:latin typeface="Unbounded"/>
                <a:ea typeface="Unbounded"/>
                <a:cs typeface="Unbounded"/>
                <a:sym typeface="Unbounded"/>
              </a:rPr>
              <a:t>об'єкта</a:t>
            </a:r>
            <a:endParaRPr b="0" i="0" sz="107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4"/>
          <p:cNvSpPr/>
          <p:nvPr/>
        </p:nvSpPr>
        <p:spPr>
          <a:xfrm>
            <a:off x="774204" y="3142434"/>
            <a:ext cx="1654800" cy="53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46870"/>
              </a:buClr>
              <a:buSzPts val="978"/>
              <a:buFont typeface="Manrope"/>
              <a:buNone/>
            </a:pPr>
            <a:r>
              <a:rPr b="0" i="0" lang="en-US" sz="978" u="none" cap="none" strike="noStrike">
                <a:solidFill>
                  <a:srgbClr val="646870"/>
                </a:solidFill>
                <a:latin typeface="Manrope"/>
                <a:ea typeface="Manrope"/>
                <a:cs typeface="Manrope"/>
                <a:sym typeface="Manrope"/>
              </a:rPr>
              <a:t>AI верифікує документи.</a:t>
            </a:r>
            <a:endParaRPr b="0" i="0" sz="97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46870"/>
              </a:buClr>
              <a:buSzPts val="978"/>
              <a:buFont typeface="Manrope"/>
              <a:buNone/>
            </a:pPr>
            <a:r>
              <a:rPr b="0" i="0" lang="en-US" sz="978" u="none" cap="none" strike="noStrike">
                <a:solidFill>
                  <a:srgbClr val="646870"/>
                </a:solidFill>
                <a:latin typeface="Manrope"/>
                <a:ea typeface="Manrope"/>
                <a:cs typeface="Manrope"/>
                <a:sym typeface="Manrope"/>
              </a:rPr>
              <a:t>Створюється цифровий актив.</a:t>
            </a:r>
            <a:endParaRPr b="0" i="0" sz="97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4"/>
          <p:cNvSpPr/>
          <p:nvPr/>
        </p:nvSpPr>
        <p:spPr>
          <a:xfrm>
            <a:off x="2563260" y="1845369"/>
            <a:ext cx="179100" cy="35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4700" lIns="89450" spcFirstLastPara="1" rIns="89450" wrap="square" tIns="44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C4CEB"/>
              </a:buClr>
              <a:buSzPts val="1565"/>
              <a:buFont typeface="Manrope"/>
              <a:buNone/>
            </a:pPr>
            <a:r>
              <a:rPr b="0" i="0" lang="en-US" sz="1565" u="none" cap="none" strike="noStrike">
                <a:solidFill>
                  <a:srgbClr val="6C4CEB"/>
                </a:solidFill>
                <a:latin typeface="Manrope"/>
                <a:ea typeface="Manrope"/>
                <a:cs typeface="Manrope"/>
                <a:sym typeface="Manrope"/>
              </a:rPr>
              <a:t>→</a:t>
            </a:r>
            <a:endParaRPr b="0" i="0" sz="156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4"/>
          <p:cNvSpPr/>
          <p:nvPr/>
        </p:nvSpPr>
        <p:spPr>
          <a:xfrm>
            <a:off x="2742166" y="1219200"/>
            <a:ext cx="1923300" cy="2594100"/>
          </a:xfrm>
          <a:prstGeom prst="roundRect">
            <a:avLst>
              <a:gd fmla="val 4651" name="adj"/>
            </a:avLst>
          </a:prstGeom>
          <a:solidFill>
            <a:srgbClr val="FFFFFF"/>
          </a:solidFill>
          <a:ln>
            <a:noFill/>
          </a:ln>
          <a:effectLst>
            <a:outerShdw blurRad="99392" rotWithShape="0" algn="bl" dir="8100000" dist="24848">
              <a:srgbClr val="000000">
                <a:alpha val="5882"/>
              </a:srgbClr>
            </a:outerShdw>
          </a:effectLst>
        </p:spPr>
        <p:txBody>
          <a:bodyPr anchorCtr="0" anchor="ctr" bIns="89450" lIns="89450" spcFirstLastPara="1" rIns="89450" wrap="square" tIns="89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4"/>
          <p:cNvSpPr/>
          <p:nvPr/>
        </p:nvSpPr>
        <p:spPr>
          <a:xfrm>
            <a:off x="2876345" y="1308653"/>
            <a:ext cx="536700" cy="31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C4CEB"/>
              </a:buClr>
              <a:buSzPts val="1370"/>
              <a:buFont typeface="Unbounded"/>
              <a:buNone/>
            </a:pPr>
            <a:r>
              <a:rPr b="1" i="0" lang="en-US" sz="1369" u="none" cap="none" strike="noStrike">
                <a:solidFill>
                  <a:srgbClr val="6C4CEB"/>
                </a:solidFill>
                <a:latin typeface="Unbounded"/>
                <a:ea typeface="Unbounded"/>
                <a:cs typeface="Unbounded"/>
                <a:sym typeface="Unbounded"/>
              </a:rPr>
              <a:t>02</a:t>
            </a:r>
            <a:endParaRPr b="0" i="0" sz="136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4"/>
          <p:cNvSpPr/>
          <p:nvPr/>
        </p:nvSpPr>
        <p:spPr>
          <a:xfrm>
            <a:off x="3278883" y="1711190"/>
            <a:ext cx="804900" cy="804900"/>
          </a:xfrm>
          <a:prstGeom prst="ellipse">
            <a:avLst/>
          </a:prstGeom>
          <a:solidFill>
            <a:srgbClr val="4B30B9"/>
          </a:solidFill>
          <a:ln>
            <a:noFill/>
          </a:ln>
        </p:spPr>
        <p:txBody>
          <a:bodyPr anchorCtr="0" anchor="ctr" bIns="89450" lIns="89450" spcFirstLastPara="1" rIns="89450" wrap="square" tIns="89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0" name="Google Shape;90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480152" y="1912459"/>
            <a:ext cx="402538" cy="402538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4"/>
          <p:cNvSpPr/>
          <p:nvPr/>
        </p:nvSpPr>
        <p:spPr>
          <a:xfrm>
            <a:off x="2876345" y="2650444"/>
            <a:ext cx="1654800" cy="4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2141A"/>
              </a:buClr>
              <a:buSzPts val="1076"/>
              <a:buFont typeface="Unbounded"/>
              <a:buNone/>
            </a:pPr>
            <a:r>
              <a:rPr b="1" i="0" lang="en-US" sz="1076" u="none" cap="none" strike="noStrike">
                <a:solidFill>
                  <a:srgbClr val="12141A"/>
                </a:solidFill>
                <a:latin typeface="Unbounded"/>
                <a:ea typeface="Unbounded"/>
                <a:cs typeface="Unbounded"/>
                <a:sym typeface="Unbounded"/>
              </a:rPr>
              <a:t>Matching</a:t>
            </a:r>
            <a:endParaRPr b="0" i="0" sz="107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2141A"/>
              </a:buClr>
              <a:buSzPts val="1076"/>
              <a:buFont typeface="Unbounded"/>
              <a:buNone/>
            </a:pPr>
            <a:r>
              <a:rPr b="1" i="0" lang="en-US" sz="1076" u="none" cap="none" strike="noStrike">
                <a:solidFill>
                  <a:srgbClr val="12141A"/>
                </a:solidFill>
                <a:latin typeface="Unbounded"/>
                <a:ea typeface="Unbounded"/>
                <a:cs typeface="Unbounded"/>
                <a:sym typeface="Unbounded"/>
              </a:rPr>
              <a:t>клієнт-об'єкт</a:t>
            </a:r>
            <a:endParaRPr b="0" i="0" sz="107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4"/>
          <p:cNvSpPr/>
          <p:nvPr/>
        </p:nvSpPr>
        <p:spPr>
          <a:xfrm>
            <a:off x="2876345" y="3142434"/>
            <a:ext cx="1654800" cy="53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46870"/>
              </a:buClr>
              <a:buSzPts val="978"/>
              <a:buFont typeface="Manrope"/>
              <a:buNone/>
            </a:pPr>
            <a:r>
              <a:rPr b="0" i="0" lang="en-US" sz="978" u="none" cap="none" strike="noStrike">
                <a:solidFill>
                  <a:srgbClr val="646870"/>
                </a:solidFill>
                <a:latin typeface="Manrope"/>
                <a:ea typeface="Manrope"/>
                <a:cs typeface="Manrope"/>
                <a:sym typeface="Manrope"/>
              </a:rPr>
              <a:t>Автоматичний підбір</a:t>
            </a:r>
            <a:endParaRPr b="0" i="0" sz="97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46870"/>
              </a:buClr>
              <a:buSzPts val="978"/>
              <a:buFont typeface="Manrope"/>
              <a:buNone/>
            </a:pPr>
            <a:r>
              <a:rPr b="0" i="0" lang="en-US" sz="978" u="none" cap="none" strike="noStrike">
                <a:solidFill>
                  <a:srgbClr val="646870"/>
                </a:solidFill>
                <a:latin typeface="Manrope"/>
                <a:ea typeface="Manrope"/>
                <a:cs typeface="Manrope"/>
                <a:sym typeface="Manrope"/>
              </a:rPr>
              <a:t>покупця до об'єкта.</a:t>
            </a:r>
            <a:endParaRPr b="0" i="0" sz="97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4"/>
          <p:cNvSpPr/>
          <p:nvPr/>
        </p:nvSpPr>
        <p:spPr>
          <a:xfrm>
            <a:off x="4665401" y="1845369"/>
            <a:ext cx="179100" cy="35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4700" lIns="89450" spcFirstLastPara="1" rIns="89450" wrap="square" tIns="44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C4CEB"/>
              </a:buClr>
              <a:buSzPts val="1565"/>
              <a:buFont typeface="Manrope"/>
              <a:buNone/>
            </a:pPr>
            <a:r>
              <a:rPr b="0" i="0" lang="en-US" sz="1565" u="none" cap="none" strike="noStrike">
                <a:solidFill>
                  <a:srgbClr val="6C4CEB"/>
                </a:solidFill>
                <a:latin typeface="Manrope"/>
                <a:ea typeface="Manrope"/>
                <a:cs typeface="Manrope"/>
                <a:sym typeface="Manrope"/>
              </a:rPr>
              <a:t>→</a:t>
            </a:r>
            <a:endParaRPr b="0" i="0" sz="156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4"/>
          <p:cNvSpPr/>
          <p:nvPr/>
        </p:nvSpPr>
        <p:spPr>
          <a:xfrm>
            <a:off x="4844307" y="1219200"/>
            <a:ext cx="1923300" cy="2594100"/>
          </a:xfrm>
          <a:prstGeom prst="roundRect">
            <a:avLst>
              <a:gd fmla="val 4651" name="adj"/>
            </a:avLst>
          </a:prstGeom>
          <a:solidFill>
            <a:srgbClr val="FFFFFF"/>
          </a:solidFill>
          <a:ln>
            <a:noFill/>
          </a:ln>
          <a:effectLst>
            <a:outerShdw blurRad="99392" rotWithShape="0" algn="bl" dir="8100000" dist="24848">
              <a:srgbClr val="000000">
                <a:alpha val="5882"/>
              </a:srgbClr>
            </a:outerShdw>
          </a:effectLst>
        </p:spPr>
        <p:txBody>
          <a:bodyPr anchorCtr="0" anchor="ctr" bIns="89450" lIns="89450" spcFirstLastPara="1" rIns="89450" wrap="square" tIns="89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4"/>
          <p:cNvSpPr/>
          <p:nvPr/>
        </p:nvSpPr>
        <p:spPr>
          <a:xfrm>
            <a:off x="4978486" y="1308653"/>
            <a:ext cx="536700" cy="31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C4CEB"/>
              </a:buClr>
              <a:buSzPts val="1370"/>
              <a:buFont typeface="Unbounded"/>
              <a:buNone/>
            </a:pPr>
            <a:r>
              <a:rPr b="1" i="0" lang="en-US" sz="1369" u="none" cap="none" strike="noStrike">
                <a:solidFill>
                  <a:srgbClr val="6C4CEB"/>
                </a:solidFill>
                <a:latin typeface="Unbounded"/>
                <a:ea typeface="Unbounded"/>
                <a:cs typeface="Unbounded"/>
                <a:sym typeface="Unbounded"/>
              </a:rPr>
              <a:t>03</a:t>
            </a:r>
            <a:endParaRPr b="0" i="0" sz="136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4"/>
          <p:cNvSpPr/>
          <p:nvPr/>
        </p:nvSpPr>
        <p:spPr>
          <a:xfrm>
            <a:off x="5381024" y="1711190"/>
            <a:ext cx="804900" cy="804900"/>
          </a:xfrm>
          <a:prstGeom prst="ellipse">
            <a:avLst/>
          </a:prstGeom>
          <a:solidFill>
            <a:srgbClr val="4B30B9"/>
          </a:solidFill>
          <a:ln>
            <a:noFill/>
          </a:ln>
        </p:spPr>
        <p:txBody>
          <a:bodyPr anchorCtr="0" anchor="ctr" bIns="89450" lIns="89450" spcFirstLastPara="1" rIns="89450" wrap="square" tIns="89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7" name="Google Shape;97;p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582293" y="1912459"/>
            <a:ext cx="402538" cy="402538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4"/>
          <p:cNvSpPr/>
          <p:nvPr/>
        </p:nvSpPr>
        <p:spPr>
          <a:xfrm>
            <a:off x="4978486" y="2650444"/>
            <a:ext cx="1654800" cy="4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2141A"/>
              </a:buClr>
              <a:buSzPts val="1076"/>
              <a:buFont typeface="Unbounded"/>
              <a:buNone/>
            </a:pPr>
            <a:r>
              <a:rPr b="1" i="0" lang="en-US" sz="1076" u="none" cap="none" strike="noStrike">
                <a:solidFill>
                  <a:srgbClr val="12141A"/>
                </a:solidFill>
                <a:latin typeface="Unbounded"/>
                <a:ea typeface="Unbounded"/>
                <a:cs typeface="Unbounded"/>
                <a:sym typeface="Unbounded"/>
              </a:rPr>
              <a:t>Маршрути-</a:t>
            </a:r>
            <a:endParaRPr b="0" i="0" sz="107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2141A"/>
              </a:buClr>
              <a:buSzPts val="1076"/>
              <a:buFont typeface="Unbounded"/>
              <a:buNone/>
            </a:pPr>
            <a:r>
              <a:rPr b="1" i="0" lang="en-US" sz="1076" u="none" cap="none" strike="noStrike">
                <a:solidFill>
                  <a:srgbClr val="12141A"/>
                </a:solidFill>
                <a:latin typeface="Unbounded"/>
                <a:ea typeface="Unbounded"/>
                <a:cs typeface="Unbounded"/>
                <a:sym typeface="Unbounded"/>
              </a:rPr>
              <a:t>зація</a:t>
            </a:r>
            <a:endParaRPr b="0" i="0" sz="107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4"/>
          <p:cNvSpPr/>
          <p:nvPr/>
        </p:nvSpPr>
        <p:spPr>
          <a:xfrm>
            <a:off x="4978486" y="3142434"/>
            <a:ext cx="1654800" cy="53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46870"/>
              </a:buClr>
              <a:buSzPts val="978"/>
              <a:buFont typeface="Manrope"/>
              <a:buNone/>
            </a:pPr>
            <a:r>
              <a:rPr b="0" i="0" lang="en-US" sz="978" u="none" cap="none" strike="noStrike">
                <a:solidFill>
                  <a:srgbClr val="646870"/>
                </a:solidFill>
                <a:latin typeface="Manrope"/>
                <a:ea typeface="Manrope"/>
                <a:cs typeface="Manrope"/>
                <a:sym typeface="Manrope"/>
              </a:rPr>
              <a:t>Подача в банки та</a:t>
            </a:r>
            <a:endParaRPr b="0" i="0" sz="97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46870"/>
              </a:buClr>
              <a:buSzPts val="978"/>
              <a:buFont typeface="Manrope"/>
              <a:buNone/>
            </a:pPr>
            <a:r>
              <a:rPr b="0" i="0" lang="en-US" sz="978" u="none" cap="none" strike="noStrike">
                <a:solidFill>
                  <a:srgbClr val="646870"/>
                </a:solidFill>
                <a:latin typeface="Manrope"/>
                <a:ea typeface="Manrope"/>
                <a:cs typeface="Manrope"/>
                <a:sym typeface="Manrope"/>
              </a:rPr>
              <a:t>відкриття escrow.</a:t>
            </a:r>
            <a:endParaRPr b="0" i="0" sz="97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4"/>
          <p:cNvSpPr/>
          <p:nvPr/>
        </p:nvSpPr>
        <p:spPr>
          <a:xfrm>
            <a:off x="6767542" y="1845369"/>
            <a:ext cx="179100" cy="35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4700" lIns="89450" spcFirstLastPara="1" rIns="89450" wrap="square" tIns="44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C4CEB"/>
              </a:buClr>
              <a:buSzPts val="1565"/>
              <a:buFont typeface="Manrope"/>
              <a:buNone/>
            </a:pPr>
            <a:r>
              <a:rPr b="0" i="0" lang="en-US" sz="1565" u="none" cap="none" strike="noStrike">
                <a:solidFill>
                  <a:srgbClr val="6C4CEB"/>
                </a:solidFill>
                <a:latin typeface="Manrope"/>
                <a:ea typeface="Manrope"/>
                <a:cs typeface="Manrope"/>
                <a:sym typeface="Manrope"/>
              </a:rPr>
              <a:t>→</a:t>
            </a:r>
            <a:endParaRPr b="0" i="0" sz="156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4"/>
          <p:cNvSpPr/>
          <p:nvPr/>
        </p:nvSpPr>
        <p:spPr>
          <a:xfrm>
            <a:off x="6946448" y="1219200"/>
            <a:ext cx="1923300" cy="2594100"/>
          </a:xfrm>
          <a:prstGeom prst="roundRect">
            <a:avLst>
              <a:gd fmla="val 4651" name="adj"/>
            </a:avLst>
          </a:prstGeom>
          <a:solidFill>
            <a:srgbClr val="FFFFFF"/>
          </a:solidFill>
          <a:ln>
            <a:noFill/>
          </a:ln>
          <a:effectLst>
            <a:outerShdw blurRad="99392" rotWithShape="0" algn="bl" dir="8100000" dist="24848">
              <a:srgbClr val="000000">
                <a:alpha val="5882"/>
              </a:srgbClr>
            </a:outerShdw>
          </a:effectLst>
        </p:spPr>
        <p:txBody>
          <a:bodyPr anchorCtr="0" anchor="ctr" bIns="89450" lIns="89450" spcFirstLastPara="1" rIns="89450" wrap="square" tIns="89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4"/>
          <p:cNvSpPr/>
          <p:nvPr/>
        </p:nvSpPr>
        <p:spPr>
          <a:xfrm>
            <a:off x="7080627" y="1308653"/>
            <a:ext cx="536700" cy="31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C4CEB"/>
              </a:buClr>
              <a:buSzPts val="1370"/>
              <a:buFont typeface="Unbounded"/>
              <a:buNone/>
            </a:pPr>
            <a:r>
              <a:rPr b="1" i="0" lang="en-US" sz="1369" u="none" cap="none" strike="noStrike">
                <a:solidFill>
                  <a:srgbClr val="6C4CEB"/>
                </a:solidFill>
                <a:latin typeface="Unbounded"/>
                <a:ea typeface="Unbounded"/>
                <a:cs typeface="Unbounded"/>
                <a:sym typeface="Unbounded"/>
              </a:rPr>
              <a:t>04</a:t>
            </a:r>
            <a:endParaRPr b="0" i="0" sz="136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4"/>
          <p:cNvSpPr/>
          <p:nvPr/>
        </p:nvSpPr>
        <p:spPr>
          <a:xfrm>
            <a:off x="7483165" y="1711190"/>
            <a:ext cx="804900" cy="804900"/>
          </a:xfrm>
          <a:prstGeom prst="ellipse">
            <a:avLst/>
          </a:prstGeom>
          <a:solidFill>
            <a:srgbClr val="4B30B9"/>
          </a:solidFill>
          <a:ln>
            <a:noFill/>
          </a:ln>
        </p:spPr>
        <p:txBody>
          <a:bodyPr anchorCtr="0" anchor="ctr" bIns="89450" lIns="89450" spcFirstLastPara="1" rIns="89450" wrap="square" tIns="89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04" name="Google Shape;104;p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684434" y="1912459"/>
            <a:ext cx="402538" cy="402538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4"/>
          <p:cNvSpPr/>
          <p:nvPr/>
        </p:nvSpPr>
        <p:spPr>
          <a:xfrm>
            <a:off x="7080627" y="2650444"/>
            <a:ext cx="1654800" cy="4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2141A"/>
              </a:buClr>
              <a:buSzPts val="1076"/>
              <a:buFont typeface="Unbounded"/>
              <a:buNone/>
            </a:pPr>
            <a:r>
              <a:rPr b="1" i="0" lang="en-US" sz="1076" u="none" cap="none" strike="noStrike">
                <a:solidFill>
                  <a:srgbClr val="12141A"/>
                </a:solidFill>
                <a:latin typeface="Unbounded"/>
                <a:ea typeface="Unbounded"/>
                <a:cs typeface="Unbounded"/>
                <a:sym typeface="Unbounded"/>
              </a:rPr>
              <a:t>Закриття</a:t>
            </a:r>
            <a:endParaRPr b="0" i="0" sz="107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2141A"/>
              </a:buClr>
              <a:buSzPts val="1076"/>
              <a:buFont typeface="Unbounded"/>
              <a:buNone/>
            </a:pPr>
            <a:r>
              <a:rPr b="1" i="0" lang="en-US" sz="1076" u="none" cap="none" strike="noStrike">
                <a:solidFill>
                  <a:srgbClr val="12141A"/>
                </a:solidFill>
                <a:latin typeface="Unbounded"/>
                <a:ea typeface="Unbounded"/>
                <a:cs typeface="Unbounded"/>
                <a:sym typeface="Unbounded"/>
              </a:rPr>
              <a:t>угоди</a:t>
            </a:r>
            <a:endParaRPr b="0" i="0" sz="107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4"/>
          <p:cNvSpPr/>
          <p:nvPr/>
        </p:nvSpPr>
        <p:spPr>
          <a:xfrm>
            <a:off x="7080627" y="3142434"/>
            <a:ext cx="1654800" cy="53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46870"/>
              </a:buClr>
              <a:buSzPts val="978"/>
              <a:buFont typeface="Manrope"/>
              <a:buNone/>
            </a:pPr>
            <a:r>
              <a:rPr b="0" i="0" lang="en-US" sz="978" u="none" cap="none" strike="noStrike">
                <a:solidFill>
                  <a:srgbClr val="646870"/>
                </a:solidFill>
                <a:latin typeface="Manrope"/>
                <a:ea typeface="Manrope"/>
                <a:cs typeface="Manrope"/>
                <a:sym typeface="Manrope"/>
              </a:rPr>
              <a:t>Smart-контракти</a:t>
            </a:r>
            <a:endParaRPr b="0" i="0" sz="97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46870"/>
              </a:buClr>
              <a:buSzPts val="978"/>
              <a:buFont typeface="Manrope"/>
              <a:buNone/>
            </a:pPr>
            <a:r>
              <a:rPr b="0" i="0" lang="en-US" sz="978" u="none" cap="none" strike="noStrike">
                <a:solidFill>
                  <a:srgbClr val="646870"/>
                </a:solidFill>
                <a:latin typeface="Manrope"/>
                <a:ea typeface="Manrope"/>
                <a:cs typeface="Manrope"/>
                <a:sym typeface="Manrope"/>
              </a:rPr>
              <a:t>підтверджують умови.</a:t>
            </a:r>
            <a:endParaRPr b="0" i="0" sz="97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4"/>
          <p:cNvSpPr/>
          <p:nvPr/>
        </p:nvSpPr>
        <p:spPr>
          <a:xfrm>
            <a:off x="640811" y="3977640"/>
            <a:ext cx="8229600" cy="502800"/>
          </a:xfrm>
          <a:prstGeom prst="roundRect">
            <a:avLst>
              <a:gd fmla="val 18182" name="adj"/>
            </a:avLst>
          </a:prstGeom>
          <a:solidFill>
            <a:srgbClr val="4B30B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4"/>
          <p:cNvSpPr/>
          <p:nvPr/>
        </p:nvSpPr>
        <p:spPr>
          <a:xfrm>
            <a:off x="640811" y="3977640"/>
            <a:ext cx="82296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Manrope"/>
              <a:buNone/>
            </a:pPr>
            <a:r>
              <a:rPr b="0" i="0" lang="en-US" sz="1150" u="none" cap="none" strike="noStrike">
                <a:solidFill>
                  <a:srgbClr val="FFFFFF"/>
                </a:solidFill>
                <a:latin typeface="Manrope"/>
                <a:ea typeface="Manrope"/>
                <a:cs typeface="Manrope"/>
                <a:sym typeface="Manrope"/>
              </a:rPr>
              <a:t>Агент → гарантія комісії   •   Банк → менше ручних перевірок   •   Клієнт → прозорість та безпека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5FC"/>
        </a:solid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claude/logo_banda.png" id="114" name="Google Shape;114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0075" y="4631425"/>
            <a:ext cx="822960" cy="283464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5"/>
          <p:cNvSpPr/>
          <p:nvPr/>
        </p:nvSpPr>
        <p:spPr>
          <a:xfrm>
            <a:off x="627596" y="320040"/>
            <a:ext cx="82296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141A"/>
              </a:buClr>
              <a:buSzPts val="2600"/>
              <a:buFont typeface="Unbounded"/>
              <a:buNone/>
            </a:pPr>
            <a:r>
              <a:rPr b="1" i="0" lang="en-US" sz="2600" u="none" cap="none" strike="noStrike">
                <a:solidFill>
                  <a:srgbClr val="12141A"/>
                </a:solidFill>
                <a:latin typeface="Unbounded"/>
                <a:ea typeface="Unbounded"/>
                <a:cs typeface="Unbounded"/>
                <a:sym typeface="Unbounded"/>
              </a:rPr>
              <a:t>Цінність для </a:t>
            </a:r>
            <a:r>
              <a:rPr b="1" i="0" lang="en-US" sz="2600" u="none" cap="none" strike="noStrike">
                <a:solidFill>
                  <a:srgbClr val="6C4CEB"/>
                </a:solidFill>
                <a:latin typeface="Unbounded"/>
                <a:ea typeface="Unbounded"/>
                <a:cs typeface="Unbounded"/>
                <a:sym typeface="Unbounded"/>
              </a:rPr>
              <a:t>муніципалітетів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5"/>
          <p:cNvSpPr/>
          <p:nvPr/>
        </p:nvSpPr>
        <p:spPr>
          <a:xfrm>
            <a:off x="543859" y="822960"/>
            <a:ext cx="7315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6870"/>
              </a:buClr>
              <a:buSzPts val="1300"/>
              <a:buFont typeface="Manrope"/>
              <a:buNone/>
            </a:pPr>
            <a:r>
              <a:rPr b="0" i="0" lang="en-US" sz="1300" u="none" cap="none" strike="noStrike">
                <a:solidFill>
                  <a:srgbClr val="646870"/>
                </a:solidFill>
                <a:latin typeface="Manrope"/>
                <a:ea typeface="Manrope"/>
                <a:cs typeface="Manrope"/>
                <a:sym typeface="Manrope"/>
              </a:rPr>
              <a:t>Чому BANDA — це стратегічний інструмент для вашої громади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5"/>
          <p:cNvSpPr/>
          <p:nvPr/>
        </p:nvSpPr>
        <p:spPr>
          <a:xfrm>
            <a:off x="640075" y="1340389"/>
            <a:ext cx="2593500" cy="1475700"/>
          </a:xfrm>
          <a:prstGeom prst="roundRect">
            <a:avLst>
              <a:gd fmla="val 6061" name="adj"/>
            </a:avLst>
          </a:prstGeom>
          <a:solidFill>
            <a:srgbClr val="FFFFFF"/>
          </a:solidFill>
          <a:ln>
            <a:noFill/>
          </a:ln>
          <a:effectLst>
            <a:outerShdw blurRad="99367" rotWithShape="0" algn="bl" dir="8100000" dist="24842">
              <a:srgbClr val="000000">
                <a:alpha val="5882"/>
              </a:srgbClr>
            </a:outerShdw>
          </a:effectLst>
        </p:spPr>
        <p:txBody>
          <a:bodyPr anchorCtr="0" anchor="ctr" bIns="89425" lIns="89425" spcFirstLastPara="1" rIns="89425" wrap="square" tIns="89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5"/>
          <p:cNvSpPr/>
          <p:nvPr/>
        </p:nvSpPr>
        <p:spPr>
          <a:xfrm>
            <a:off x="774221" y="1474535"/>
            <a:ext cx="447300" cy="447300"/>
          </a:xfrm>
          <a:prstGeom prst="ellipse">
            <a:avLst/>
          </a:prstGeom>
          <a:solidFill>
            <a:srgbClr val="EDE8FD"/>
          </a:solidFill>
          <a:ln>
            <a:noFill/>
          </a:ln>
        </p:spPr>
        <p:txBody>
          <a:bodyPr anchorCtr="0" anchor="ctr" bIns="89425" lIns="89425" spcFirstLastPara="1" rIns="89425" wrap="square" tIns="89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19" name="Google Shape;119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86009" y="1586323"/>
            <a:ext cx="223576" cy="223576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5"/>
          <p:cNvSpPr/>
          <p:nvPr/>
        </p:nvSpPr>
        <p:spPr>
          <a:xfrm>
            <a:off x="1355519" y="1474535"/>
            <a:ext cx="1743900" cy="35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141A"/>
              </a:buClr>
              <a:buSzPts val="1125"/>
              <a:buFont typeface="Unbounded"/>
              <a:buNone/>
            </a:pPr>
            <a:r>
              <a:rPr b="1" i="0" lang="en-US" sz="1124" u="none" cap="none" strike="noStrike">
                <a:solidFill>
                  <a:srgbClr val="12141A"/>
                </a:solidFill>
                <a:latin typeface="Unbounded"/>
                <a:ea typeface="Unbounded"/>
                <a:cs typeface="Unbounded"/>
                <a:sym typeface="Unbounded"/>
              </a:rPr>
              <a:t>Прозорість ринку</a:t>
            </a:r>
            <a:endParaRPr b="0" i="0" sz="112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5"/>
          <p:cNvSpPr/>
          <p:nvPr/>
        </p:nvSpPr>
        <p:spPr>
          <a:xfrm>
            <a:off x="774221" y="1966402"/>
            <a:ext cx="2325300" cy="71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46870"/>
              </a:buClr>
              <a:buSzPts val="1027"/>
              <a:buFont typeface="Manrope"/>
              <a:buNone/>
            </a:pPr>
            <a:r>
              <a:rPr b="0" i="0" lang="en-US" sz="1026" u="none" cap="none" strike="noStrike">
                <a:solidFill>
                  <a:srgbClr val="646870"/>
                </a:solidFill>
                <a:latin typeface="Manrope"/>
                <a:ea typeface="Manrope"/>
                <a:cs typeface="Manrope"/>
                <a:sym typeface="Manrope"/>
              </a:rPr>
              <a:t>Цифровий стандарт для всіх угод.</a:t>
            </a:r>
            <a:endParaRPr b="0" i="0" sz="102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46870"/>
              </a:buClr>
              <a:buSzPts val="1027"/>
              <a:buFont typeface="Manrope"/>
              <a:buNone/>
            </a:pPr>
            <a:r>
              <a:rPr b="0" i="0" lang="en-US" sz="1026" u="none" cap="none" strike="noStrike">
                <a:solidFill>
                  <a:srgbClr val="646870"/>
                </a:solidFill>
                <a:latin typeface="Manrope"/>
                <a:ea typeface="Manrope"/>
                <a:cs typeface="Manrope"/>
                <a:sym typeface="Manrope"/>
              </a:rPr>
              <a:t>Захист громадян від шахрайства.</a:t>
            </a:r>
            <a:endParaRPr b="0" i="0" sz="102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5"/>
          <p:cNvSpPr/>
          <p:nvPr/>
        </p:nvSpPr>
        <p:spPr>
          <a:xfrm>
            <a:off x="3412420" y="1340389"/>
            <a:ext cx="2593500" cy="1475700"/>
          </a:xfrm>
          <a:prstGeom prst="roundRect">
            <a:avLst>
              <a:gd fmla="val 6061" name="adj"/>
            </a:avLst>
          </a:prstGeom>
          <a:solidFill>
            <a:srgbClr val="FFFFFF"/>
          </a:solidFill>
          <a:ln>
            <a:noFill/>
          </a:ln>
          <a:effectLst>
            <a:outerShdw blurRad="99367" rotWithShape="0" algn="bl" dir="8100000" dist="24842">
              <a:srgbClr val="000000">
                <a:alpha val="5882"/>
              </a:srgbClr>
            </a:outerShdw>
          </a:effectLst>
        </p:spPr>
        <p:txBody>
          <a:bodyPr anchorCtr="0" anchor="ctr" bIns="89425" lIns="89425" spcFirstLastPara="1" rIns="89425" wrap="square" tIns="89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5"/>
          <p:cNvSpPr/>
          <p:nvPr/>
        </p:nvSpPr>
        <p:spPr>
          <a:xfrm>
            <a:off x="3546566" y="1474535"/>
            <a:ext cx="447300" cy="447300"/>
          </a:xfrm>
          <a:prstGeom prst="ellipse">
            <a:avLst/>
          </a:prstGeom>
          <a:solidFill>
            <a:srgbClr val="EDE8FD"/>
          </a:solidFill>
          <a:ln>
            <a:noFill/>
          </a:ln>
        </p:spPr>
        <p:txBody>
          <a:bodyPr anchorCtr="0" anchor="ctr" bIns="89425" lIns="89425" spcFirstLastPara="1" rIns="89425" wrap="square" tIns="89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24" name="Google Shape;124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658354" y="1586323"/>
            <a:ext cx="223576" cy="223576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5"/>
          <p:cNvSpPr/>
          <p:nvPr/>
        </p:nvSpPr>
        <p:spPr>
          <a:xfrm>
            <a:off x="4127864" y="1474535"/>
            <a:ext cx="1743900" cy="35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141A"/>
              </a:buClr>
              <a:buSzPts val="1125"/>
              <a:buFont typeface="Unbounded"/>
              <a:buNone/>
            </a:pPr>
            <a:r>
              <a:rPr b="1" i="0" lang="en-US" sz="1124" u="none" cap="none" strike="noStrike">
                <a:solidFill>
                  <a:srgbClr val="12141A"/>
                </a:solidFill>
                <a:latin typeface="Unbounded"/>
                <a:ea typeface="Unbounded"/>
                <a:cs typeface="Unbounded"/>
                <a:sym typeface="Unbounded"/>
              </a:rPr>
              <a:t>Залучення інвестицій</a:t>
            </a:r>
            <a:endParaRPr b="0" i="0" sz="112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5"/>
          <p:cNvSpPr/>
          <p:nvPr/>
        </p:nvSpPr>
        <p:spPr>
          <a:xfrm>
            <a:off x="3546566" y="1966402"/>
            <a:ext cx="2325300" cy="71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46870"/>
              </a:buClr>
              <a:buSzPts val="1027"/>
              <a:buFont typeface="Manrope"/>
              <a:buNone/>
            </a:pPr>
            <a:r>
              <a:rPr b="0" i="0" lang="en-US" sz="1026" u="none" cap="none" strike="noStrike">
                <a:solidFill>
                  <a:srgbClr val="646870"/>
                </a:solidFill>
                <a:latin typeface="Manrope"/>
                <a:ea typeface="Manrope"/>
                <a:cs typeface="Manrope"/>
                <a:sym typeface="Manrope"/>
              </a:rPr>
              <a:t>PPP-механізми та співінвестування.</a:t>
            </a:r>
            <a:endParaRPr b="0" i="0" sz="102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46870"/>
              </a:buClr>
              <a:buSzPts val="1027"/>
              <a:buFont typeface="Manrope"/>
              <a:buNone/>
            </a:pPr>
            <a:r>
              <a:rPr b="0" i="0" lang="en-US" sz="1026" u="none" cap="none" strike="noStrike">
                <a:solidFill>
                  <a:srgbClr val="646870"/>
                </a:solidFill>
                <a:latin typeface="Manrope"/>
                <a:ea typeface="Manrope"/>
                <a:cs typeface="Manrope"/>
                <a:sym typeface="Manrope"/>
              </a:rPr>
              <a:t>Доступ до іноземного капіталу.</a:t>
            </a:r>
            <a:endParaRPr b="0" i="0" sz="102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5"/>
          <p:cNvSpPr/>
          <p:nvPr/>
        </p:nvSpPr>
        <p:spPr>
          <a:xfrm>
            <a:off x="6184765" y="1340389"/>
            <a:ext cx="2593500" cy="1475700"/>
          </a:xfrm>
          <a:prstGeom prst="roundRect">
            <a:avLst>
              <a:gd fmla="val 6061" name="adj"/>
            </a:avLst>
          </a:prstGeom>
          <a:solidFill>
            <a:srgbClr val="FFFFFF"/>
          </a:solidFill>
          <a:ln>
            <a:noFill/>
          </a:ln>
          <a:effectLst>
            <a:outerShdw blurRad="99367" rotWithShape="0" algn="bl" dir="8100000" dist="24842">
              <a:srgbClr val="000000">
                <a:alpha val="5882"/>
              </a:srgbClr>
            </a:outerShdw>
          </a:effectLst>
        </p:spPr>
        <p:txBody>
          <a:bodyPr anchorCtr="0" anchor="ctr" bIns="89425" lIns="89425" spcFirstLastPara="1" rIns="89425" wrap="square" tIns="89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5"/>
          <p:cNvSpPr/>
          <p:nvPr/>
        </p:nvSpPr>
        <p:spPr>
          <a:xfrm>
            <a:off x="6318911" y="1474535"/>
            <a:ext cx="447300" cy="447300"/>
          </a:xfrm>
          <a:prstGeom prst="ellipse">
            <a:avLst/>
          </a:prstGeom>
          <a:solidFill>
            <a:srgbClr val="EDE8FD"/>
          </a:solidFill>
          <a:ln>
            <a:noFill/>
          </a:ln>
        </p:spPr>
        <p:txBody>
          <a:bodyPr anchorCtr="0" anchor="ctr" bIns="89425" lIns="89425" spcFirstLastPara="1" rIns="89425" wrap="square" tIns="89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29" name="Google Shape;129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430699" y="1586323"/>
            <a:ext cx="223576" cy="223576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5"/>
          <p:cNvSpPr/>
          <p:nvPr/>
        </p:nvSpPr>
        <p:spPr>
          <a:xfrm>
            <a:off x="6900209" y="1474535"/>
            <a:ext cx="1743900" cy="35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141A"/>
              </a:buClr>
              <a:buSzPts val="1125"/>
              <a:buFont typeface="Unbounded"/>
              <a:buNone/>
            </a:pPr>
            <a:r>
              <a:rPr b="1" i="0" lang="en-US" sz="1124" u="none" cap="none" strike="noStrike">
                <a:solidFill>
                  <a:srgbClr val="12141A"/>
                </a:solidFill>
                <a:latin typeface="Unbounded"/>
                <a:ea typeface="Unbounded"/>
                <a:cs typeface="Unbounded"/>
                <a:sym typeface="Unbounded"/>
              </a:rPr>
              <a:t>Реінтеграція ветеранів</a:t>
            </a:r>
            <a:endParaRPr b="0" i="0" sz="112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5"/>
          <p:cNvSpPr/>
          <p:nvPr/>
        </p:nvSpPr>
        <p:spPr>
          <a:xfrm>
            <a:off x="6318911" y="1966402"/>
            <a:ext cx="2325300" cy="71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46870"/>
              </a:buClr>
              <a:buSzPts val="1027"/>
              <a:buFont typeface="Manrope"/>
              <a:buNone/>
            </a:pPr>
            <a:r>
              <a:rPr b="0" i="0" lang="en-US" sz="1026" u="none" cap="none" strike="noStrike">
                <a:solidFill>
                  <a:srgbClr val="646870"/>
                </a:solidFill>
                <a:latin typeface="Manrope"/>
                <a:ea typeface="Manrope"/>
                <a:cs typeface="Manrope"/>
                <a:sym typeface="Manrope"/>
              </a:rPr>
              <a:t>Безкоштовне навчання професії агента.</a:t>
            </a:r>
            <a:endParaRPr b="0" i="0" sz="102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46870"/>
              </a:buClr>
              <a:buSzPts val="1027"/>
              <a:buFont typeface="Manrope"/>
              <a:buNone/>
            </a:pPr>
            <a:r>
              <a:rPr b="0" i="0" lang="en-US" sz="1026" u="none" cap="none" strike="noStrike">
                <a:solidFill>
                  <a:srgbClr val="646870"/>
                </a:solidFill>
                <a:latin typeface="Manrope"/>
                <a:ea typeface="Manrope"/>
                <a:cs typeface="Manrope"/>
                <a:sym typeface="Manrope"/>
              </a:rPr>
              <a:t>Нова кар'єра для захисників.</a:t>
            </a:r>
            <a:endParaRPr b="0" i="0" sz="102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5"/>
          <p:cNvSpPr/>
          <p:nvPr/>
        </p:nvSpPr>
        <p:spPr>
          <a:xfrm>
            <a:off x="640075" y="2994852"/>
            <a:ext cx="2593500" cy="1475700"/>
          </a:xfrm>
          <a:prstGeom prst="roundRect">
            <a:avLst>
              <a:gd fmla="val 6061" name="adj"/>
            </a:avLst>
          </a:prstGeom>
          <a:solidFill>
            <a:srgbClr val="FFFFFF"/>
          </a:solidFill>
          <a:ln>
            <a:noFill/>
          </a:ln>
          <a:effectLst>
            <a:outerShdw blurRad="99367" rotWithShape="0" algn="bl" dir="8100000" dist="24842">
              <a:srgbClr val="000000">
                <a:alpha val="5882"/>
              </a:srgbClr>
            </a:outerShdw>
          </a:effectLst>
        </p:spPr>
        <p:txBody>
          <a:bodyPr anchorCtr="0" anchor="ctr" bIns="89425" lIns="89425" spcFirstLastPara="1" rIns="89425" wrap="square" tIns="89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5"/>
          <p:cNvSpPr/>
          <p:nvPr/>
        </p:nvSpPr>
        <p:spPr>
          <a:xfrm>
            <a:off x="774221" y="3128997"/>
            <a:ext cx="447300" cy="447300"/>
          </a:xfrm>
          <a:prstGeom prst="ellipse">
            <a:avLst/>
          </a:prstGeom>
          <a:solidFill>
            <a:srgbClr val="EDE8FD"/>
          </a:solidFill>
          <a:ln>
            <a:noFill/>
          </a:ln>
        </p:spPr>
        <p:txBody>
          <a:bodyPr anchorCtr="0" anchor="ctr" bIns="89425" lIns="89425" spcFirstLastPara="1" rIns="89425" wrap="square" tIns="89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34" name="Google Shape;134;p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86009" y="3240785"/>
            <a:ext cx="223576" cy="223576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5"/>
          <p:cNvSpPr/>
          <p:nvPr/>
        </p:nvSpPr>
        <p:spPr>
          <a:xfrm>
            <a:off x="1355519" y="3128997"/>
            <a:ext cx="1743900" cy="35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141A"/>
              </a:buClr>
              <a:buSzPts val="1125"/>
              <a:buFont typeface="Unbounded"/>
              <a:buNone/>
            </a:pPr>
            <a:r>
              <a:rPr b="1" i="0" lang="en-US" sz="1124" u="none" cap="none" strike="noStrike">
                <a:solidFill>
                  <a:srgbClr val="12141A"/>
                </a:solidFill>
                <a:latin typeface="Unbounded"/>
                <a:ea typeface="Unbounded"/>
                <a:cs typeface="Unbounded"/>
                <a:sym typeface="Unbounded"/>
              </a:rPr>
              <a:t>Створення робочих місць</a:t>
            </a:r>
            <a:endParaRPr b="0" i="0" sz="112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5"/>
          <p:cNvSpPr/>
          <p:nvPr/>
        </p:nvSpPr>
        <p:spPr>
          <a:xfrm>
            <a:off x="774221" y="3620864"/>
            <a:ext cx="2325300" cy="71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46870"/>
              </a:buClr>
              <a:buSzPts val="1027"/>
              <a:buFont typeface="Manrope"/>
              <a:buNone/>
            </a:pPr>
            <a:r>
              <a:rPr b="0" i="0" lang="en-US" sz="1026" u="none" cap="none" strike="noStrike">
                <a:solidFill>
                  <a:srgbClr val="646870"/>
                </a:solidFill>
                <a:latin typeface="Manrope"/>
                <a:ea typeface="Manrope"/>
                <a:cs typeface="Manrope"/>
                <a:sym typeface="Manrope"/>
              </a:rPr>
              <a:t>Інклюзивна remote-модель.</a:t>
            </a:r>
            <a:endParaRPr b="0" i="0" sz="102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46870"/>
              </a:buClr>
              <a:buSzPts val="1027"/>
              <a:buFont typeface="Manrope"/>
              <a:buNone/>
            </a:pPr>
            <a:r>
              <a:rPr b="0" i="0" lang="en-US" sz="1026" u="none" cap="none" strike="noStrike">
                <a:solidFill>
                  <a:srgbClr val="646870"/>
                </a:solidFill>
                <a:latin typeface="Manrope"/>
                <a:ea typeface="Manrope"/>
                <a:cs typeface="Manrope"/>
                <a:sym typeface="Manrope"/>
              </a:rPr>
              <a:t>Люди з інвалідністю, студенти.</a:t>
            </a:r>
            <a:endParaRPr b="0" i="0" sz="102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5"/>
          <p:cNvSpPr/>
          <p:nvPr/>
        </p:nvSpPr>
        <p:spPr>
          <a:xfrm>
            <a:off x="3412420" y="2994852"/>
            <a:ext cx="2593500" cy="1475700"/>
          </a:xfrm>
          <a:prstGeom prst="roundRect">
            <a:avLst>
              <a:gd fmla="val 6061" name="adj"/>
            </a:avLst>
          </a:prstGeom>
          <a:solidFill>
            <a:srgbClr val="FFFFFF"/>
          </a:solidFill>
          <a:ln>
            <a:noFill/>
          </a:ln>
          <a:effectLst>
            <a:outerShdw blurRad="99367" rotWithShape="0" algn="bl" dir="8100000" dist="24842">
              <a:srgbClr val="000000">
                <a:alpha val="5882"/>
              </a:srgbClr>
            </a:outerShdw>
          </a:effectLst>
        </p:spPr>
        <p:txBody>
          <a:bodyPr anchorCtr="0" anchor="ctr" bIns="89425" lIns="89425" spcFirstLastPara="1" rIns="89425" wrap="square" tIns="89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5"/>
          <p:cNvSpPr/>
          <p:nvPr/>
        </p:nvSpPr>
        <p:spPr>
          <a:xfrm>
            <a:off x="3546566" y="3128997"/>
            <a:ext cx="447300" cy="447300"/>
          </a:xfrm>
          <a:prstGeom prst="ellipse">
            <a:avLst/>
          </a:prstGeom>
          <a:solidFill>
            <a:srgbClr val="EDE8FD"/>
          </a:solidFill>
          <a:ln>
            <a:noFill/>
          </a:ln>
        </p:spPr>
        <p:txBody>
          <a:bodyPr anchorCtr="0" anchor="ctr" bIns="89425" lIns="89425" spcFirstLastPara="1" rIns="89425" wrap="square" tIns="89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39" name="Google Shape;139;p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3658354" y="3240785"/>
            <a:ext cx="223576" cy="223576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5"/>
          <p:cNvSpPr/>
          <p:nvPr/>
        </p:nvSpPr>
        <p:spPr>
          <a:xfrm>
            <a:off x="4127864" y="3128997"/>
            <a:ext cx="1743900" cy="35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141A"/>
              </a:buClr>
              <a:buSzPts val="1125"/>
              <a:buFont typeface="Unbounded"/>
              <a:buNone/>
            </a:pPr>
            <a:r>
              <a:rPr b="1" i="0" lang="en-US" sz="1124" u="none" cap="none" strike="noStrike">
                <a:solidFill>
                  <a:srgbClr val="12141A"/>
                </a:solidFill>
                <a:latin typeface="Unbounded"/>
                <a:ea typeface="Unbounded"/>
                <a:cs typeface="Unbounded"/>
                <a:sym typeface="Unbounded"/>
              </a:rPr>
              <a:t>Нульова вартість</a:t>
            </a:r>
            <a:endParaRPr b="0" i="0" sz="112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5"/>
          <p:cNvSpPr/>
          <p:nvPr/>
        </p:nvSpPr>
        <p:spPr>
          <a:xfrm>
            <a:off x="3546566" y="3620864"/>
            <a:ext cx="2325300" cy="71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46870"/>
              </a:buClr>
              <a:buSzPts val="1027"/>
              <a:buFont typeface="Manrope"/>
              <a:buNone/>
            </a:pPr>
            <a:r>
              <a:rPr b="0" i="0" lang="en-US" sz="1026" u="none" cap="none" strike="noStrike">
                <a:solidFill>
                  <a:srgbClr val="646870"/>
                </a:solidFill>
                <a:latin typeface="Manrope"/>
                <a:ea typeface="Manrope"/>
                <a:cs typeface="Manrope"/>
                <a:sym typeface="Manrope"/>
              </a:rPr>
              <a:t>Муніципалітет не платить</a:t>
            </a:r>
            <a:endParaRPr b="0" i="0" sz="102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46870"/>
              </a:buClr>
              <a:buSzPts val="1027"/>
              <a:buFont typeface="Manrope"/>
              <a:buNone/>
            </a:pPr>
            <a:r>
              <a:rPr b="0" i="0" lang="en-US" sz="1026" u="none" cap="none" strike="noStrike">
                <a:solidFill>
                  <a:srgbClr val="646870"/>
                </a:solidFill>
                <a:latin typeface="Manrope"/>
                <a:ea typeface="Manrope"/>
                <a:cs typeface="Manrope"/>
                <a:sym typeface="Manrope"/>
              </a:rPr>
              <a:t>за платформу. Безкоштовний доступ.</a:t>
            </a:r>
            <a:endParaRPr b="0" i="0" sz="102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5"/>
          <p:cNvSpPr/>
          <p:nvPr/>
        </p:nvSpPr>
        <p:spPr>
          <a:xfrm>
            <a:off x="6184765" y="2994852"/>
            <a:ext cx="2593500" cy="1475700"/>
          </a:xfrm>
          <a:prstGeom prst="roundRect">
            <a:avLst>
              <a:gd fmla="val 6061" name="adj"/>
            </a:avLst>
          </a:prstGeom>
          <a:solidFill>
            <a:srgbClr val="FFFFFF"/>
          </a:solidFill>
          <a:ln>
            <a:noFill/>
          </a:ln>
          <a:effectLst>
            <a:outerShdw blurRad="99367" rotWithShape="0" algn="bl" dir="8100000" dist="24842">
              <a:srgbClr val="000000">
                <a:alpha val="5882"/>
              </a:srgbClr>
            </a:outerShdw>
          </a:effectLst>
        </p:spPr>
        <p:txBody>
          <a:bodyPr anchorCtr="0" anchor="ctr" bIns="89425" lIns="89425" spcFirstLastPara="1" rIns="89425" wrap="square" tIns="89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5"/>
          <p:cNvSpPr/>
          <p:nvPr/>
        </p:nvSpPr>
        <p:spPr>
          <a:xfrm>
            <a:off x="6318911" y="3128997"/>
            <a:ext cx="447300" cy="447300"/>
          </a:xfrm>
          <a:prstGeom prst="ellipse">
            <a:avLst/>
          </a:prstGeom>
          <a:solidFill>
            <a:srgbClr val="EDE8FD"/>
          </a:solidFill>
          <a:ln>
            <a:noFill/>
          </a:ln>
        </p:spPr>
        <p:txBody>
          <a:bodyPr anchorCtr="0" anchor="ctr" bIns="89425" lIns="89425" spcFirstLastPara="1" rIns="89425" wrap="square" tIns="89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44" name="Google Shape;144;p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430699" y="3240785"/>
            <a:ext cx="223576" cy="223576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5"/>
          <p:cNvSpPr/>
          <p:nvPr/>
        </p:nvSpPr>
        <p:spPr>
          <a:xfrm>
            <a:off x="6900209" y="3128997"/>
            <a:ext cx="1743900" cy="35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141A"/>
              </a:buClr>
              <a:buSzPts val="1125"/>
              <a:buFont typeface="Unbounded"/>
              <a:buNone/>
            </a:pPr>
            <a:r>
              <a:rPr b="1" i="0" lang="en-US" sz="1124" u="none" cap="none" strike="noStrike">
                <a:solidFill>
                  <a:srgbClr val="12141A"/>
                </a:solidFill>
                <a:latin typeface="Unbounded"/>
                <a:ea typeface="Unbounded"/>
                <a:cs typeface="Unbounded"/>
                <a:sym typeface="Unbounded"/>
              </a:rPr>
              <a:t>Економічне зростання</a:t>
            </a:r>
            <a:endParaRPr b="0" i="0" sz="112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5"/>
          <p:cNvSpPr/>
          <p:nvPr/>
        </p:nvSpPr>
        <p:spPr>
          <a:xfrm>
            <a:off x="6318911" y="3620864"/>
            <a:ext cx="2325300" cy="71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46870"/>
              </a:buClr>
              <a:buSzPts val="1027"/>
              <a:buFont typeface="Manrope"/>
              <a:buNone/>
            </a:pPr>
            <a:r>
              <a:rPr b="0" i="0" lang="en-US" sz="1026" u="none" cap="none" strike="noStrike">
                <a:solidFill>
                  <a:srgbClr val="646870"/>
                </a:solidFill>
                <a:latin typeface="Manrope"/>
                <a:ea typeface="Manrope"/>
                <a:cs typeface="Manrope"/>
                <a:sym typeface="Manrope"/>
              </a:rPr>
              <a:t>Кожне партнерство = 6–12 місяців</a:t>
            </a:r>
            <a:endParaRPr b="0" i="0" sz="102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46870"/>
              </a:buClr>
              <a:buSzPts val="1027"/>
              <a:buFont typeface="Manrope"/>
              <a:buNone/>
            </a:pPr>
            <a:r>
              <a:rPr b="0" i="0" lang="en-US" sz="1026" u="none" cap="none" strike="noStrike">
                <a:solidFill>
                  <a:srgbClr val="646870"/>
                </a:solidFill>
                <a:latin typeface="Manrope"/>
                <a:ea typeface="Manrope"/>
                <a:cs typeface="Manrope"/>
                <a:sym typeface="Manrope"/>
              </a:rPr>
              <a:t>органічного зростання громади.</a:t>
            </a:r>
            <a:endParaRPr b="0" i="0" sz="102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5FC"/>
        </a:solidFill>
      </p:bgPr>
    </p:bg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claude/logo_banda.png" id="152" name="Google Shape;152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0075" y="4630207"/>
            <a:ext cx="822960" cy="283464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6"/>
          <p:cNvSpPr/>
          <p:nvPr/>
        </p:nvSpPr>
        <p:spPr>
          <a:xfrm>
            <a:off x="640080" y="32004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141A"/>
              </a:buClr>
              <a:buSzPts val="2600"/>
              <a:buFont typeface="Unbounded"/>
              <a:buNone/>
            </a:pPr>
            <a:r>
              <a:rPr b="1" i="0" lang="en-US" sz="2600" u="none" cap="none" strike="noStrike">
                <a:solidFill>
                  <a:srgbClr val="12141A"/>
                </a:solidFill>
                <a:latin typeface="Unbounded"/>
                <a:ea typeface="Unbounded"/>
                <a:cs typeface="Unbounded"/>
                <a:sym typeface="Unbounded"/>
              </a:rPr>
              <a:t>Ринок нерухомості </a:t>
            </a:r>
            <a:r>
              <a:rPr b="1" i="0" lang="en-US" sz="2600" u="none" cap="none" strike="noStrike">
                <a:solidFill>
                  <a:srgbClr val="6C4CEB"/>
                </a:solidFill>
                <a:latin typeface="Unbounded"/>
                <a:ea typeface="Unbounded"/>
                <a:cs typeface="Unbounded"/>
                <a:sym typeface="Unbounded"/>
              </a:rPr>
              <a:t>України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6"/>
          <p:cNvSpPr/>
          <p:nvPr/>
        </p:nvSpPr>
        <p:spPr>
          <a:xfrm>
            <a:off x="640075" y="975350"/>
            <a:ext cx="1880400" cy="1268400"/>
          </a:xfrm>
          <a:prstGeom prst="roundRect">
            <a:avLst>
              <a:gd fmla="val 6897" name="adj"/>
            </a:avLst>
          </a:prstGeom>
          <a:solidFill>
            <a:srgbClr val="FFFFFF"/>
          </a:solidFill>
          <a:ln>
            <a:noFill/>
          </a:ln>
          <a:effectLst>
            <a:outerShdw blurRad="97182" rotWithShape="0" algn="bl" dir="8100000" dist="24296">
              <a:srgbClr val="000000">
                <a:alpha val="5882"/>
              </a:srgbClr>
            </a:outerShdw>
          </a:effectLst>
        </p:spPr>
        <p:txBody>
          <a:bodyPr anchorCtr="0" anchor="ctr" bIns="87450" lIns="87450" spcFirstLastPara="1" rIns="87450" wrap="square" tIns="87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6"/>
          <p:cNvSpPr/>
          <p:nvPr/>
        </p:nvSpPr>
        <p:spPr>
          <a:xfrm>
            <a:off x="640075" y="1062815"/>
            <a:ext cx="18804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3700" lIns="87450" spcFirstLastPara="1" rIns="87450" wrap="square" tIns="43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C4CEB"/>
              </a:buClr>
              <a:buSzPts val="2296"/>
              <a:buFont typeface="Unbounded"/>
              <a:buNone/>
            </a:pPr>
            <a:r>
              <a:rPr b="1" i="0" lang="en-US" sz="2295" u="none" cap="none" strike="noStrike">
                <a:solidFill>
                  <a:srgbClr val="6C4CEB"/>
                </a:solidFill>
                <a:latin typeface="Unbounded"/>
                <a:ea typeface="Unbounded"/>
                <a:cs typeface="Unbounded"/>
                <a:sym typeface="Unbounded"/>
              </a:rPr>
              <a:t>$550B+</a:t>
            </a:r>
            <a:endParaRPr b="0" i="0" sz="229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6"/>
          <p:cNvSpPr/>
          <p:nvPr/>
        </p:nvSpPr>
        <p:spPr>
          <a:xfrm>
            <a:off x="640075" y="1631337"/>
            <a:ext cx="18804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3700" lIns="87450" spcFirstLastPara="1" rIns="87450" wrap="square" tIns="4370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46870"/>
              </a:buClr>
              <a:buSzPts val="1004"/>
              <a:buFont typeface="Manrope"/>
              <a:buNone/>
            </a:pPr>
            <a:r>
              <a:rPr b="0" i="0" lang="en-US" sz="1004" u="none" cap="none" strike="noStrike">
                <a:solidFill>
                  <a:srgbClr val="646870"/>
                </a:solidFill>
                <a:latin typeface="Manrope"/>
                <a:ea typeface="Manrope"/>
                <a:cs typeface="Manrope"/>
                <a:sym typeface="Manrope"/>
              </a:rPr>
              <a:t>Обсяг ринку</a:t>
            </a:r>
            <a:endParaRPr b="0" i="0" sz="100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46870"/>
              </a:buClr>
              <a:buSzPts val="1004"/>
              <a:buFont typeface="Manrope"/>
              <a:buNone/>
            </a:pPr>
            <a:r>
              <a:rPr b="0" i="0" lang="en-US" sz="1004" u="none" cap="none" strike="noStrike">
                <a:solidFill>
                  <a:srgbClr val="646870"/>
                </a:solidFill>
                <a:latin typeface="Manrope"/>
                <a:ea typeface="Manrope"/>
                <a:cs typeface="Manrope"/>
                <a:sym typeface="Manrope"/>
              </a:rPr>
              <a:t>нерухомості</a:t>
            </a:r>
            <a:endParaRPr b="0" i="0" sz="100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6"/>
          <p:cNvSpPr/>
          <p:nvPr/>
        </p:nvSpPr>
        <p:spPr>
          <a:xfrm>
            <a:off x="2695469" y="975350"/>
            <a:ext cx="1880400" cy="1268400"/>
          </a:xfrm>
          <a:prstGeom prst="roundRect">
            <a:avLst>
              <a:gd fmla="val 6897" name="adj"/>
            </a:avLst>
          </a:prstGeom>
          <a:solidFill>
            <a:srgbClr val="FFFFFF"/>
          </a:solidFill>
          <a:ln>
            <a:noFill/>
          </a:ln>
          <a:effectLst>
            <a:outerShdw blurRad="97182" rotWithShape="0" algn="bl" dir="8100000" dist="24296">
              <a:srgbClr val="000000">
                <a:alpha val="5882"/>
              </a:srgbClr>
            </a:outerShdw>
          </a:effectLst>
        </p:spPr>
        <p:txBody>
          <a:bodyPr anchorCtr="0" anchor="ctr" bIns="87450" lIns="87450" spcFirstLastPara="1" rIns="87450" wrap="square" tIns="87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6"/>
          <p:cNvSpPr/>
          <p:nvPr/>
        </p:nvSpPr>
        <p:spPr>
          <a:xfrm>
            <a:off x="2695469" y="1062815"/>
            <a:ext cx="18804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3700" lIns="87450" spcFirstLastPara="1" rIns="87450" wrap="square" tIns="43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C4CEB"/>
              </a:buClr>
              <a:buSzPts val="2296"/>
              <a:buFont typeface="Unbounded"/>
              <a:buNone/>
            </a:pPr>
            <a:r>
              <a:rPr b="1" i="0" lang="en-US" sz="2295" u="none" cap="none" strike="noStrike">
                <a:solidFill>
                  <a:srgbClr val="6C4CEB"/>
                </a:solidFill>
                <a:latin typeface="Unbounded"/>
                <a:ea typeface="Unbounded"/>
                <a:cs typeface="Unbounded"/>
                <a:sym typeface="Unbounded"/>
              </a:rPr>
              <a:t>19%</a:t>
            </a:r>
            <a:endParaRPr b="0" i="0" sz="229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6"/>
          <p:cNvSpPr/>
          <p:nvPr/>
        </p:nvSpPr>
        <p:spPr>
          <a:xfrm>
            <a:off x="2695469" y="1631337"/>
            <a:ext cx="18804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3700" lIns="87450" spcFirstLastPara="1" rIns="87450" wrap="square" tIns="4370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46870"/>
              </a:buClr>
              <a:buSzPts val="1004"/>
              <a:buFont typeface="Manrope"/>
              <a:buNone/>
            </a:pPr>
            <a:r>
              <a:rPr b="0" i="0" lang="en-US" sz="1004" u="none" cap="none" strike="noStrike">
                <a:solidFill>
                  <a:srgbClr val="646870"/>
                </a:solidFill>
                <a:latin typeface="Manrope"/>
                <a:ea typeface="Manrope"/>
                <a:cs typeface="Manrope"/>
                <a:sym typeface="Manrope"/>
              </a:rPr>
              <a:t>Зростання цін</a:t>
            </a:r>
            <a:endParaRPr b="0" i="0" sz="100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46870"/>
              </a:buClr>
              <a:buSzPts val="1004"/>
              <a:buFont typeface="Manrope"/>
              <a:buNone/>
            </a:pPr>
            <a:r>
              <a:rPr b="0" i="0" lang="en-US" sz="1004" u="none" cap="none" strike="noStrike">
                <a:solidFill>
                  <a:srgbClr val="646870"/>
                </a:solidFill>
                <a:latin typeface="Manrope"/>
                <a:ea typeface="Manrope"/>
                <a:cs typeface="Manrope"/>
                <a:sym typeface="Manrope"/>
              </a:rPr>
              <a:t>на квартири 2025</a:t>
            </a:r>
            <a:endParaRPr b="0" i="0" sz="100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6"/>
          <p:cNvSpPr/>
          <p:nvPr/>
        </p:nvSpPr>
        <p:spPr>
          <a:xfrm>
            <a:off x="4750863" y="975350"/>
            <a:ext cx="1880400" cy="1268400"/>
          </a:xfrm>
          <a:prstGeom prst="roundRect">
            <a:avLst>
              <a:gd fmla="val 6897" name="adj"/>
            </a:avLst>
          </a:prstGeom>
          <a:solidFill>
            <a:srgbClr val="FFFFFF"/>
          </a:solidFill>
          <a:ln>
            <a:noFill/>
          </a:ln>
          <a:effectLst>
            <a:outerShdw blurRad="97182" rotWithShape="0" algn="bl" dir="8100000" dist="24296">
              <a:srgbClr val="000000">
                <a:alpha val="5882"/>
              </a:srgbClr>
            </a:outerShdw>
          </a:effectLst>
        </p:spPr>
        <p:txBody>
          <a:bodyPr anchorCtr="0" anchor="ctr" bIns="87450" lIns="87450" spcFirstLastPara="1" rIns="87450" wrap="square" tIns="87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6"/>
          <p:cNvSpPr/>
          <p:nvPr/>
        </p:nvSpPr>
        <p:spPr>
          <a:xfrm>
            <a:off x="4750863" y="1062815"/>
            <a:ext cx="18804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3700" lIns="87450" spcFirstLastPara="1" rIns="87450" wrap="square" tIns="43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C4CEB"/>
              </a:buClr>
              <a:buSzPts val="2296"/>
              <a:buFont typeface="Unbounded"/>
              <a:buNone/>
            </a:pPr>
            <a:r>
              <a:rPr b="1" i="0" lang="en-US" sz="2295" u="none" cap="none" strike="noStrike">
                <a:solidFill>
                  <a:srgbClr val="6C4CEB"/>
                </a:solidFill>
                <a:latin typeface="Unbounded"/>
                <a:ea typeface="Unbounded"/>
                <a:cs typeface="Unbounded"/>
                <a:sym typeface="Unbounded"/>
              </a:rPr>
              <a:t>1 500+</a:t>
            </a:r>
            <a:endParaRPr b="0" i="0" sz="229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6"/>
          <p:cNvSpPr/>
          <p:nvPr/>
        </p:nvSpPr>
        <p:spPr>
          <a:xfrm>
            <a:off x="4750863" y="1631337"/>
            <a:ext cx="18804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3700" lIns="87450" spcFirstLastPara="1" rIns="87450" wrap="square" tIns="4370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46870"/>
              </a:buClr>
              <a:buSzPts val="1004"/>
              <a:buFont typeface="Manrope"/>
              <a:buNone/>
            </a:pPr>
            <a:r>
              <a:rPr b="0" i="0" lang="en-US" sz="1004" u="none" cap="none" strike="noStrike">
                <a:solidFill>
                  <a:srgbClr val="646870"/>
                </a:solidFill>
                <a:latin typeface="Manrope"/>
                <a:ea typeface="Manrope"/>
                <a:cs typeface="Manrope"/>
                <a:sym typeface="Manrope"/>
              </a:rPr>
              <a:t>Житлових</a:t>
            </a:r>
            <a:endParaRPr b="0" i="0" sz="100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46870"/>
              </a:buClr>
              <a:buSzPts val="1004"/>
              <a:buFont typeface="Manrope"/>
              <a:buNone/>
            </a:pPr>
            <a:r>
              <a:rPr b="0" i="0" lang="en-US" sz="1004" u="none" cap="none" strike="noStrike">
                <a:solidFill>
                  <a:srgbClr val="646870"/>
                </a:solidFill>
                <a:latin typeface="Manrope"/>
                <a:ea typeface="Manrope"/>
                <a:cs typeface="Manrope"/>
                <a:sym typeface="Manrope"/>
              </a:rPr>
              <a:t>комплексів</a:t>
            </a:r>
            <a:endParaRPr b="0" i="0" sz="100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6"/>
          <p:cNvSpPr/>
          <p:nvPr/>
        </p:nvSpPr>
        <p:spPr>
          <a:xfrm>
            <a:off x="6806257" y="975350"/>
            <a:ext cx="1880400" cy="1268400"/>
          </a:xfrm>
          <a:prstGeom prst="roundRect">
            <a:avLst>
              <a:gd fmla="val 6897" name="adj"/>
            </a:avLst>
          </a:prstGeom>
          <a:solidFill>
            <a:srgbClr val="FFFFFF"/>
          </a:solidFill>
          <a:ln>
            <a:noFill/>
          </a:ln>
          <a:effectLst>
            <a:outerShdw blurRad="97182" rotWithShape="0" algn="bl" dir="8100000" dist="24296">
              <a:srgbClr val="000000">
                <a:alpha val="5882"/>
              </a:srgbClr>
            </a:outerShdw>
          </a:effectLst>
        </p:spPr>
        <p:txBody>
          <a:bodyPr anchorCtr="0" anchor="ctr" bIns="87450" lIns="87450" spcFirstLastPara="1" rIns="87450" wrap="square" tIns="87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6"/>
          <p:cNvSpPr/>
          <p:nvPr/>
        </p:nvSpPr>
        <p:spPr>
          <a:xfrm>
            <a:off x="6806257" y="1062815"/>
            <a:ext cx="18804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3700" lIns="87450" spcFirstLastPara="1" rIns="87450" wrap="square" tIns="43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C4CEB"/>
              </a:buClr>
              <a:buSzPts val="2296"/>
              <a:buFont typeface="Unbounded"/>
              <a:buNone/>
            </a:pPr>
            <a:r>
              <a:rPr b="1" i="0" lang="en-US" sz="2295" u="none" cap="none" strike="noStrike">
                <a:solidFill>
                  <a:srgbClr val="6C4CEB"/>
                </a:solidFill>
                <a:latin typeface="Unbounded"/>
                <a:ea typeface="Unbounded"/>
                <a:cs typeface="Unbounded"/>
                <a:sym typeface="Unbounded"/>
              </a:rPr>
              <a:t>222 000</a:t>
            </a:r>
            <a:endParaRPr b="0" i="0" sz="229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6"/>
          <p:cNvSpPr/>
          <p:nvPr/>
        </p:nvSpPr>
        <p:spPr>
          <a:xfrm>
            <a:off x="6806257" y="1631337"/>
            <a:ext cx="18804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3700" lIns="87450" spcFirstLastPara="1" rIns="87450" wrap="square" tIns="4370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46870"/>
              </a:buClr>
              <a:buSzPts val="1004"/>
              <a:buFont typeface="Manrope"/>
              <a:buNone/>
            </a:pPr>
            <a:r>
              <a:rPr b="0" i="0" lang="en-US" sz="1004" u="none" cap="none" strike="noStrike">
                <a:solidFill>
                  <a:srgbClr val="646870"/>
                </a:solidFill>
                <a:latin typeface="Manrope"/>
                <a:ea typeface="Manrope"/>
                <a:cs typeface="Manrope"/>
                <a:sym typeface="Manrope"/>
              </a:rPr>
              <a:t>Нових квартир</a:t>
            </a:r>
            <a:endParaRPr b="0" i="0" sz="100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46870"/>
              </a:buClr>
              <a:buSzPts val="1004"/>
              <a:buFont typeface="Manrope"/>
              <a:buNone/>
            </a:pPr>
            <a:r>
              <a:rPr b="0" i="0" lang="en-US" sz="1004" u="none" cap="none" strike="noStrike">
                <a:solidFill>
                  <a:srgbClr val="646870"/>
                </a:solidFill>
                <a:latin typeface="Manrope"/>
                <a:ea typeface="Manrope"/>
                <a:cs typeface="Manrope"/>
                <a:sym typeface="Manrope"/>
              </a:rPr>
              <a:t>здано з 2022</a:t>
            </a:r>
            <a:endParaRPr b="0" i="0" sz="100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6"/>
          <p:cNvSpPr/>
          <p:nvPr/>
        </p:nvSpPr>
        <p:spPr>
          <a:xfrm>
            <a:off x="640075" y="2377450"/>
            <a:ext cx="8046600" cy="2044800"/>
          </a:xfrm>
          <a:prstGeom prst="roundRect">
            <a:avLst>
              <a:gd fmla="val 4762" name="adj"/>
            </a:avLst>
          </a:prstGeom>
          <a:solidFill>
            <a:srgbClr val="FFFFFF"/>
          </a:solidFill>
          <a:ln>
            <a:noFill/>
          </a:ln>
          <a:effectLst>
            <a:outerShdw blurRad="99342" rotWithShape="0" algn="bl" dir="8100000" dist="24836">
              <a:srgbClr val="000000">
                <a:alpha val="5882"/>
              </a:srgbClr>
            </a:outerShdw>
          </a:effectLst>
        </p:spPr>
        <p:txBody>
          <a:bodyPr anchorCtr="0" anchor="ctr" bIns="89400" lIns="89400" spcFirstLastPara="1" rIns="89400" wrap="square" tIns="894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68"/>
          </a:p>
        </p:txBody>
      </p:sp>
      <p:pic>
        <p:nvPicPr>
          <p:cNvPr descr="preencoded.png" id="167" name="Google Shape;167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63595" y="2511561"/>
            <a:ext cx="312927" cy="312927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6"/>
          <p:cNvSpPr/>
          <p:nvPr/>
        </p:nvSpPr>
        <p:spPr>
          <a:xfrm>
            <a:off x="1265931" y="2511561"/>
            <a:ext cx="3576300" cy="31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141A"/>
              </a:buClr>
              <a:buSzPts val="1271"/>
              <a:buFont typeface="Unbounded"/>
              <a:buNone/>
            </a:pPr>
            <a:r>
              <a:rPr b="1" i="0" lang="en-US" sz="1271" u="none" cap="none" strike="noStrike">
                <a:solidFill>
                  <a:srgbClr val="12141A"/>
                </a:solidFill>
                <a:latin typeface="Unbounded"/>
                <a:ea typeface="Unbounded"/>
                <a:cs typeface="Unbounded"/>
                <a:sym typeface="Unbounded"/>
              </a:rPr>
              <a:t>Ключові тренди 2025–2026</a:t>
            </a:r>
            <a:endParaRPr b="0" i="0" sz="127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69" name="Google Shape;169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53003" y="2958600"/>
            <a:ext cx="178815" cy="178815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6"/>
          <p:cNvSpPr/>
          <p:nvPr/>
        </p:nvSpPr>
        <p:spPr>
          <a:xfrm>
            <a:off x="1221227" y="2931778"/>
            <a:ext cx="7152600" cy="26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92C33"/>
              </a:buClr>
              <a:buSzPts val="1076"/>
              <a:buFont typeface="Manrope"/>
              <a:buNone/>
            </a:pPr>
            <a:r>
              <a:rPr b="0" i="0" lang="en-US" sz="1075" u="none" cap="none" strike="noStrike">
                <a:solidFill>
                  <a:srgbClr val="292C33"/>
                </a:solidFill>
                <a:latin typeface="Manrope"/>
                <a:ea typeface="Manrope"/>
                <a:cs typeface="Manrope"/>
                <a:sym typeface="Manrope"/>
              </a:rPr>
              <a:t>Попит на квартири зріс на 4%, пропозиція скоротилася на 15%</a:t>
            </a:r>
            <a:endParaRPr b="0" i="0" sz="10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71" name="Google Shape;171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53003" y="3253646"/>
            <a:ext cx="178815" cy="178815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6"/>
          <p:cNvSpPr/>
          <p:nvPr/>
        </p:nvSpPr>
        <p:spPr>
          <a:xfrm>
            <a:off x="1221227" y="3226824"/>
            <a:ext cx="7152600" cy="26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92C33"/>
              </a:buClr>
              <a:buSzPts val="1076"/>
              <a:buFont typeface="Manrope"/>
              <a:buNone/>
            </a:pPr>
            <a:r>
              <a:rPr b="0" i="0" lang="en-US" sz="1075" u="none" cap="none" strike="noStrike">
                <a:solidFill>
                  <a:srgbClr val="292C33"/>
                </a:solidFill>
                <a:latin typeface="Manrope"/>
                <a:ea typeface="Manrope"/>
                <a:cs typeface="Manrope"/>
                <a:sym typeface="Manrope"/>
              </a:rPr>
              <a:t>Середня ціна в Києві — $2 011/м² на первинному ринку</a:t>
            </a:r>
            <a:endParaRPr b="0" i="0" sz="10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73" name="Google Shape;173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53003" y="3548692"/>
            <a:ext cx="178815" cy="178815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6"/>
          <p:cNvSpPr/>
          <p:nvPr/>
        </p:nvSpPr>
        <p:spPr>
          <a:xfrm>
            <a:off x="1221227" y="3521870"/>
            <a:ext cx="7152600" cy="26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92C33"/>
              </a:buClr>
              <a:buSzPts val="1076"/>
              <a:buFont typeface="Manrope"/>
              <a:buNone/>
            </a:pPr>
            <a:r>
              <a:rPr b="0" i="0" lang="en-US" sz="1075" u="none" cap="none" strike="noStrike">
                <a:solidFill>
                  <a:srgbClr val="292C33"/>
                </a:solidFill>
                <a:latin typeface="Manrope"/>
                <a:ea typeface="Manrope"/>
                <a:cs typeface="Manrope"/>
                <a:sym typeface="Manrope"/>
              </a:rPr>
              <a:t>Київ, Львів та Одеса — найбільша концентрація пропозицій (52%)</a:t>
            </a:r>
            <a:endParaRPr b="0" i="0" sz="10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75" name="Google Shape;175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53003" y="3843738"/>
            <a:ext cx="178815" cy="178815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6"/>
          <p:cNvSpPr/>
          <p:nvPr/>
        </p:nvSpPr>
        <p:spPr>
          <a:xfrm>
            <a:off x="1221227" y="3816915"/>
            <a:ext cx="7152600" cy="26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92C33"/>
              </a:buClr>
              <a:buSzPts val="1076"/>
              <a:buFont typeface="Manrope"/>
              <a:buNone/>
            </a:pPr>
            <a:r>
              <a:rPr b="0" i="0" lang="en-US" sz="1075" u="none" cap="none" strike="noStrike">
                <a:solidFill>
                  <a:srgbClr val="292C33"/>
                </a:solidFill>
                <a:latin typeface="Manrope"/>
                <a:ea typeface="Manrope"/>
                <a:cs typeface="Manrope"/>
                <a:sym typeface="Manrope"/>
              </a:rPr>
              <a:t>Програма єОселя — ключовий драйвер іпотечного кредитування</a:t>
            </a:r>
            <a:endParaRPr b="0" i="0" sz="10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77" name="Google Shape;177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53003" y="4138783"/>
            <a:ext cx="178815" cy="178815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6"/>
          <p:cNvSpPr/>
          <p:nvPr/>
        </p:nvSpPr>
        <p:spPr>
          <a:xfrm>
            <a:off x="1221227" y="4111961"/>
            <a:ext cx="7152600" cy="26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92C33"/>
              </a:buClr>
              <a:buSzPts val="1076"/>
              <a:buFont typeface="Manrope"/>
              <a:buNone/>
            </a:pPr>
            <a:r>
              <a:rPr b="0" i="0" lang="en-US" sz="1075" u="none" cap="none" strike="noStrike">
                <a:solidFill>
                  <a:srgbClr val="292C33"/>
                </a:solidFill>
                <a:latin typeface="Manrope"/>
                <a:ea typeface="Manrope"/>
                <a:cs typeface="Manrope"/>
                <a:sym typeface="Manrope"/>
              </a:rPr>
              <a:t>Ринок вже пройшов дно та поступово входить у фазу зростання</a:t>
            </a:r>
            <a:endParaRPr b="0" i="0" sz="10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5FC"/>
        </a:solidFill>
      </p:bgPr>
    </p:bg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claude/logo_banda.png" id="184" name="Google Shape;184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0075" y="4631425"/>
            <a:ext cx="822960" cy="283464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7"/>
          <p:cNvSpPr/>
          <p:nvPr/>
        </p:nvSpPr>
        <p:spPr>
          <a:xfrm>
            <a:off x="633838" y="320040"/>
            <a:ext cx="82296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141A"/>
              </a:buClr>
              <a:buSzPts val="2600"/>
              <a:buFont typeface="Unbounded"/>
              <a:buNone/>
            </a:pPr>
            <a:r>
              <a:rPr b="1" i="0" lang="en-US" sz="2600" u="none" cap="none" strike="noStrike">
                <a:solidFill>
                  <a:srgbClr val="12141A"/>
                </a:solidFill>
                <a:latin typeface="Unbounded"/>
                <a:ea typeface="Unbounded"/>
                <a:cs typeface="Unbounded"/>
                <a:sym typeface="Unbounded"/>
              </a:rPr>
              <a:t>Глобальний </a:t>
            </a:r>
            <a:r>
              <a:rPr b="1" i="0" lang="en-US" sz="2600" u="none" cap="none" strike="noStrike">
                <a:solidFill>
                  <a:srgbClr val="6C4CEB"/>
                </a:solidFill>
                <a:latin typeface="Unbounded"/>
                <a:ea typeface="Unbounded"/>
                <a:cs typeface="Unbounded"/>
                <a:sym typeface="Unbounded"/>
              </a:rPr>
              <a:t>масштаб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7"/>
          <p:cNvSpPr/>
          <p:nvPr/>
        </p:nvSpPr>
        <p:spPr>
          <a:xfrm>
            <a:off x="551396" y="822960"/>
            <a:ext cx="7315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6870"/>
              </a:buClr>
              <a:buSzPts val="1300"/>
              <a:buFont typeface="Manrope"/>
              <a:buNone/>
            </a:pPr>
            <a:r>
              <a:rPr b="0" i="0" lang="en-US" sz="1300" u="none" cap="none" strike="noStrike">
                <a:solidFill>
                  <a:srgbClr val="646870"/>
                </a:solidFill>
                <a:latin typeface="Manrope"/>
                <a:ea typeface="Manrope"/>
                <a:cs typeface="Manrope"/>
                <a:sym typeface="Manrope"/>
              </a:rPr>
              <a:t>Доступ не лише до українського, а до світового ринку нерухомості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7"/>
          <p:cNvSpPr/>
          <p:nvPr/>
        </p:nvSpPr>
        <p:spPr>
          <a:xfrm>
            <a:off x="640075" y="1280150"/>
            <a:ext cx="2566200" cy="1479000"/>
          </a:xfrm>
          <a:prstGeom prst="roundRect">
            <a:avLst>
              <a:gd fmla="val 5882" name="adj"/>
            </a:avLst>
          </a:prstGeom>
          <a:solidFill>
            <a:srgbClr val="FFFFFF"/>
          </a:solidFill>
          <a:ln>
            <a:noFill/>
          </a:ln>
          <a:effectLst>
            <a:outerShdw blurRad="96658" rotWithShape="0" algn="bl" dir="8100000" dist="24165">
              <a:srgbClr val="000000">
                <a:alpha val="5882"/>
              </a:srgbClr>
            </a:outerShdw>
          </a:effectLst>
        </p:spPr>
        <p:txBody>
          <a:bodyPr anchorCtr="0" anchor="ctr" bIns="86975" lIns="86975" spcFirstLastPara="1" rIns="86975" wrap="square" tIns="869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7"/>
          <p:cNvSpPr/>
          <p:nvPr/>
        </p:nvSpPr>
        <p:spPr>
          <a:xfrm>
            <a:off x="640075" y="1367143"/>
            <a:ext cx="2566200" cy="56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3475" lIns="86975" spcFirstLastPara="1" rIns="86975" wrap="square" tIns="434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C4CEB"/>
              </a:buClr>
              <a:buSzPts val="2854"/>
              <a:buFont typeface="Unbounded"/>
              <a:buNone/>
            </a:pPr>
            <a:r>
              <a:rPr b="1" i="0" lang="en-US" sz="2854" u="none" cap="none" strike="noStrike">
                <a:solidFill>
                  <a:srgbClr val="6C4CEB"/>
                </a:solidFill>
                <a:latin typeface="Unbounded"/>
                <a:ea typeface="Unbounded"/>
                <a:cs typeface="Unbounded"/>
                <a:sym typeface="Unbounded"/>
              </a:rPr>
              <a:t>$393T</a:t>
            </a:r>
            <a:endParaRPr b="0" i="0" sz="285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7"/>
          <p:cNvSpPr/>
          <p:nvPr/>
        </p:nvSpPr>
        <p:spPr>
          <a:xfrm>
            <a:off x="640075" y="1932600"/>
            <a:ext cx="2566200" cy="43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3475" lIns="86975" spcFirstLastPara="1" rIns="86975" wrap="square" tIns="43475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92C33"/>
              </a:buClr>
              <a:buSzPts val="1047"/>
              <a:buFont typeface="Manrope"/>
              <a:buNone/>
            </a:pPr>
            <a:r>
              <a:rPr b="0" i="0" lang="en-US" sz="1046" u="none" cap="none" strike="noStrike">
                <a:solidFill>
                  <a:srgbClr val="292C33"/>
                </a:solidFill>
                <a:latin typeface="Manrope"/>
                <a:ea typeface="Manrope"/>
                <a:cs typeface="Manrope"/>
                <a:sym typeface="Manrope"/>
              </a:rPr>
              <a:t>Глобальний ринок</a:t>
            </a:r>
            <a:endParaRPr b="0" i="0" sz="104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92C33"/>
              </a:buClr>
              <a:buSzPts val="1047"/>
              <a:buFont typeface="Manrope"/>
              <a:buNone/>
            </a:pPr>
            <a:r>
              <a:rPr b="0" i="0" lang="en-US" sz="1046" u="none" cap="none" strike="noStrike">
                <a:solidFill>
                  <a:srgbClr val="292C33"/>
                </a:solidFill>
                <a:latin typeface="Manrope"/>
                <a:ea typeface="Manrope"/>
                <a:cs typeface="Manrope"/>
                <a:sym typeface="Manrope"/>
              </a:rPr>
              <a:t>нерухомості</a:t>
            </a:r>
            <a:endParaRPr b="0" i="0" sz="104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7"/>
          <p:cNvSpPr/>
          <p:nvPr/>
        </p:nvSpPr>
        <p:spPr>
          <a:xfrm>
            <a:off x="640075" y="2411062"/>
            <a:ext cx="2566200" cy="26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3475" lIns="86975" spcFirstLastPara="1" rIns="86975" wrap="square" tIns="434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6870"/>
              </a:buClr>
              <a:buSzPts val="856"/>
              <a:buFont typeface="Manrope"/>
              <a:buNone/>
            </a:pPr>
            <a:r>
              <a:rPr b="0" i="0" lang="en-US" sz="856" u="none" cap="none" strike="noStrike">
                <a:solidFill>
                  <a:srgbClr val="646870"/>
                </a:solidFill>
                <a:latin typeface="Manrope"/>
                <a:ea typeface="Manrope"/>
                <a:cs typeface="Manrope"/>
                <a:sym typeface="Manrope"/>
              </a:rPr>
              <a:t>Savills, 2025</a:t>
            </a:r>
            <a:endParaRPr b="0" i="0" sz="85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7"/>
          <p:cNvSpPr/>
          <p:nvPr/>
        </p:nvSpPr>
        <p:spPr>
          <a:xfrm>
            <a:off x="3380330" y="1280150"/>
            <a:ext cx="2566200" cy="1479000"/>
          </a:xfrm>
          <a:prstGeom prst="roundRect">
            <a:avLst>
              <a:gd fmla="val 5882" name="adj"/>
            </a:avLst>
          </a:prstGeom>
          <a:solidFill>
            <a:srgbClr val="FFFFFF"/>
          </a:solidFill>
          <a:ln>
            <a:noFill/>
          </a:ln>
          <a:effectLst>
            <a:outerShdw blurRad="96658" rotWithShape="0" algn="bl" dir="8100000" dist="24165">
              <a:srgbClr val="000000">
                <a:alpha val="5882"/>
              </a:srgbClr>
            </a:outerShdw>
          </a:effectLst>
        </p:spPr>
        <p:txBody>
          <a:bodyPr anchorCtr="0" anchor="ctr" bIns="86975" lIns="86975" spcFirstLastPara="1" rIns="86975" wrap="square" tIns="869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7"/>
          <p:cNvSpPr/>
          <p:nvPr/>
        </p:nvSpPr>
        <p:spPr>
          <a:xfrm>
            <a:off x="3380330" y="1367143"/>
            <a:ext cx="2566200" cy="56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3475" lIns="86975" spcFirstLastPara="1" rIns="86975" wrap="square" tIns="434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C4CEB"/>
              </a:buClr>
              <a:buSzPts val="2854"/>
              <a:buFont typeface="Unbounded"/>
              <a:buNone/>
            </a:pPr>
            <a:r>
              <a:rPr b="1" i="0" lang="en-US" sz="2854" u="none" cap="none" strike="noStrike">
                <a:solidFill>
                  <a:srgbClr val="6C4CEB"/>
                </a:solidFill>
                <a:latin typeface="Unbounded"/>
                <a:ea typeface="Unbounded"/>
                <a:cs typeface="Unbounded"/>
                <a:sym typeface="Unbounded"/>
              </a:rPr>
              <a:t>$4.3T</a:t>
            </a:r>
            <a:endParaRPr b="0" i="0" sz="285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7"/>
          <p:cNvSpPr/>
          <p:nvPr/>
        </p:nvSpPr>
        <p:spPr>
          <a:xfrm>
            <a:off x="3380330" y="1932600"/>
            <a:ext cx="2566200" cy="43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3475" lIns="86975" spcFirstLastPara="1" rIns="86975" wrap="square" tIns="43475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92C33"/>
              </a:buClr>
              <a:buSzPts val="1047"/>
              <a:buFont typeface="Manrope"/>
              <a:buNone/>
            </a:pPr>
            <a:r>
              <a:rPr b="0" i="0" lang="en-US" sz="1046" u="none" cap="none" strike="noStrike">
                <a:solidFill>
                  <a:srgbClr val="292C33"/>
                </a:solidFill>
                <a:latin typeface="Manrope"/>
                <a:ea typeface="Manrope"/>
                <a:cs typeface="Manrope"/>
                <a:sym typeface="Manrope"/>
              </a:rPr>
              <a:t>Ринок транзакцій</a:t>
            </a:r>
            <a:endParaRPr b="0" i="0" sz="104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92C33"/>
              </a:buClr>
              <a:buSzPts val="1047"/>
              <a:buFont typeface="Manrope"/>
              <a:buNone/>
            </a:pPr>
            <a:r>
              <a:rPr b="0" i="0" lang="en-US" sz="1046" u="none" cap="none" strike="noStrike">
                <a:solidFill>
                  <a:srgbClr val="292C33"/>
                </a:solidFill>
                <a:latin typeface="Manrope"/>
                <a:ea typeface="Manrope"/>
                <a:cs typeface="Manrope"/>
                <a:sym typeface="Manrope"/>
              </a:rPr>
              <a:t>нерухомості</a:t>
            </a:r>
            <a:endParaRPr b="0" i="0" sz="104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7"/>
          <p:cNvSpPr/>
          <p:nvPr/>
        </p:nvSpPr>
        <p:spPr>
          <a:xfrm>
            <a:off x="3380330" y="2411062"/>
            <a:ext cx="2566200" cy="26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3475" lIns="86975" spcFirstLastPara="1" rIns="86975" wrap="square" tIns="434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6870"/>
              </a:buClr>
              <a:buSzPts val="856"/>
              <a:buFont typeface="Manrope"/>
              <a:buNone/>
            </a:pPr>
            <a:r>
              <a:rPr b="0" i="0" lang="en-US" sz="856" u="none" cap="none" strike="noStrike">
                <a:solidFill>
                  <a:srgbClr val="646870"/>
                </a:solidFill>
                <a:latin typeface="Manrope"/>
                <a:ea typeface="Manrope"/>
                <a:cs typeface="Manrope"/>
                <a:sym typeface="Manrope"/>
              </a:rPr>
              <a:t>Straits Research</a:t>
            </a:r>
            <a:endParaRPr b="0" i="0" sz="85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7"/>
          <p:cNvSpPr/>
          <p:nvPr/>
        </p:nvSpPr>
        <p:spPr>
          <a:xfrm>
            <a:off x="6120585" y="1280150"/>
            <a:ext cx="2566200" cy="1479000"/>
          </a:xfrm>
          <a:prstGeom prst="roundRect">
            <a:avLst>
              <a:gd fmla="val 5882" name="adj"/>
            </a:avLst>
          </a:prstGeom>
          <a:solidFill>
            <a:srgbClr val="FFFFFF"/>
          </a:solidFill>
          <a:ln>
            <a:noFill/>
          </a:ln>
          <a:effectLst>
            <a:outerShdw blurRad="96658" rotWithShape="0" algn="bl" dir="8100000" dist="24165">
              <a:srgbClr val="000000">
                <a:alpha val="5882"/>
              </a:srgbClr>
            </a:outerShdw>
          </a:effectLst>
        </p:spPr>
        <p:txBody>
          <a:bodyPr anchorCtr="0" anchor="ctr" bIns="86975" lIns="86975" spcFirstLastPara="1" rIns="86975" wrap="square" tIns="869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7"/>
          <p:cNvSpPr/>
          <p:nvPr/>
        </p:nvSpPr>
        <p:spPr>
          <a:xfrm>
            <a:off x="6120585" y="1367143"/>
            <a:ext cx="2566200" cy="56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3475" lIns="86975" spcFirstLastPara="1" rIns="86975" wrap="square" tIns="434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C4CEB"/>
              </a:buClr>
              <a:buSzPts val="2854"/>
              <a:buFont typeface="Unbounded"/>
              <a:buNone/>
            </a:pPr>
            <a:r>
              <a:rPr b="1" i="0" lang="en-US" sz="2854" u="none" cap="none" strike="noStrike">
                <a:solidFill>
                  <a:srgbClr val="6C4CEB"/>
                </a:solidFill>
                <a:latin typeface="Unbounded"/>
                <a:ea typeface="Unbounded"/>
                <a:cs typeface="Unbounded"/>
                <a:sym typeface="Unbounded"/>
              </a:rPr>
              <a:t>€580B</a:t>
            </a:r>
            <a:endParaRPr b="0" i="0" sz="285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7"/>
          <p:cNvSpPr/>
          <p:nvPr/>
        </p:nvSpPr>
        <p:spPr>
          <a:xfrm>
            <a:off x="6120585" y="1932600"/>
            <a:ext cx="2566200" cy="43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3475" lIns="86975" spcFirstLastPara="1" rIns="86975" wrap="square" tIns="43475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92C33"/>
              </a:buClr>
              <a:buSzPts val="1047"/>
              <a:buFont typeface="Manrope"/>
              <a:buNone/>
            </a:pPr>
            <a:r>
              <a:rPr b="0" i="0" lang="en-US" sz="1046" u="none" cap="none" strike="noStrike">
                <a:solidFill>
                  <a:srgbClr val="292C33"/>
                </a:solidFill>
                <a:latin typeface="Manrope"/>
                <a:ea typeface="Manrope"/>
                <a:cs typeface="Manrope"/>
                <a:sym typeface="Manrope"/>
              </a:rPr>
              <a:t>Європейський</a:t>
            </a:r>
            <a:endParaRPr b="0" i="0" sz="104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92C33"/>
              </a:buClr>
              <a:buSzPts val="1047"/>
              <a:buFont typeface="Manrope"/>
              <a:buNone/>
            </a:pPr>
            <a:r>
              <a:rPr b="0" i="0" lang="en-US" sz="1046" u="none" cap="none" strike="noStrike">
                <a:solidFill>
                  <a:srgbClr val="292C33"/>
                </a:solidFill>
                <a:latin typeface="Manrope"/>
                <a:ea typeface="Manrope"/>
                <a:cs typeface="Manrope"/>
                <a:sym typeface="Manrope"/>
              </a:rPr>
              <a:t>транзакційний обсяг</a:t>
            </a:r>
            <a:endParaRPr b="0" i="0" sz="104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7"/>
          <p:cNvSpPr/>
          <p:nvPr/>
        </p:nvSpPr>
        <p:spPr>
          <a:xfrm>
            <a:off x="6120585" y="2411062"/>
            <a:ext cx="2566200" cy="26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3475" lIns="86975" spcFirstLastPara="1" rIns="86975" wrap="square" tIns="434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6870"/>
              </a:buClr>
              <a:buSzPts val="856"/>
              <a:buFont typeface="Manrope"/>
              <a:buNone/>
            </a:pPr>
            <a:r>
              <a:rPr b="0" i="0" lang="en-US" sz="856" u="none" cap="none" strike="noStrike">
                <a:solidFill>
                  <a:srgbClr val="646870"/>
                </a:solidFill>
                <a:latin typeface="Manrope"/>
                <a:ea typeface="Manrope"/>
                <a:cs typeface="Manrope"/>
                <a:sym typeface="Manrope"/>
              </a:rPr>
              <a:t>Річний обіг</a:t>
            </a:r>
            <a:endParaRPr b="0" i="0" sz="85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7"/>
          <p:cNvSpPr/>
          <p:nvPr/>
        </p:nvSpPr>
        <p:spPr>
          <a:xfrm>
            <a:off x="640075" y="2923334"/>
            <a:ext cx="8046600" cy="1519800"/>
          </a:xfrm>
          <a:prstGeom prst="roundRect">
            <a:avLst>
              <a:gd fmla="val 5882" name="adj"/>
            </a:avLst>
          </a:prstGeom>
          <a:solidFill>
            <a:srgbClr val="4B30B9"/>
          </a:solidFill>
          <a:ln>
            <a:noFill/>
          </a:ln>
        </p:spPr>
        <p:txBody>
          <a:bodyPr anchorCtr="0" anchor="ctr" bIns="89400" lIns="89400" spcFirstLastPara="1" rIns="89400" wrap="square" tIns="894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7"/>
          <p:cNvSpPr/>
          <p:nvPr/>
        </p:nvSpPr>
        <p:spPr>
          <a:xfrm>
            <a:off x="863595" y="3012742"/>
            <a:ext cx="7152600" cy="35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69"/>
              <a:buFont typeface="Unbounded"/>
              <a:buNone/>
            </a:pPr>
            <a:r>
              <a:rPr b="1" i="0" lang="en-US" sz="1368" u="none" cap="none" strike="noStrike">
                <a:solidFill>
                  <a:srgbClr val="FFFFFF"/>
                </a:solidFill>
                <a:latin typeface="Unbounded"/>
                <a:ea typeface="Unbounded"/>
                <a:cs typeface="Unbounded"/>
                <a:sym typeface="Unbounded"/>
              </a:rPr>
              <a:t>Що це означає для муніципалітетів?</a:t>
            </a:r>
            <a:endParaRPr b="0" i="0" sz="136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7"/>
          <p:cNvSpPr/>
          <p:nvPr/>
        </p:nvSpPr>
        <p:spPr>
          <a:xfrm>
            <a:off x="863595" y="3415077"/>
            <a:ext cx="7599600" cy="89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73"/>
              <a:buFont typeface="Manrope"/>
              <a:buNone/>
            </a:pPr>
            <a:r>
              <a:rPr b="0" i="0" lang="en-US" sz="1173" u="none" cap="none" strike="noStrike">
                <a:solidFill>
                  <a:srgbClr val="FFFFFF"/>
                </a:solidFill>
                <a:latin typeface="Manrope"/>
                <a:ea typeface="Manrope"/>
                <a:cs typeface="Manrope"/>
                <a:sym typeface="Manrope"/>
              </a:rPr>
              <a:t>Через BANDA агенти вашої громади отримують доступ не лише до локальних об'єктів, а й до об'єктів по всьому світу — Іспанія, ОАЕ, та інші ринки. Іноземні покупці та інвестори, у свою чергу, отримують доступ до унікальних об'єктів вашого муніципалітету. Це двосторонній канал, який залучає капітал у вашу громаду.</a:t>
            </a:r>
            <a:endParaRPr b="0" i="0" sz="117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5FC"/>
        </a:solidFill>
      </p:bgPr>
    </p:bg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claude/logo_banda.png" id="207" name="Google Shape;207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7600" y="4631425"/>
            <a:ext cx="822960" cy="283464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8"/>
          <p:cNvSpPr/>
          <p:nvPr/>
        </p:nvSpPr>
        <p:spPr>
          <a:xfrm>
            <a:off x="627596" y="320040"/>
            <a:ext cx="82296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C4CEB"/>
              </a:buClr>
              <a:buSzPts val="2600"/>
              <a:buFont typeface="Unbounded"/>
              <a:buNone/>
            </a:pPr>
            <a:r>
              <a:rPr b="1" i="0" lang="en-US" sz="2600" u="none" cap="none" strike="noStrike">
                <a:solidFill>
                  <a:srgbClr val="6C4CEB"/>
                </a:solidFill>
                <a:latin typeface="Unbounded"/>
                <a:ea typeface="Unbounded"/>
                <a:cs typeface="Unbounded"/>
                <a:sym typeface="Unbounded"/>
              </a:rPr>
              <a:t>PPP </a:t>
            </a:r>
            <a:r>
              <a:rPr b="1" i="0" lang="en-US" sz="2600" u="none" cap="none" strike="noStrike">
                <a:solidFill>
                  <a:srgbClr val="12141A"/>
                </a:solidFill>
                <a:latin typeface="Unbounded"/>
                <a:ea typeface="Unbounded"/>
                <a:cs typeface="Unbounded"/>
                <a:sym typeface="Unbounded"/>
              </a:rPr>
              <a:t>та співінвестування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8"/>
          <p:cNvSpPr/>
          <p:nvPr/>
        </p:nvSpPr>
        <p:spPr>
          <a:xfrm>
            <a:off x="545154" y="822960"/>
            <a:ext cx="7315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6870"/>
              </a:buClr>
              <a:buSzPts val="1300"/>
              <a:buFont typeface="Manrope"/>
              <a:buNone/>
            </a:pPr>
            <a:r>
              <a:rPr b="0" i="0" lang="en-US" sz="1300" u="none" cap="none" strike="noStrike">
                <a:solidFill>
                  <a:srgbClr val="646870"/>
                </a:solidFill>
                <a:latin typeface="Manrope"/>
                <a:ea typeface="Manrope"/>
                <a:cs typeface="Manrope"/>
                <a:sym typeface="Manrope"/>
              </a:rPr>
              <a:t>Публічно-приватне партнерство через інфраструктуру довіри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8"/>
          <p:cNvSpPr/>
          <p:nvPr/>
        </p:nvSpPr>
        <p:spPr>
          <a:xfrm>
            <a:off x="640075" y="1371600"/>
            <a:ext cx="3793200" cy="3051900"/>
          </a:xfrm>
          <a:prstGeom prst="roundRect">
            <a:avLst>
              <a:gd fmla="val 2857" name="adj"/>
            </a:avLst>
          </a:prstGeom>
          <a:solidFill>
            <a:srgbClr val="FFFFFF"/>
          </a:solidFill>
          <a:ln>
            <a:noFill/>
          </a:ln>
          <a:effectLst>
            <a:outerShdw blurRad="96889" rotWithShape="0" algn="bl" dir="8100000" dist="24222">
              <a:srgbClr val="000000">
                <a:alpha val="5882"/>
              </a:srgbClr>
            </a:outerShdw>
          </a:effectLst>
        </p:spPr>
        <p:txBody>
          <a:bodyPr anchorCtr="0" anchor="ctr" bIns="87200" lIns="87200" spcFirstLastPara="1" rIns="87200" wrap="square" tIns="872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11" name="Google Shape;211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8076" y="1502400"/>
            <a:ext cx="348801" cy="348801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8"/>
          <p:cNvSpPr/>
          <p:nvPr/>
        </p:nvSpPr>
        <p:spPr>
          <a:xfrm>
            <a:off x="1294077" y="1502400"/>
            <a:ext cx="28776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141A"/>
              </a:buClr>
              <a:buSzPts val="1240"/>
              <a:buFont typeface="Unbounded"/>
              <a:buNone/>
            </a:pPr>
            <a:r>
              <a:rPr b="1" i="0" lang="en-US" sz="1239" u="none" cap="none" strike="noStrike">
                <a:solidFill>
                  <a:srgbClr val="12141A"/>
                </a:solidFill>
                <a:latin typeface="Unbounded"/>
                <a:ea typeface="Unbounded"/>
                <a:cs typeface="Unbounded"/>
                <a:sym typeface="Unbounded"/>
              </a:rPr>
              <a:t>Як працює PPP через BANDA</a:t>
            </a:r>
            <a:endParaRPr b="0" i="0" sz="123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8"/>
          <p:cNvSpPr/>
          <p:nvPr/>
        </p:nvSpPr>
        <p:spPr>
          <a:xfrm>
            <a:off x="858076" y="2025602"/>
            <a:ext cx="218100" cy="218100"/>
          </a:xfrm>
          <a:prstGeom prst="ellipse">
            <a:avLst/>
          </a:prstGeom>
          <a:solidFill>
            <a:srgbClr val="6C4CEB"/>
          </a:solidFill>
          <a:ln>
            <a:noFill/>
          </a:ln>
        </p:spPr>
        <p:txBody>
          <a:bodyPr anchorCtr="0" anchor="ctr" bIns="87200" lIns="87200" spcFirstLastPara="1" rIns="87200" wrap="square" tIns="872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8"/>
          <p:cNvSpPr/>
          <p:nvPr/>
        </p:nvSpPr>
        <p:spPr>
          <a:xfrm>
            <a:off x="858076" y="2025602"/>
            <a:ext cx="218100" cy="2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3575" lIns="87200" spcFirstLastPara="1" rIns="87200" wrap="square" tIns="435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8"/>
              <a:buFont typeface="Manrope"/>
              <a:buNone/>
            </a:pPr>
            <a:r>
              <a:rPr b="0" i="0" lang="en-US" sz="858" u="none" cap="none" strike="noStrike">
                <a:solidFill>
                  <a:srgbClr val="FFFFFF"/>
                </a:solidFill>
                <a:latin typeface="Manrope"/>
                <a:ea typeface="Manrope"/>
                <a:cs typeface="Manrope"/>
                <a:sym typeface="Manrope"/>
              </a:rPr>
              <a:t>1</a:t>
            </a:r>
            <a:endParaRPr b="0" i="0" sz="85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8"/>
          <p:cNvSpPr/>
          <p:nvPr/>
        </p:nvSpPr>
        <p:spPr>
          <a:xfrm>
            <a:off x="1163276" y="1982001"/>
            <a:ext cx="30519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92C33"/>
              </a:buClr>
              <a:buSzPts val="1001"/>
              <a:buFont typeface="Manrope"/>
              <a:buNone/>
            </a:pPr>
            <a:r>
              <a:rPr b="0" i="0" lang="en-US" sz="1001" u="none" cap="none" strike="noStrike">
                <a:solidFill>
                  <a:srgbClr val="292C33"/>
                </a:solidFill>
                <a:latin typeface="Manrope"/>
                <a:ea typeface="Manrope"/>
                <a:cs typeface="Manrope"/>
                <a:sym typeface="Manrope"/>
              </a:rPr>
              <a:t>Муніципалітет додає об'єкти редевелопменту та соціальні проєкти</a:t>
            </a:r>
            <a:endParaRPr b="0" i="0" sz="100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8"/>
          <p:cNvSpPr/>
          <p:nvPr/>
        </p:nvSpPr>
        <p:spPr>
          <a:xfrm>
            <a:off x="858076" y="2461603"/>
            <a:ext cx="218100" cy="218100"/>
          </a:xfrm>
          <a:prstGeom prst="ellipse">
            <a:avLst/>
          </a:prstGeom>
          <a:solidFill>
            <a:srgbClr val="6C4CEB"/>
          </a:solidFill>
          <a:ln>
            <a:noFill/>
          </a:ln>
        </p:spPr>
        <p:txBody>
          <a:bodyPr anchorCtr="0" anchor="ctr" bIns="87200" lIns="87200" spcFirstLastPara="1" rIns="87200" wrap="square" tIns="872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8"/>
          <p:cNvSpPr/>
          <p:nvPr/>
        </p:nvSpPr>
        <p:spPr>
          <a:xfrm>
            <a:off x="858076" y="2461603"/>
            <a:ext cx="218100" cy="2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3575" lIns="87200" spcFirstLastPara="1" rIns="87200" wrap="square" tIns="435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8"/>
              <a:buFont typeface="Manrope"/>
              <a:buNone/>
            </a:pPr>
            <a:r>
              <a:rPr b="0" i="0" lang="en-US" sz="858" u="none" cap="none" strike="noStrike">
                <a:solidFill>
                  <a:srgbClr val="FFFFFF"/>
                </a:solidFill>
                <a:latin typeface="Manrope"/>
                <a:ea typeface="Manrope"/>
                <a:cs typeface="Manrope"/>
                <a:sym typeface="Manrope"/>
              </a:rPr>
              <a:t>2</a:t>
            </a:r>
            <a:endParaRPr b="0" i="0" sz="85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8"/>
          <p:cNvSpPr/>
          <p:nvPr/>
        </p:nvSpPr>
        <p:spPr>
          <a:xfrm>
            <a:off x="1163276" y="2418003"/>
            <a:ext cx="30519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92C33"/>
              </a:buClr>
              <a:buSzPts val="1001"/>
              <a:buFont typeface="Manrope"/>
              <a:buNone/>
            </a:pPr>
            <a:r>
              <a:rPr b="0" i="0" lang="en-US" sz="1001" u="none" cap="none" strike="noStrike">
                <a:solidFill>
                  <a:srgbClr val="292C33"/>
                </a:solidFill>
                <a:latin typeface="Manrope"/>
                <a:ea typeface="Manrope"/>
                <a:cs typeface="Manrope"/>
                <a:sym typeface="Manrope"/>
              </a:rPr>
              <a:t>Платформа верифікує та стандартизує дані (Property Passport)</a:t>
            </a:r>
            <a:endParaRPr b="0" i="0" sz="100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8"/>
          <p:cNvSpPr/>
          <p:nvPr/>
        </p:nvSpPr>
        <p:spPr>
          <a:xfrm>
            <a:off x="858076" y="2897604"/>
            <a:ext cx="218100" cy="218100"/>
          </a:xfrm>
          <a:prstGeom prst="ellipse">
            <a:avLst/>
          </a:prstGeom>
          <a:solidFill>
            <a:srgbClr val="6C4CEB"/>
          </a:solidFill>
          <a:ln>
            <a:noFill/>
          </a:ln>
        </p:spPr>
        <p:txBody>
          <a:bodyPr anchorCtr="0" anchor="ctr" bIns="87200" lIns="87200" spcFirstLastPara="1" rIns="87200" wrap="square" tIns="872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8"/>
          <p:cNvSpPr/>
          <p:nvPr/>
        </p:nvSpPr>
        <p:spPr>
          <a:xfrm>
            <a:off x="858076" y="2897604"/>
            <a:ext cx="218100" cy="2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3575" lIns="87200" spcFirstLastPara="1" rIns="87200" wrap="square" tIns="435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8"/>
              <a:buFont typeface="Manrope"/>
              <a:buNone/>
            </a:pPr>
            <a:r>
              <a:rPr b="0" i="0" lang="en-US" sz="858" u="none" cap="none" strike="noStrike">
                <a:solidFill>
                  <a:srgbClr val="FFFFFF"/>
                </a:solidFill>
                <a:latin typeface="Manrope"/>
                <a:ea typeface="Manrope"/>
                <a:cs typeface="Manrope"/>
                <a:sym typeface="Manrope"/>
              </a:rPr>
              <a:t>3</a:t>
            </a:r>
            <a:endParaRPr b="0" i="0" sz="85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8"/>
          <p:cNvSpPr/>
          <p:nvPr/>
        </p:nvSpPr>
        <p:spPr>
          <a:xfrm>
            <a:off x="1163276" y="2854004"/>
            <a:ext cx="30519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92C33"/>
              </a:buClr>
              <a:buSzPts val="1001"/>
              <a:buFont typeface="Manrope"/>
              <a:buNone/>
            </a:pPr>
            <a:r>
              <a:rPr b="0" i="0" lang="en-US" sz="1001" u="none" cap="none" strike="noStrike">
                <a:solidFill>
                  <a:srgbClr val="292C33"/>
                </a:solidFill>
                <a:latin typeface="Manrope"/>
                <a:ea typeface="Manrope"/>
                <a:cs typeface="Manrope"/>
                <a:sym typeface="Manrope"/>
              </a:rPr>
              <a:t>Інвестори та девелопери отримують доступ до верифікованих об'єктів</a:t>
            </a:r>
            <a:endParaRPr b="0" i="0" sz="100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8"/>
          <p:cNvSpPr/>
          <p:nvPr/>
        </p:nvSpPr>
        <p:spPr>
          <a:xfrm>
            <a:off x="858076" y="3333605"/>
            <a:ext cx="218100" cy="218100"/>
          </a:xfrm>
          <a:prstGeom prst="ellipse">
            <a:avLst/>
          </a:prstGeom>
          <a:solidFill>
            <a:srgbClr val="6C4CEB"/>
          </a:solidFill>
          <a:ln>
            <a:noFill/>
          </a:ln>
        </p:spPr>
        <p:txBody>
          <a:bodyPr anchorCtr="0" anchor="ctr" bIns="87200" lIns="87200" spcFirstLastPara="1" rIns="87200" wrap="square" tIns="872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8"/>
          <p:cNvSpPr/>
          <p:nvPr/>
        </p:nvSpPr>
        <p:spPr>
          <a:xfrm>
            <a:off x="858076" y="3333605"/>
            <a:ext cx="218100" cy="2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3575" lIns="87200" spcFirstLastPara="1" rIns="87200" wrap="square" tIns="435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8"/>
              <a:buFont typeface="Manrope"/>
              <a:buNone/>
            </a:pPr>
            <a:r>
              <a:rPr b="0" i="0" lang="en-US" sz="858" u="none" cap="none" strike="noStrike">
                <a:solidFill>
                  <a:srgbClr val="FFFFFF"/>
                </a:solidFill>
                <a:latin typeface="Manrope"/>
                <a:ea typeface="Manrope"/>
                <a:cs typeface="Manrope"/>
                <a:sym typeface="Manrope"/>
              </a:rPr>
              <a:t>4</a:t>
            </a:r>
            <a:endParaRPr b="0" i="0" sz="85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8"/>
          <p:cNvSpPr/>
          <p:nvPr/>
        </p:nvSpPr>
        <p:spPr>
          <a:xfrm>
            <a:off x="1163276" y="3290005"/>
            <a:ext cx="30519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92C33"/>
              </a:buClr>
              <a:buSzPts val="1001"/>
              <a:buFont typeface="Manrope"/>
              <a:buNone/>
            </a:pPr>
            <a:r>
              <a:rPr b="0" i="0" lang="en-US" sz="1001" u="none" cap="none" strike="noStrike">
                <a:solidFill>
                  <a:srgbClr val="292C33"/>
                </a:solidFill>
                <a:latin typeface="Manrope"/>
                <a:ea typeface="Manrope"/>
                <a:cs typeface="Manrope"/>
                <a:sym typeface="Manrope"/>
              </a:rPr>
              <a:t>Механізм співінвестування дозволяє пулове фінансування</a:t>
            </a:r>
            <a:endParaRPr b="0" i="0" sz="100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8"/>
          <p:cNvSpPr/>
          <p:nvPr/>
        </p:nvSpPr>
        <p:spPr>
          <a:xfrm>
            <a:off x="858076" y="3769606"/>
            <a:ext cx="218100" cy="218100"/>
          </a:xfrm>
          <a:prstGeom prst="ellipse">
            <a:avLst/>
          </a:prstGeom>
          <a:solidFill>
            <a:srgbClr val="6C4CEB"/>
          </a:solidFill>
          <a:ln>
            <a:noFill/>
          </a:ln>
        </p:spPr>
        <p:txBody>
          <a:bodyPr anchorCtr="0" anchor="ctr" bIns="87200" lIns="87200" spcFirstLastPara="1" rIns="87200" wrap="square" tIns="872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8"/>
          <p:cNvSpPr/>
          <p:nvPr/>
        </p:nvSpPr>
        <p:spPr>
          <a:xfrm>
            <a:off x="858076" y="3769606"/>
            <a:ext cx="218100" cy="2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3575" lIns="87200" spcFirstLastPara="1" rIns="87200" wrap="square" tIns="435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8"/>
              <a:buFont typeface="Manrope"/>
              <a:buNone/>
            </a:pPr>
            <a:r>
              <a:rPr b="0" i="0" lang="en-US" sz="858" u="none" cap="none" strike="noStrike">
                <a:solidFill>
                  <a:srgbClr val="FFFFFF"/>
                </a:solidFill>
                <a:latin typeface="Manrope"/>
                <a:ea typeface="Manrope"/>
                <a:cs typeface="Manrope"/>
                <a:sym typeface="Manrope"/>
              </a:rPr>
              <a:t>5</a:t>
            </a:r>
            <a:endParaRPr b="0" i="0" sz="85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8"/>
          <p:cNvSpPr/>
          <p:nvPr/>
        </p:nvSpPr>
        <p:spPr>
          <a:xfrm>
            <a:off x="1163276" y="3726006"/>
            <a:ext cx="30519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92C33"/>
              </a:buClr>
              <a:buSzPts val="1001"/>
              <a:buFont typeface="Manrope"/>
              <a:buNone/>
            </a:pPr>
            <a:r>
              <a:rPr b="0" i="0" lang="en-US" sz="1001" u="none" cap="none" strike="noStrike">
                <a:solidFill>
                  <a:srgbClr val="292C33"/>
                </a:solidFill>
                <a:latin typeface="Manrope"/>
                <a:ea typeface="Manrope"/>
                <a:cs typeface="Manrope"/>
                <a:sym typeface="Manrope"/>
              </a:rPr>
              <a:t>Прозорий escrow та smart-контракти захищають всі сторони</a:t>
            </a:r>
            <a:endParaRPr b="0" i="0" sz="100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8"/>
          <p:cNvSpPr/>
          <p:nvPr/>
        </p:nvSpPr>
        <p:spPr>
          <a:xfrm>
            <a:off x="4694885" y="1371600"/>
            <a:ext cx="3793200" cy="3051900"/>
          </a:xfrm>
          <a:prstGeom prst="roundRect">
            <a:avLst>
              <a:gd fmla="val 2857" name="adj"/>
            </a:avLst>
          </a:prstGeom>
          <a:solidFill>
            <a:srgbClr val="4B30B9"/>
          </a:solidFill>
          <a:ln>
            <a:noFill/>
          </a:ln>
        </p:spPr>
        <p:txBody>
          <a:bodyPr anchorCtr="0" anchor="ctr" bIns="87200" lIns="87200" spcFirstLastPara="1" rIns="87200" wrap="square" tIns="872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29" name="Google Shape;229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912886" y="1502400"/>
            <a:ext cx="348801" cy="348801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8"/>
          <p:cNvSpPr/>
          <p:nvPr/>
        </p:nvSpPr>
        <p:spPr>
          <a:xfrm>
            <a:off x="5348887" y="1502400"/>
            <a:ext cx="28776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40"/>
              <a:buFont typeface="Unbounded"/>
              <a:buNone/>
            </a:pPr>
            <a:r>
              <a:rPr b="1" i="0" lang="en-US" sz="1239" u="none" cap="none" strike="noStrike">
                <a:solidFill>
                  <a:srgbClr val="FFFFFF"/>
                </a:solidFill>
                <a:latin typeface="Unbounded"/>
                <a:ea typeface="Unbounded"/>
                <a:cs typeface="Unbounded"/>
                <a:sym typeface="Unbounded"/>
              </a:rPr>
              <a:t>Результат для громади</a:t>
            </a:r>
            <a:endParaRPr b="0" i="0" sz="123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8"/>
          <p:cNvSpPr/>
          <p:nvPr/>
        </p:nvSpPr>
        <p:spPr>
          <a:xfrm>
            <a:off x="4912886" y="2025602"/>
            <a:ext cx="1308000" cy="3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6FF0"/>
              </a:buClr>
              <a:buSzPts val="1001"/>
              <a:buFont typeface="Unbounded"/>
              <a:buNone/>
            </a:pPr>
            <a:r>
              <a:rPr b="1" i="0" lang="en-US" sz="1001" u="none" cap="none" strike="noStrike">
                <a:solidFill>
                  <a:schemeClr val="lt1"/>
                </a:solidFill>
                <a:latin typeface="Unbounded"/>
                <a:ea typeface="Unbounded"/>
                <a:cs typeface="Unbounded"/>
                <a:sym typeface="Unbounded"/>
              </a:rPr>
              <a:t>Залучення</a:t>
            </a:r>
            <a:endParaRPr b="0" i="0" sz="1001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8"/>
          <p:cNvSpPr/>
          <p:nvPr/>
        </p:nvSpPr>
        <p:spPr>
          <a:xfrm>
            <a:off x="6323249" y="2025600"/>
            <a:ext cx="1990500" cy="3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1"/>
              <a:buFont typeface="Manrope"/>
              <a:buNone/>
            </a:pPr>
            <a:r>
              <a:rPr b="0" i="0" lang="en-US" sz="1001" u="none" cap="none" strike="noStrike">
                <a:solidFill>
                  <a:srgbClr val="FFFFFF"/>
                </a:solidFill>
                <a:latin typeface="Manrope"/>
                <a:ea typeface="Manrope"/>
                <a:cs typeface="Manrope"/>
                <a:sym typeface="Manrope"/>
              </a:rPr>
              <a:t>іноземних інвестицій без посередників</a:t>
            </a:r>
            <a:endParaRPr b="0" i="0" sz="100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8"/>
          <p:cNvSpPr/>
          <p:nvPr/>
        </p:nvSpPr>
        <p:spPr>
          <a:xfrm>
            <a:off x="4912886" y="2461603"/>
            <a:ext cx="1308000" cy="3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6FF0"/>
              </a:buClr>
              <a:buSzPts val="1001"/>
              <a:buFont typeface="Unbounded"/>
              <a:buNone/>
            </a:pPr>
            <a:r>
              <a:rPr b="1" i="0" lang="en-US" sz="1001" u="none" cap="none" strike="noStrike">
                <a:solidFill>
                  <a:schemeClr val="lt1"/>
                </a:solidFill>
                <a:latin typeface="Unbounded"/>
                <a:ea typeface="Unbounded"/>
                <a:cs typeface="Unbounded"/>
                <a:sym typeface="Unbounded"/>
              </a:rPr>
              <a:t>Прозорість</a:t>
            </a:r>
            <a:endParaRPr b="0" i="0" sz="1001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8"/>
          <p:cNvSpPr/>
          <p:nvPr/>
        </p:nvSpPr>
        <p:spPr>
          <a:xfrm>
            <a:off x="6323249" y="2461600"/>
            <a:ext cx="1990500" cy="3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1"/>
              <a:buFont typeface="Manrope"/>
              <a:buNone/>
            </a:pPr>
            <a:r>
              <a:rPr b="0" i="0" lang="en-US" sz="1001" u="none" cap="none" strike="noStrike">
                <a:solidFill>
                  <a:srgbClr val="FFFFFF"/>
                </a:solidFill>
                <a:latin typeface="Manrope"/>
                <a:ea typeface="Manrope"/>
                <a:cs typeface="Manrope"/>
                <a:sym typeface="Manrope"/>
              </a:rPr>
              <a:t>кожної транзакції для громади</a:t>
            </a:r>
            <a:endParaRPr b="0" i="0" sz="100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8"/>
          <p:cNvSpPr/>
          <p:nvPr/>
        </p:nvSpPr>
        <p:spPr>
          <a:xfrm>
            <a:off x="4912886" y="2897604"/>
            <a:ext cx="1308000" cy="3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6FF0"/>
              </a:buClr>
              <a:buSzPts val="1001"/>
              <a:buFont typeface="Unbounded"/>
              <a:buNone/>
            </a:pPr>
            <a:r>
              <a:rPr b="1" i="0" lang="en-US" sz="1001" u="none" cap="none" strike="noStrike">
                <a:solidFill>
                  <a:schemeClr val="lt1"/>
                </a:solidFill>
                <a:latin typeface="Unbounded"/>
                <a:ea typeface="Unbounded"/>
                <a:cs typeface="Unbounded"/>
                <a:sym typeface="Unbounded"/>
              </a:rPr>
              <a:t>Реінвестування</a:t>
            </a:r>
            <a:endParaRPr b="0" i="0" sz="1001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8"/>
          <p:cNvSpPr/>
          <p:nvPr/>
        </p:nvSpPr>
        <p:spPr>
          <a:xfrm>
            <a:off x="6323249" y="2897600"/>
            <a:ext cx="1990500" cy="3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1"/>
              <a:buFont typeface="Manrope"/>
              <a:buNone/>
            </a:pPr>
            <a:r>
              <a:rPr b="0" i="0" lang="en-US" sz="1001" u="none" cap="none" strike="noStrike">
                <a:solidFill>
                  <a:srgbClr val="FFFFFF"/>
                </a:solidFill>
                <a:latin typeface="Manrope"/>
                <a:ea typeface="Manrope"/>
                <a:cs typeface="Manrope"/>
                <a:sym typeface="Manrope"/>
              </a:rPr>
              <a:t>прибутків всередині муніципалітету</a:t>
            </a:r>
            <a:endParaRPr b="0" i="0" sz="100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8"/>
          <p:cNvSpPr/>
          <p:nvPr/>
        </p:nvSpPr>
        <p:spPr>
          <a:xfrm>
            <a:off x="4912886" y="3333605"/>
            <a:ext cx="1308000" cy="3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6FF0"/>
              </a:buClr>
              <a:buSzPts val="1001"/>
              <a:buFont typeface="Unbounded"/>
              <a:buNone/>
            </a:pPr>
            <a:r>
              <a:rPr b="1" i="0" lang="en-US" sz="1001" u="none" cap="none" strike="noStrike">
                <a:solidFill>
                  <a:schemeClr val="lt1"/>
                </a:solidFill>
                <a:latin typeface="Unbounded"/>
                <a:ea typeface="Unbounded"/>
                <a:cs typeface="Unbounded"/>
                <a:sym typeface="Unbounded"/>
              </a:rPr>
              <a:t>Ефективність</a:t>
            </a:r>
            <a:endParaRPr b="0" i="0" sz="1001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8"/>
          <p:cNvSpPr/>
          <p:nvPr/>
        </p:nvSpPr>
        <p:spPr>
          <a:xfrm>
            <a:off x="6323249" y="3333600"/>
            <a:ext cx="1990500" cy="3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1"/>
              <a:buFont typeface="Manrope"/>
              <a:buNone/>
            </a:pPr>
            <a:r>
              <a:rPr b="0" i="0" lang="en-US" sz="1001" u="none" cap="none" strike="noStrike">
                <a:solidFill>
                  <a:srgbClr val="FFFFFF"/>
                </a:solidFill>
                <a:latin typeface="Manrope"/>
                <a:ea typeface="Manrope"/>
                <a:cs typeface="Manrope"/>
                <a:sym typeface="Manrope"/>
              </a:rPr>
              <a:t>скорочення циклу угод з 90 до 30 днів</a:t>
            </a:r>
            <a:endParaRPr b="0" i="0" sz="100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8"/>
          <p:cNvSpPr/>
          <p:nvPr/>
        </p:nvSpPr>
        <p:spPr>
          <a:xfrm>
            <a:off x="4912886" y="3769606"/>
            <a:ext cx="1308000" cy="3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6FF0"/>
              </a:buClr>
              <a:buSzPts val="1001"/>
              <a:buFont typeface="Unbounded"/>
              <a:buNone/>
            </a:pPr>
            <a:r>
              <a:rPr b="1" i="0" lang="en-US" sz="1001" u="none" cap="none" strike="noStrike">
                <a:solidFill>
                  <a:schemeClr val="lt1"/>
                </a:solidFill>
                <a:latin typeface="Unbounded"/>
                <a:ea typeface="Unbounded"/>
                <a:cs typeface="Unbounded"/>
                <a:sym typeface="Unbounded"/>
              </a:rPr>
              <a:t>Зростання</a:t>
            </a:r>
            <a:endParaRPr b="0" i="0" sz="1001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8"/>
          <p:cNvSpPr/>
          <p:nvPr/>
        </p:nvSpPr>
        <p:spPr>
          <a:xfrm>
            <a:off x="6323249" y="3769601"/>
            <a:ext cx="1990500" cy="3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1"/>
              <a:buFont typeface="Manrope"/>
              <a:buNone/>
            </a:pPr>
            <a:r>
              <a:rPr b="0" i="0" lang="en-US" sz="1001" u="none" cap="none" strike="noStrike">
                <a:solidFill>
                  <a:srgbClr val="FFFFFF"/>
                </a:solidFill>
                <a:latin typeface="Manrope"/>
                <a:ea typeface="Manrope"/>
                <a:cs typeface="Manrope"/>
                <a:sym typeface="Manrope"/>
              </a:rPr>
              <a:t>економічний розвиток громади та держави</a:t>
            </a:r>
            <a:endParaRPr b="0" i="0" sz="100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5FC"/>
        </a:solidFill>
      </p:bgPr>
    </p:bg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claude/logo_banda.png" id="246" name="Google Shape;246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0075" y="4636401"/>
            <a:ext cx="822960" cy="283464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p9"/>
          <p:cNvSpPr/>
          <p:nvPr/>
        </p:nvSpPr>
        <p:spPr>
          <a:xfrm>
            <a:off x="640080" y="32004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141A"/>
              </a:buClr>
              <a:buSzPts val="2400"/>
              <a:buFont typeface="Unbounded"/>
              <a:buNone/>
            </a:pPr>
            <a:r>
              <a:rPr b="1" i="0" lang="en-US" sz="2400" u="none" cap="none" strike="noStrike">
                <a:solidFill>
                  <a:srgbClr val="12141A"/>
                </a:solidFill>
                <a:latin typeface="Unbounded"/>
                <a:ea typeface="Unbounded"/>
                <a:cs typeface="Unbounded"/>
                <a:sym typeface="Unbounded"/>
              </a:rPr>
              <a:t>Залучення </a:t>
            </a:r>
            <a:r>
              <a:rPr b="1" i="0" lang="en-US" sz="2400" u="none" cap="none" strike="noStrike">
                <a:solidFill>
                  <a:srgbClr val="6C4CEB"/>
                </a:solidFill>
                <a:latin typeface="Unbounded"/>
                <a:ea typeface="Unbounded"/>
                <a:cs typeface="Unbounded"/>
                <a:sym typeface="Unbounded"/>
              </a:rPr>
              <a:t>іноземних інвестицій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9"/>
          <p:cNvSpPr/>
          <p:nvPr/>
        </p:nvSpPr>
        <p:spPr>
          <a:xfrm>
            <a:off x="545154" y="822960"/>
            <a:ext cx="7315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6870"/>
              </a:buClr>
              <a:buSzPts val="1300"/>
              <a:buFont typeface="Manrope"/>
              <a:buNone/>
            </a:pPr>
            <a:r>
              <a:rPr b="0" i="0" lang="en-US" sz="1300" u="none" cap="none" strike="noStrike">
                <a:solidFill>
                  <a:srgbClr val="646870"/>
                </a:solidFill>
                <a:latin typeface="Manrope"/>
                <a:ea typeface="Manrope"/>
                <a:cs typeface="Manrope"/>
                <a:sym typeface="Manrope"/>
              </a:rPr>
              <a:t>BANDA як канал прямих інвестицій у громаду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9"/>
          <p:cNvSpPr/>
          <p:nvPr/>
        </p:nvSpPr>
        <p:spPr>
          <a:xfrm>
            <a:off x="640075" y="1371600"/>
            <a:ext cx="2412900" cy="1072200"/>
          </a:xfrm>
          <a:prstGeom prst="roundRect">
            <a:avLst>
              <a:gd fmla="val 8333" name="adj"/>
            </a:avLst>
          </a:prstGeom>
          <a:solidFill>
            <a:srgbClr val="4B30B9"/>
          </a:solidFill>
          <a:ln>
            <a:noFill/>
          </a:ln>
        </p:spPr>
        <p:txBody>
          <a:bodyPr anchorCtr="0" anchor="ctr" bIns="89350" lIns="89350" spcFirstLastPara="1" rIns="89350" wrap="square" tIns="893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9"/>
          <p:cNvSpPr/>
          <p:nvPr/>
        </p:nvSpPr>
        <p:spPr>
          <a:xfrm>
            <a:off x="640075" y="1416281"/>
            <a:ext cx="2412900" cy="40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4650" lIns="89350" spcFirstLastPara="1" rIns="89350" wrap="square" tIns="446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73"/>
              <a:buFont typeface="Unbounded"/>
              <a:buNone/>
            </a:pPr>
            <a:r>
              <a:rPr b="1" i="0" lang="en-US" sz="1172" u="none" cap="none" strike="noStrike">
                <a:solidFill>
                  <a:srgbClr val="FFFFFF"/>
                </a:solidFill>
                <a:latin typeface="Unbounded"/>
                <a:ea typeface="Unbounded"/>
                <a:cs typeface="Unbounded"/>
                <a:sym typeface="Unbounded"/>
              </a:rPr>
              <a:t>Муніципалітет</a:t>
            </a:r>
            <a:endParaRPr b="0" i="0" sz="117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9"/>
          <p:cNvSpPr/>
          <p:nvPr/>
        </p:nvSpPr>
        <p:spPr>
          <a:xfrm>
            <a:off x="640075" y="1818407"/>
            <a:ext cx="2412900" cy="49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4650" lIns="89350" spcFirstLastPara="1" rIns="89350" wrap="square" tIns="4465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B6FF0"/>
              </a:buClr>
              <a:buSzPts val="977"/>
              <a:buFont typeface="Manrope"/>
              <a:buNone/>
            </a:pPr>
            <a:r>
              <a:rPr b="0" i="0" lang="en-US" sz="977" u="none" cap="none" strike="noStrik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rPr>
              <a:t>Об'єкти, земля, проєкти PPP</a:t>
            </a:r>
            <a:endParaRPr b="0" i="0" sz="977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9"/>
          <p:cNvSpPr/>
          <p:nvPr/>
        </p:nvSpPr>
        <p:spPr>
          <a:xfrm>
            <a:off x="3365614" y="1371600"/>
            <a:ext cx="2412900" cy="1072200"/>
          </a:xfrm>
          <a:prstGeom prst="roundRect">
            <a:avLst>
              <a:gd fmla="val 8333" name="adj"/>
            </a:avLst>
          </a:prstGeom>
          <a:solidFill>
            <a:srgbClr val="4B30B9"/>
          </a:solidFill>
          <a:ln>
            <a:noFill/>
          </a:ln>
        </p:spPr>
        <p:txBody>
          <a:bodyPr anchorCtr="0" anchor="ctr" bIns="89350" lIns="89350" spcFirstLastPara="1" rIns="89350" wrap="square" tIns="893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9"/>
          <p:cNvSpPr/>
          <p:nvPr/>
        </p:nvSpPr>
        <p:spPr>
          <a:xfrm>
            <a:off x="3365614" y="1416281"/>
            <a:ext cx="2412900" cy="40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4650" lIns="89350" spcFirstLastPara="1" rIns="89350" wrap="square" tIns="446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73"/>
              <a:buFont typeface="Unbounded"/>
              <a:buNone/>
            </a:pPr>
            <a:r>
              <a:rPr b="1" i="0" lang="en-US" sz="1172" u="none" cap="none" strike="noStrike">
                <a:solidFill>
                  <a:srgbClr val="FFFFFF"/>
                </a:solidFill>
                <a:latin typeface="Unbounded"/>
                <a:ea typeface="Unbounded"/>
                <a:cs typeface="Unbounded"/>
                <a:sym typeface="Unbounded"/>
              </a:rPr>
              <a:t>BANDA</a:t>
            </a:r>
            <a:endParaRPr b="0" i="0" sz="117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9"/>
          <p:cNvSpPr/>
          <p:nvPr/>
        </p:nvSpPr>
        <p:spPr>
          <a:xfrm>
            <a:off x="3365614" y="1818407"/>
            <a:ext cx="2412900" cy="49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4650" lIns="89350" spcFirstLastPara="1" rIns="89350" wrap="square" tIns="4465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B6FF0"/>
              </a:buClr>
              <a:buSzPts val="977"/>
              <a:buFont typeface="Manrope"/>
              <a:buNone/>
            </a:pPr>
            <a:r>
              <a:rPr b="0" i="0" lang="en-US" sz="977" u="none" cap="none" strike="noStrik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rPr>
              <a:t>Верифікація, стандартизація</a:t>
            </a:r>
            <a:endParaRPr b="0" i="0" sz="977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9"/>
          <p:cNvSpPr/>
          <p:nvPr/>
        </p:nvSpPr>
        <p:spPr>
          <a:xfrm>
            <a:off x="6091153" y="1371600"/>
            <a:ext cx="2412900" cy="1072200"/>
          </a:xfrm>
          <a:prstGeom prst="roundRect">
            <a:avLst>
              <a:gd fmla="val 8333" name="adj"/>
            </a:avLst>
          </a:prstGeom>
          <a:solidFill>
            <a:srgbClr val="4B30B9"/>
          </a:solidFill>
          <a:ln>
            <a:noFill/>
          </a:ln>
        </p:spPr>
        <p:txBody>
          <a:bodyPr anchorCtr="0" anchor="ctr" bIns="89350" lIns="89350" spcFirstLastPara="1" rIns="89350" wrap="square" tIns="893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9"/>
          <p:cNvSpPr/>
          <p:nvPr/>
        </p:nvSpPr>
        <p:spPr>
          <a:xfrm>
            <a:off x="6091153" y="1416281"/>
            <a:ext cx="2412900" cy="40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4650" lIns="89350" spcFirstLastPara="1" rIns="89350" wrap="square" tIns="446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73"/>
              <a:buFont typeface="Unbounded"/>
              <a:buNone/>
            </a:pPr>
            <a:r>
              <a:rPr b="1" i="0" lang="en-US" sz="1172" u="none" cap="none" strike="noStrike">
                <a:solidFill>
                  <a:srgbClr val="FFFFFF"/>
                </a:solidFill>
                <a:latin typeface="Unbounded"/>
                <a:ea typeface="Unbounded"/>
                <a:cs typeface="Unbounded"/>
                <a:sym typeface="Unbounded"/>
              </a:rPr>
              <a:t>Іноземний капітал</a:t>
            </a:r>
            <a:endParaRPr b="0" i="0" sz="117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9"/>
          <p:cNvSpPr/>
          <p:nvPr/>
        </p:nvSpPr>
        <p:spPr>
          <a:xfrm>
            <a:off x="6091153" y="1818407"/>
            <a:ext cx="2412900" cy="49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4650" lIns="89350" spcFirstLastPara="1" rIns="89350" wrap="square" tIns="4465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B6FF0"/>
              </a:buClr>
              <a:buSzPts val="977"/>
              <a:buFont typeface="Manrope"/>
              <a:buNone/>
            </a:pPr>
            <a:r>
              <a:rPr b="0" i="0" lang="en-US" sz="977" u="none" cap="none" strike="noStrik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rPr>
              <a:t>Інвестори, фонди, Family Offices</a:t>
            </a:r>
            <a:endParaRPr b="0" i="0" sz="977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9"/>
          <p:cNvSpPr/>
          <p:nvPr/>
        </p:nvSpPr>
        <p:spPr>
          <a:xfrm>
            <a:off x="2984184" y="1671512"/>
            <a:ext cx="312900" cy="44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4650" lIns="89350" spcFirstLastPara="1" rIns="89350" wrap="square" tIns="446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C4CEB"/>
              </a:buClr>
              <a:buSzPts val="2150"/>
              <a:buFont typeface="Manrope"/>
              <a:buNone/>
            </a:pPr>
            <a:r>
              <a:rPr b="0" i="0" lang="en-US" sz="2150" u="none" cap="none" strike="noStrike">
                <a:solidFill>
                  <a:srgbClr val="6C4CEB"/>
                </a:solidFill>
                <a:latin typeface="Manrope"/>
                <a:ea typeface="Manrope"/>
                <a:cs typeface="Manrope"/>
                <a:sym typeface="Manrope"/>
              </a:rPr>
              <a:t>→</a:t>
            </a:r>
            <a:endParaRPr b="0" i="0" sz="2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9"/>
          <p:cNvSpPr/>
          <p:nvPr/>
        </p:nvSpPr>
        <p:spPr>
          <a:xfrm>
            <a:off x="5714670" y="1668923"/>
            <a:ext cx="312900" cy="44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4650" lIns="89350" spcFirstLastPara="1" rIns="89350" wrap="square" tIns="446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C4CEB"/>
              </a:buClr>
              <a:buSzPts val="2150"/>
              <a:buFont typeface="Manrope"/>
              <a:buNone/>
            </a:pPr>
            <a:r>
              <a:rPr b="0" i="0" lang="en-US" sz="2150" u="none" cap="none" strike="noStrike">
                <a:solidFill>
                  <a:srgbClr val="6C4CEB"/>
                </a:solidFill>
                <a:latin typeface="Manrope"/>
                <a:ea typeface="Manrope"/>
                <a:cs typeface="Manrope"/>
                <a:sym typeface="Manrope"/>
              </a:rPr>
              <a:t>→</a:t>
            </a:r>
            <a:endParaRPr b="0" i="0" sz="2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9"/>
          <p:cNvSpPr/>
          <p:nvPr/>
        </p:nvSpPr>
        <p:spPr>
          <a:xfrm>
            <a:off x="648700" y="2743200"/>
            <a:ext cx="2505300" cy="1401300"/>
          </a:xfrm>
          <a:prstGeom prst="roundRect">
            <a:avLst>
              <a:gd fmla="val 6061" name="adj"/>
            </a:avLst>
          </a:prstGeom>
          <a:solidFill>
            <a:srgbClr val="FFFFFF"/>
          </a:solidFill>
          <a:ln>
            <a:noFill/>
          </a:ln>
          <a:effectLst>
            <a:outerShdw blurRad="94359" rotWithShape="0" algn="bl" dir="8100000" dist="23590">
              <a:srgbClr val="000000">
                <a:alpha val="5882"/>
              </a:srgbClr>
            </a:outerShdw>
          </a:effectLst>
        </p:spPr>
        <p:txBody>
          <a:bodyPr anchorCtr="0" anchor="ctr" bIns="84900" lIns="84900" spcFirstLastPara="1" rIns="84900" wrap="square" tIns="84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9"/>
          <p:cNvSpPr/>
          <p:nvPr/>
        </p:nvSpPr>
        <p:spPr>
          <a:xfrm>
            <a:off x="776085" y="2828122"/>
            <a:ext cx="2250300" cy="29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C4CEB"/>
              </a:buClr>
              <a:buSzPts val="1114"/>
              <a:buFont typeface="Unbounded"/>
              <a:buNone/>
            </a:pPr>
            <a:r>
              <a:rPr b="1" i="0" lang="en-US" sz="1114" u="none" cap="none" strike="noStrike">
                <a:solidFill>
                  <a:srgbClr val="6C4CEB"/>
                </a:solidFill>
                <a:latin typeface="Unbounded"/>
                <a:ea typeface="Unbounded"/>
                <a:cs typeface="Unbounded"/>
                <a:sym typeface="Unbounded"/>
              </a:rPr>
              <a:t>Токенізація RWA</a:t>
            </a:r>
            <a:endParaRPr b="0" i="0" sz="111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9"/>
          <p:cNvSpPr/>
          <p:nvPr/>
        </p:nvSpPr>
        <p:spPr>
          <a:xfrm>
            <a:off x="776085" y="3167812"/>
            <a:ext cx="2250300" cy="76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46870"/>
              </a:buClr>
              <a:buSzPts val="975"/>
              <a:buFont typeface="Manrope"/>
              <a:buNone/>
            </a:pPr>
            <a:r>
              <a:rPr b="0" i="0" lang="en-US" sz="975" u="none" cap="none" strike="noStrike">
                <a:solidFill>
                  <a:srgbClr val="646870"/>
                </a:solidFill>
                <a:latin typeface="Manrope"/>
                <a:ea typeface="Manrope"/>
                <a:cs typeface="Manrope"/>
                <a:sym typeface="Manrope"/>
              </a:rPr>
              <a:t>Фракційне володіння нерухомістю відкриває об'єкти для міжнародних мікроінвесторів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9"/>
          <p:cNvSpPr/>
          <p:nvPr/>
        </p:nvSpPr>
        <p:spPr>
          <a:xfrm>
            <a:off x="3323776" y="2743200"/>
            <a:ext cx="2505300" cy="1401300"/>
          </a:xfrm>
          <a:prstGeom prst="roundRect">
            <a:avLst>
              <a:gd fmla="val 6061" name="adj"/>
            </a:avLst>
          </a:prstGeom>
          <a:solidFill>
            <a:srgbClr val="FFFFFF"/>
          </a:solidFill>
          <a:ln>
            <a:noFill/>
          </a:ln>
          <a:effectLst>
            <a:outerShdw blurRad="94359" rotWithShape="0" algn="bl" dir="8100000" dist="23590">
              <a:srgbClr val="000000">
                <a:alpha val="5882"/>
              </a:srgbClr>
            </a:outerShdw>
          </a:effectLst>
        </p:spPr>
        <p:txBody>
          <a:bodyPr anchorCtr="0" anchor="ctr" bIns="84900" lIns="84900" spcFirstLastPara="1" rIns="84900" wrap="square" tIns="84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9"/>
          <p:cNvSpPr/>
          <p:nvPr/>
        </p:nvSpPr>
        <p:spPr>
          <a:xfrm>
            <a:off x="3451161" y="2828122"/>
            <a:ext cx="2250300" cy="29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C4CEB"/>
              </a:buClr>
              <a:buSzPts val="1114"/>
              <a:buFont typeface="Unbounded"/>
              <a:buNone/>
            </a:pPr>
            <a:r>
              <a:rPr b="1" i="0" lang="en-US" sz="1114" u="none" cap="none" strike="noStrike">
                <a:solidFill>
                  <a:srgbClr val="6C4CEB"/>
                </a:solidFill>
                <a:latin typeface="Unbounded"/>
                <a:ea typeface="Unbounded"/>
                <a:cs typeface="Unbounded"/>
                <a:sym typeface="Unbounded"/>
              </a:rPr>
              <a:t>Escrow &amp; Smart Contracts</a:t>
            </a:r>
            <a:endParaRPr b="0" i="0" sz="111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9"/>
          <p:cNvSpPr/>
          <p:nvPr/>
        </p:nvSpPr>
        <p:spPr>
          <a:xfrm>
            <a:off x="3451161" y="3167812"/>
            <a:ext cx="2250300" cy="76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46870"/>
              </a:buClr>
              <a:buSzPts val="975"/>
              <a:buFont typeface="Manrope"/>
              <a:buNone/>
            </a:pPr>
            <a:r>
              <a:rPr b="0" i="0" lang="en-US" sz="975" u="none" cap="none" strike="noStrike">
                <a:solidFill>
                  <a:srgbClr val="646870"/>
                </a:solidFill>
                <a:latin typeface="Manrope"/>
                <a:ea typeface="Manrope"/>
                <a:cs typeface="Manrope"/>
                <a:sym typeface="Manrope"/>
              </a:rPr>
              <a:t>Захист обох сторін угоди через прозорі цифрові контракти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9"/>
          <p:cNvSpPr/>
          <p:nvPr/>
        </p:nvSpPr>
        <p:spPr>
          <a:xfrm>
            <a:off x="5998852" y="2743200"/>
            <a:ext cx="2505300" cy="1401300"/>
          </a:xfrm>
          <a:prstGeom prst="roundRect">
            <a:avLst>
              <a:gd fmla="val 6061" name="adj"/>
            </a:avLst>
          </a:prstGeom>
          <a:solidFill>
            <a:srgbClr val="FFFFFF"/>
          </a:solidFill>
          <a:ln>
            <a:noFill/>
          </a:ln>
          <a:effectLst>
            <a:outerShdw blurRad="94359" rotWithShape="0" algn="bl" dir="8100000" dist="23590">
              <a:srgbClr val="000000">
                <a:alpha val="5882"/>
              </a:srgbClr>
            </a:outerShdw>
          </a:effectLst>
        </p:spPr>
        <p:txBody>
          <a:bodyPr anchorCtr="0" anchor="ctr" bIns="84900" lIns="84900" spcFirstLastPara="1" rIns="84900" wrap="square" tIns="84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9"/>
          <p:cNvSpPr/>
          <p:nvPr/>
        </p:nvSpPr>
        <p:spPr>
          <a:xfrm>
            <a:off x="6126237" y="2828122"/>
            <a:ext cx="2250300" cy="29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C4CEB"/>
              </a:buClr>
              <a:buSzPts val="1114"/>
              <a:buFont typeface="Unbounded"/>
              <a:buNone/>
            </a:pPr>
            <a:r>
              <a:rPr b="1" i="0" lang="en-US" sz="1114" u="none" cap="none" strike="noStrike">
                <a:solidFill>
                  <a:srgbClr val="6C4CEB"/>
                </a:solidFill>
                <a:latin typeface="Unbounded"/>
                <a:ea typeface="Unbounded"/>
                <a:cs typeface="Unbounded"/>
                <a:sym typeface="Unbounded"/>
              </a:rPr>
              <a:t>Внутрішнє реінвестування</a:t>
            </a:r>
            <a:endParaRPr b="0" i="0" sz="111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9"/>
          <p:cNvSpPr/>
          <p:nvPr/>
        </p:nvSpPr>
        <p:spPr>
          <a:xfrm>
            <a:off x="6126237" y="3167812"/>
            <a:ext cx="2250300" cy="76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46870"/>
              </a:buClr>
              <a:buSzPts val="975"/>
              <a:buFont typeface="Manrope"/>
              <a:buNone/>
            </a:pPr>
            <a:r>
              <a:rPr b="0" i="0" lang="en-US" sz="975" u="none" cap="none" strike="noStrike">
                <a:solidFill>
                  <a:srgbClr val="646870"/>
                </a:solidFill>
                <a:latin typeface="Manrope"/>
                <a:ea typeface="Manrope"/>
                <a:cs typeface="Manrope"/>
                <a:sym typeface="Manrope"/>
              </a:rPr>
              <a:t>Прибутки від угод залишаються в економіці громади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5FC"/>
        </a:solidFill>
      </p:bgPr>
    </p:bg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claude/logo_banda.png" id="274" name="Google Shape;274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0075" y="4860025"/>
            <a:ext cx="822960" cy="283464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p10"/>
          <p:cNvSpPr/>
          <p:nvPr/>
        </p:nvSpPr>
        <p:spPr>
          <a:xfrm>
            <a:off x="640080" y="32004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C4CEB"/>
              </a:buClr>
              <a:buSzPts val="2600"/>
              <a:buFont typeface="Unbounded"/>
              <a:buNone/>
            </a:pPr>
            <a:r>
              <a:rPr b="1" i="0" lang="en-US" sz="2600" u="none" cap="none" strike="noStrike">
                <a:solidFill>
                  <a:srgbClr val="6C4CEB"/>
                </a:solidFill>
                <a:latin typeface="Unbounded"/>
                <a:ea typeface="Unbounded"/>
                <a:cs typeface="Unbounded"/>
                <a:sym typeface="Unbounded"/>
              </a:rPr>
              <a:t>Реінтеграція </a:t>
            </a:r>
            <a:r>
              <a:rPr b="1" i="0" lang="en-US" sz="2600" u="none" cap="none" strike="noStrike">
                <a:solidFill>
                  <a:srgbClr val="12141A"/>
                </a:solidFill>
                <a:latin typeface="Unbounded"/>
                <a:ea typeface="Unbounded"/>
                <a:cs typeface="Unbounded"/>
                <a:sym typeface="Unbounded"/>
              </a:rPr>
              <a:t>ветеранів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10"/>
          <p:cNvSpPr/>
          <p:nvPr/>
        </p:nvSpPr>
        <p:spPr>
          <a:xfrm>
            <a:off x="563880" y="822960"/>
            <a:ext cx="7315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6870"/>
              </a:buClr>
              <a:buSzPts val="1300"/>
              <a:buFont typeface="Manrope"/>
              <a:buNone/>
            </a:pPr>
            <a:r>
              <a:rPr b="0" i="0" lang="en-US" sz="1300" u="none" cap="none" strike="noStrike">
                <a:solidFill>
                  <a:srgbClr val="646870"/>
                </a:solidFill>
                <a:latin typeface="Manrope"/>
                <a:ea typeface="Manrope"/>
                <a:cs typeface="Manrope"/>
                <a:sym typeface="Manrope"/>
              </a:rPr>
              <a:t>Безкоштовна платформа навчання — нова кар'єра для захисників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10"/>
          <p:cNvSpPr/>
          <p:nvPr/>
        </p:nvSpPr>
        <p:spPr>
          <a:xfrm>
            <a:off x="650250" y="1600200"/>
            <a:ext cx="3731100" cy="2835600"/>
          </a:xfrm>
          <a:prstGeom prst="roundRect">
            <a:avLst>
              <a:gd fmla="val 2703" name="adj"/>
            </a:avLst>
          </a:prstGeom>
          <a:solidFill>
            <a:srgbClr val="FFFFFF"/>
          </a:solidFill>
          <a:ln>
            <a:noFill/>
          </a:ln>
          <a:effectLst>
            <a:outerShdw blurRad="95300" rotWithShape="0" algn="bl" dir="8100000" dist="23825">
              <a:srgbClr val="000000">
                <a:alpha val="5882"/>
              </a:srgbClr>
            </a:outerShdw>
          </a:effectLst>
        </p:spPr>
        <p:txBody>
          <a:bodyPr anchorCtr="0" anchor="ctr" bIns="85750" lIns="85750" spcFirstLastPara="1" rIns="85750" wrap="square" tIns="857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10"/>
          <p:cNvSpPr/>
          <p:nvPr/>
        </p:nvSpPr>
        <p:spPr>
          <a:xfrm>
            <a:off x="864666" y="1728855"/>
            <a:ext cx="11148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C4CEB"/>
              </a:buClr>
              <a:buSzPts val="1876"/>
              <a:buFont typeface="Unbounded"/>
              <a:buNone/>
            </a:pPr>
            <a:r>
              <a:rPr b="1" i="0" lang="en-US" sz="1575" u="none" cap="none" strike="noStrike">
                <a:solidFill>
                  <a:srgbClr val="6C4CEB"/>
                </a:solidFill>
                <a:latin typeface="Unbounded"/>
                <a:ea typeface="Unbounded"/>
                <a:cs typeface="Unbounded"/>
                <a:sym typeface="Unbounded"/>
              </a:rPr>
              <a:t>1.2M+</a:t>
            </a:r>
            <a:endParaRPr b="0" i="0" sz="15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10"/>
          <p:cNvSpPr/>
          <p:nvPr/>
        </p:nvSpPr>
        <p:spPr>
          <a:xfrm>
            <a:off x="2128550" y="1728850"/>
            <a:ext cx="20382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92C33"/>
              </a:buClr>
              <a:buSzPts val="1032"/>
              <a:buFont typeface="Manrope"/>
              <a:buNone/>
            </a:pPr>
            <a:r>
              <a:rPr b="0" i="0" lang="en-US" sz="1031" u="none" cap="none" strike="noStrike">
                <a:solidFill>
                  <a:srgbClr val="292C33"/>
                </a:solidFill>
                <a:latin typeface="Manrope"/>
                <a:ea typeface="Manrope"/>
                <a:cs typeface="Manrope"/>
                <a:sym typeface="Manrope"/>
              </a:rPr>
              <a:t>зареєстрованих ветеранів в Україні</a:t>
            </a:r>
            <a:endParaRPr b="0" i="0" sz="103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80" name="Google Shape;280;p10"/>
          <p:cNvCxnSpPr/>
          <p:nvPr/>
        </p:nvCxnSpPr>
        <p:spPr>
          <a:xfrm>
            <a:off x="864666" y="2200590"/>
            <a:ext cx="3259200" cy="0"/>
          </a:xfrm>
          <a:prstGeom prst="straightConnector1">
            <a:avLst/>
          </a:prstGeom>
          <a:noFill/>
          <a:ln cap="flat" cmpd="sng" w="8925">
            <a:solidFill>
              <a:srgbClr val="EDE8F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1" name="Google Shape;281;p10"/>
          <p:cNvSpPr/>
          <p:nvPr/>
        </p:nvSpPr>
        <p:spPr>
          <a:xfrm>
            <a:off x="864666" y="2457899"/>
            <a:ext cx="11148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C4CEB"/>
              </a:buClr>
              <a:buSzPts val="1876"/>
              <a:buFont typeface="Unbounded"/>
              <a:buNone/>
            </a:pPr>
            <a:r>
              <a:rPr b="1" i="0" lang="en-US" sz="1575" u="none" cap="none" strike="noStrike">
                <a:solidFill>
                  <a:srgbClr val="6C4CEB"/>
                </a:solidFill>
                <a:latin typeface="Unbounded"/>
                <a:ea typeface="Unbounded"/>
                <a:cs typeface="Unbounded"/>
                <a:sym typeface="Unbounded"/>
              </a:rPr>
              <a:t>5-6M</a:t>
            </a:r>
            <a:endParaRPr b="0" i="0" sz="15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10"/>
          <p:cNvSpPr/>
          <p:nvPr/>
        </p:nvSpPr>
        <p:spPr>
          <a:xfrm>
            <a:off x="2128550" y="2457899"/>
            <a:ext cx="20382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92C33"/>
              </a:buClr>
              <a:buSzPts val="1032"/>
              <a:buFont typeface="Manrope"/>
              <a:buNone/>
            </a:pPr>
            <a:r>
              <a:rPr b="0" i="0" lang="en-US" sz="1031" u="none" cap="none" strike="noStrike">
                <a:solidFill>
                  <a:srgbClr val="292C33"/>
                </a:solidFill>
                <a:latin typeface="Manrope"/>
                <a:ea typeface="Manrope"/>
                <a:cs typeface="Manrope"/>
                <a:sym typeface="Manrope"/>
              </a:rPr>
              <a:t>ветеранів з родинами потребуватимуть підтримки</a:t>
            </a:r>
            <a:endParaRPr b="0" i="0" sz="103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83" name="Google Shape;283;p10"/>
          <p:cNvCxnSpPr/>
          <p:nvPr/>
        </p:nvCxnSpPr>
        <p:spPr>
          <a:xfrm>
            <a:off x="864666" y="2929634"/>
            <a:ext cx="3259200" cy="0"/>
          </a:xfrm>
          <a:prstGeom prst="straightConnector1">
            <a:avLst/>
          </a:prstGeom>
          <a:noFill/>
          <a:ln cap="flat" cmpd="sng" w="8925">
            <a:solidFill>
              <a:srgbClr val="EDE8F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4" name="Google Shape;284;p10"/>
          <p:cNvSpPr/>
          <p:nvPr/>
        </p:nvSpPr>
        <p:spPr>
          <a:xfrm>
            <a:off x="864666" y="3186944"/>
            <a:ext cx="11148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C4CEB"/>
              </a:buClr>
              <a:buSzPts val="1876"/>
              <a:buFont typeface="Unbounded"/>
              <a:buNone/>
            </a:pPr>
            <a:r>
              <a:rPr b="1" i="0" lang="en-US" sz="1575" u="none" cap="none" strike="noStrike">
                <a:solidFill>
                  <a:srgbClr val="6C4CEB"/>
                </a:solidFill>
                <a:latin typeface="Unbounded"/>
                <a:ea typeface="Unbounded"/>
                <a:cs typeface="Unbounded"/>
                <a:sym typeface="Unbounded"/>
              </a:rPr>
              <a:t>121 000+</a:t>
            </a:r>
            <a:endParaRPr b="0" i="0" sz="15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10"/>
          <p:cNvSpPr/>
          <p:nvPr/>
        </p:nvSpPr>
        <p:spPr>
          <a:xfrm>
            <a:off x="2128550" y="3186949"/>
            <a:ext cx="20382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92C33"/>
              </a:buClr>
              <a:buSzPts val="1032"/>
              <a:buFont typeface="Manrope"/>
              <a:buNone/>
            </a:pPr>
            <a:r>
              <a:rPr b="0" i="0" lang="en-US" sz="1031" u="none" cap="none" strike="noStrike">
                <a:solidFill>
                  <a:srgbClr val="292C33"/>
                </a:solidFill>
                <a:latin typeface="Manrope"/>
                <a:ea typeface="Manrope"/>
                <a:cs typeface="Manrope"/>
                <a:sym typeface="Manrope"/>
              </a:rPr>
              <a:t>ветеранів з інвалідністю</a:t>
            </a:r>
            <a:endParaRPr b="0" i="0" sz="103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86" name="Google Shape;286;p10"/>
          <p:cNvCxnSpPr/>
          <p:nvPr/>
        </p:nvCxnSpPr>
        <p:spPr>
          <a:xfrm>
            <a:off x="864666" y="3658678"/>
            <a:ext cx="3259200" cy="0"/>
          </a:xfrm>
          <a:prstGeom prst="straightConnector1">
            <a:avLst/>
          </a:prstGeom>
          <a:noFill/>
          <a:ln cap="flat" cmpd="sng" w="8925">
            <a:solidFill>
              <a:srgbClr val="EDE8F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7" name="Google Shape;287;p10"/>
          <p:cNvSpPr/>
          <p:nvPr/>
        </p:nvSpPr>
        <p:spPr>
          <a:xfrm>
            <a:off x="864666" y="3915988"/>
            <a:ext cx="11148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C4CEB"/>
              </a:buClr>
              <a:buSzPts val="1876"/>
              <a:buFont typeface="Unbounded"/>
              <a:buNone/>
            </a:pPr>
            <a:r>
              <a:rPr b="1" i="0" lang="en-US" sz="1575" u="none" cap="none" strike="noStrike">
                <a:solidFill>
                  <a:srgbClr val="6C4CEB"/>
                </a:solidFill>
                <a:latin typeface="Unbounded"/>
                <a:ea typeface="Unbounded"/>
                <a:cs typeface="Unbounded"/>
                <a:sym typeface="Unbounded"/>
              </a:rPr>
              <a:t>40%</a:t>
            </a:r>
            <a:endParaRPr b="0" i="0" sz="15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10"/>
          <p:cNvSpPr/>
          <p:nvPr/>
        </p:nvSpPr>
        <p:spPr>
          <a:xfrm>
            <a:off x="2128550" y="3915998"/>
            <a:ext cx="20382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92C33"/>
              </a:buClr>
              <a:buSzPts val="1032"/>
              <a:buFont typeface="Manrope"/>
              <a:buNone/>
            </a:pPr>
            <a:r>
              <a:rPr b="0" i="0" lang="en-US" sz="1031" u="none" cap="none" strike="noStrike">
                <a:solidFill>
                  <a:srgbClr val="292C33"/>
                </a:solidFill>
                <a:latin typeface="Manrope"/>
                <a:ea typeface="Manrope"/>
                <a:cs typeface="Manrope"/>
                <a:sym typeface="Manrope"/>
              </a:rPr>
              <a:t>ветеранів потребують медичної допомоги</a:t>
            </a:r>
            <a:endParaRPr b="0" i="0" sz="103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10"/>
          <p:cNvSpPr/>
          <p:nvPr/>
        </p:nvSpPr>
        <p:spPr>
          <a:xfrm>
            <a:off x="4638525" y="1600200"/>
            <a:ext cx="3731100" cy="2835600"/>
          </a:xfrm>
          <a:prstGeom prst="roundRect">
            <a:avLst>
              <a:gd fmla="val 2703" name="adj"/>
            </a:avLst>
          </a:prstGeom>
          <a:solidFill>
            <a:srgbClr val="4B30B9"/>
          </a:solidFill>
          <a:ln>
            <a:noFill/>
          </a:ln>
        </p:spPr>
        <p:txBody>
          <a:bodyPr anchorCtr="0" anchor="ctr" bIns="85750" lIns="85750" spcFirstLastPara="1" rIns="85750" wrap="square" tIns="857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90" name="Google Shape;290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52954" y="1728855"/>
            <a:ext cx="343078" cy="343078"/>
          </a:xfrm>
          <a:prstGeom prst="rect">
            <a:avLst/>
          </a:prstGeom>
          <a:noFill/>
          <a:ln>
            <a:noFill/>
          </a:ln>
        </p:spPr>
      </p:pic>
      <p:sp>
        <p:nvSpPr>
          <p:cNvPr id="291" name="Google Shape;291;p10"/>
          <p:cNvSpPr/>
          <p:nvPr/>
        </p:nvSpPr>
        <p:spPr>
          <a:xfrm>
            <a:off x="5281803" y="1728855"/>
            <a:ext cx="25731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19"/>
              <a:buFont typeface="Unbounded"/>
              <a:buNone/>
            </a:pPr>
            <a:r>
              <a:rPr b="1" i="0" lang="en-US" sz="1219" u="none" cap="none" strike="noStrike">
                <a:solidFill>
                  <a:srgbClr val="FFFFFF"/>
                </a:solidFill>
                <a:latin typeface="Unbounded"/>
                <a:ea typeface="Unbounded"/>
                <a:cs typeface="Unbounded"/>
                <a:sym typeface="Unbounded"/>
              </a:rPr>
              <a:t>Що пропонує BANDA</a:t>
            </a:r>
            <a:endParaRPr b="0" i="0" sz="121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92" name="Google Shape;292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852954" y="2286359"/>
            <a:ext cx="188693" cy="188693"/>
          </a:xfrm>
          <a:prstGeom prst="rect">
            <a:avLst/>
          </a:prstGeom>
          <a:noFill/>
          <a:ln>
            <a:noFill/>
          </a:ln>
        </p:spPr>
      </p:pic>
      <p:sp>
        <p:nvSpPr>
          <p:cNvPr id="293" name="Google Shape;293;p10"/>
          <p:cNvSpPr/>
          <p:nvPr/>
        </p:nvSpPr>
        <p:spPr>
          <a:xfrm>
            <a:off x="5153148" y="2243474"/>
            <a:ext cx="3001800" cy="38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85"/>
              <a:buFont typeface="Manrope"/>
              <a:buNone/>
            </a:pPr>
            <a:r>
              <a:rPr b="0" i="0" lang="en-US" sz="984" u="none" cap="none" strike="noStrike">
                <a:solidFill>
                  <a:srgbClr val="FFFFFF"/>
                </a:solidFill>
                <a:latin typeface="Manrope"/>
                <a:ea typeface="Manrope"/>
                <a:cs typeface="Manrope"/>
                <a:sym typeface="Manrope"/>
              </a:rPr>
              <a:t>Безкоштовне навчання професії агента з нерухомості на платформі</a:t>
            </a:r>
            <a:endParaRPr b="0" i="0" sz="9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94" name="Google Shape;294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852954" y="2715209"/>
            <a:ext cx="188693" cy="188693"/>
          </a:xfrm>
          <a:prstGeom prst="rect">
            <a:avLst/>
          </a:prstGeom>
          <a:noFill/>
          <a:ln>
            <a:noFill/>
          </a:ln>
        </p:spPr>
      </p:pic>
      <p:sp>
        <p:nvSpPr>
          <p:cNvPr id="295" name="Google Shape;295;p10"/>
          <p:cNvSpPr/>
          <p:nvPr/>
        </p:nvSpPr>
        <p:spPr>
          <a:xfrm>
            <a:off x="5153148" y="2672324"/>
            <a:ext cx="3001800" cy="38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85"/>
              <a:buFont typeface="Manrope"/>
              <a:buNone/>
            </a:pPr>
            <a:r>
              <a:rPr b="0" i="0" lang="en-US" sz="984" u="none" cap="none" strike="noStrike">
                <a:solidFill>
                  <a:srgbClr val="FFFFFF"/>
                </a:solidFill>
                <a:latin typeface="Manrope"/>
                <a:ea typeface="Manrope"/>
                <a:cs typeface="Manrope"/>
                <a:sym typeface="Manrope"/>
              </a:rPr>
              <a:t>Гнучкий та повністю remote-формат роботи — з будь-якого місця</a:t>
            </a:r>
            <a:endParaRPr b="0" i="0" sz="9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96" name="Google Shape;296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852954" y="3144059"/>
            <a:ext cx="188693" cy="188693"/>
          </a:xfrm>
          <a:prstGeom prst="rect">
            <a:avLst/>
          </a:prstGeom>
          <a:noFill/>
          <a:ln>
            <a:noFill/>
          </a:ln>
        </p:spPr>
      </p:pic>
      <p:sp>
        <p:nvSpPr>
          <p:cNvPr id="297" name="Google Shape;297;p10"/>
          <p:cNvSpPr/>
          <p:nvPr/>
        </p:nvSpPr>
        <p:spPr>
          <a:xfrm>
            <a:off x="5153148" y="3101174"/>
            <a:ext cx="3001800" cy="38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85"/>
              <a:buFont typeface="Manrope"/>
              <a:buNone/>
            </a:pPr>
            <a:r>
              <a:rPr b="0" i="0" lang="en-US" sz="984" u="none" cap="none" strike="noStrike">
                <a:solidFill>
                  <a:srgbClr val="FFFFFF"/>
                </a:solidFill>
                <a:latin typeface="Manrope"/>
                <a:ea typeface="Manrope"/>
                <a:cs typeface="Manrope"/>
                <a:sym typeface="Manrope"/>
              </a:rPr>
              <a:t>Прозора система винагород та кар'єрного зростання</a:t>
            </a:r>
            <a:endParaRPr b="0" i="0" sz="9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98" name="Google Shape;298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852954" y="3572908"/>
            <a:ext cx="188693" cy="188693"/>
          </a:xfrm>
          <a:prstGeom prst="rect">
            <a:avLst/>
          </a:prstGeom>
          <a:noFill/>
          <a:ln>
            <a:noFill/>
          </a:ln>
        </p:spPr>
      </p:pic>
      <p:sp>
        <p:nvSpPr>
          <p:cNvPr id="299" name="Google Shape;299;p10"/>
          <p:cNvSpPr/>
          <p:nvPr/>
        </p:nvSpPr>
        <p:spPr>
          <a:xfrm>
            <a:off x="5153148" y="3530023"/>
            <a:ext cx="3001800" cy="38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85"/>
              <a:buFont typeface="Manrope"/>
              <a:buNone/>
            </a:pPr>
            <a:r>
              <a:rPr b="0" i="0" lang="en-US" sz="984" u="none" cap="none" strike="noStrike">
                <a:solidFill>
                  <a:srgbClr val="FFFFFF"/>
                </a:solidFill>
                <a:latin typeface="Manrope"/>
                <a:ea typeface="Manrope"/>
                <a:cs typeface="Manrope"/>
                <a:sym typeface="Manrope"/>
              </a:rPr>
              <a:t>Геймифікація для поступового залучення та мотивації</a:t>
            </a:r>
            <a:endParaRPr b="0" i="0" sz="9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00" name="Google Shape;300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852954" y="4001758"/>
            <a:ext cx="188693" cy="188693"/>
          </a:xfrm>
          <a:prstGeom prst="rect">
            <a:avLst/>
          </a:prstGeom>
          <a:noFill/>
          <a:ln>
            <a:noFill/>
          </a:ln>
        </p:spPr>
      </p:pic>
      <p:sp>
        <p:nvSpPr>
          <p:cNvPr id="301" name="Google Shape;301;p10"/>
          <p:cNvSpPr/>
          <p:nvPr/>
        </p:nvSpPr>
        <p:spPr>
          <a:xfrm>
            <a:off x="5153148" y="3901399"/>
            <a:ext cx="3001800" cy="38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85"/>
              <a:buFont typeface="Manrope"/>
              <a:buNone/>
            </a:pPr>
            <a:r>
              <a:rPr b="0" i="0" lang="en-US" sz="984" u="none" cap="none" strike="noStrike">
                <a:solidFill>
                  <a:srgbClr val="FFFFFF"/>
                </a:solidFill>
                <a:latin typeface="Manrope"/>
                <a:ea typeface="Manrope"/>
                <a:cs typeface="Manrope"/>
                <a:sym typeface="Manrope"/>
              </a:rPr>
              <a:t>Доступ до міжнародного ринку об'єктів та клієнтів</a:t>
            </a:r>
            <a:endParaRPr b="0" i="0" sz="9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5FC"/>
        </a:solidFill>
      </p:bgPr>
    </p:bg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claude/logo_banda.png" id="307" name="Google Shape;307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0075" y="4631425"/>
            <a:ext cx="822960" cy="283464"/>
          </a:xfrm>
          <a:prstGeom prst="rect">
            <a:avLst/>
          </a:prstGeom>
          <a:noFill/>
          <a:ln>
            <a:noFill/>
          </a:ln>
        </p:spPr>
      </p:pic>
      <p:sp>
        <p:nvSpPr>
          <p:cNvPr id="308" name="Google Shape;308;p11"/>
          <p:cNvSpPr/>
          <p:nvPr/>
        </p:nvSpPr>
        <p:spPr>
          <a:xfrm>
            <a:off x="640080" y="32004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C4CEB"/>
              </a:buClr>
              <a:buSzPts val="2600"/>
              <a:buFont typeface="Unbounded"/>
              <a:buNone/>
            </a:pPr>
            <a:r>
              <a:rPr b="1" i="0" lang="en-US" sz="2600" u="none" cap="none" strike="noStrike">
                <a:solidFill>
                  <a:srgbClr val="6C4CEB"/>
                </a:solidFill>
                <a:latin typeface="Unbounded"/>
                <a:ea typeface="Unbounded"/>
                <a:cs typeface="Unbounded"/>
                <a:sym typeface="Unbounded"/>
              </a:rPr>
              <a:t>Інклюзивність </a:t>
            </a:r>
            <a:r>
              <a:rPr b="1" i="0" lang="en-US" sz="2600" u="none" cap="none" strike="noStrike">
                <a:solidFill>
                  <a:srgbClr val="12141A"/>
                </a:solidFill>
                <a:latin typeface="Unbounded"/>
                <a:ea typeface="Unbounded"/>
                <a:cs typeface="Unbounded"/>
                <a:sym typeface="Unbounded"/>
              </a:rPr>
              <a:t>та освіта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11"/>
          <p:cNvSpPr/>
          <p:nvPr/>
        </p:nvSpPr>
        <p:spPr>
          <a:xfrm>
            <a:off x="557638" y="822960"/>
            <a:ext cx="7315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6870"/>
              </a:buClr>
              <a:buSzPts val="1300"/>
              <a:buFont typeface="Manrope"/>
              <a:buNone/>
            </a:pPr>
            <a:r>
              <a:rPr b="0" i="0" lang="en-US" sz="1300" u="none" cap="none" strike="noStrike">
                <a:solidFill>
                  <a:srgbClr val="646870"/>
                </a:solidFill>
                <a:latin typeface="Manrope"/>
                <a:ea typeface="Manrope"/>
                <a:cs typeface="Manrope"/>
                <a:sym typeface="Manrope"/>
              </a:rPr>
              <a:t>BANDA створює робочі місця для всіх категорій населення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11"/>
          <p:cNvSpPr/>
          <p:nvPr/>
        </p:nvSpPr>
        <p:spPr>
          <a:xfrm>
            <a:off x="640075" y="1396568"/>
            <a:ext cx="2562900" cy="2866800"/>
          </a:xfrm>
          <a:prstGeom prst="roundRect">
            <a:avLst>
              <a:gd fmla="val 3390" name="adj"/>
            </a:avLst>
          </a:prstGeom>
          <a:solidFill>
            <a:srgbClr val="FFFFFF"/>
          </a:solidFill>
          <a:ln>
            <a:noFill/>
          </a:ln>
          <a:effectLst>
            <a:outerShdw blurRad="96528" rotWithShape="0" algn="bl" dir="8100000" dist="24132">
              <a:srgbClr val="000000">
                <a:alpha val="5882"/>
              </a:srgbClr>
            </a:outerShdw>
          </a:effectLst>
        </p:spPr>
        <p:txBody>
          <a:bodyPr anchorCtr="0" anchor="ctr" bIns="86875" lIns="86875" spcFirstLastPara="1" rIns="86875" wrap="square" tIns="86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11"/>
          <p:cNvSpPr/>
          <p:nvPr/>
        </p:nvSpPr>
        <p:spPr>
          <a:xfrm>
            <a:off x="1639239" y="1570319"/>
            <a:ext cx="564600" cy="564600"/>
          </a:xfrm>
          <a:prstGeom prst="ellipse">
            <a:avLst/>
          </a:prstGeom>
          <a:solidFill>
            <a:srgbClr val="EDE8FD"/>
          </a:solidFill>
          <a:ln>
            <a:noFill/>
          </a:ln>
        </p:spPr>
        <p:txBody>
          <a:bodyPr anchorCtr="0" anchor="ctr" bIns="86875" lIns="86875" spcFirstLastPara="1" rIns="86875" wrap="square" tIns="86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12" name="Google Shape;312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80411" y="1711491"/>
            <a:ext cx="282344" cy="282344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p11"/>
          <p:cNvSpPr/>
          <p:nvPr/>
        </p:nvSpPr>
        <p:spPr>
          <a:xfrm>
            <a:off x="640075" y="2265321"/>
            <a:ext cx="2562900" cy="34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3400" lIns="86875" spcFirstLastPara="1" rIns="86875" wrap="square" tIns="43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2141A"/>
              </a:buClr>
              <a:buSzPts val="1140"/>
              <a:buFont typeface="Unbounded"/>
              <a:buNone/>
            </a:pPr>
            <a:r>
              <a:rPr b="1" i="0" lang="en-US" sz="1140" u="none" cap="none" strike="noStrike">
                <a:solidFill>
                  <a:srgbClr val="12141A"/>
                </a:solidFill>
                <a:latin typeface="Unbounded"/>
                <a:ea typeface="Unbounded"/>
                <a:cs typeface="Unbounded"/>
                <a:sym typeface="Unbounded"/>
              </a:rPr>
              <a:t>Люди з інвалідністю</a:t>
            </a:r>
            <a:endParaRPr b="0" i="0" sz="11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14" name="Google Shape;314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13825" y="2743135"/>
            <a:ext cx="173750" cy="173750"/>
          </a:xfrm>
          <a:prstGeom prst="rect">
            <a:avLst/>
          </a:prstGeom>
          <a:noFill/>
          <a:ln>
            <a:noFill/>
          </a:ln>
        </p:spPr>
      </p:pic>
      <p:sp>
        <p:nvSpPr>
          <p:cNvPr id="315" name="Google Shape;315;p11"/>
          <p:cNvSpPr/>
          <p:nvPr/>
        </p:nvSpPr>
        <p:spPr>
          <a:xfrm>
            <a:off x="1074476" y="2678009"/>
            <a:ext cx="19980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92C33"/>
              </a:buClr>
              <a:buSzPts val="950"/>
              <a:buFont typeface="Manrope"/>
              <a:buNone/>
            </a:pPr>
            <a:r>
              <a:rPr b="0" i="0" lang="en-US" sz="950" u="none" cap="none" strike="noStrike">
                <a:solidFill>
                  <a:srgbClr val="292C33"/>
                </a:solidFill>
                <a:latin typeface="Manrope"/>
                <a:ea typeface="Manrope"/>
                <a:cs typeface="Manrope"/>
                <a:sym typeface="Manrope"/>
              </a:rPr>
              <a:t>Remote-модель роботи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16" name="Google Shape;316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13825" y="3090635"/>
            <a:ext cx="173750" cy="173750"/>
          </a:xfrm>
          <a:prstGeom prst="rect">
            <a:avLst/>
          </a:prstGeom>
          <a:noFill/>
          <a:ln>
            <a:noFill/>
          </a:ln>
        </p:spPr>
      </p:pic>
      <p:sp>
        <p:nvSpPr>
          <p:cNvPr id="317" name="Google Shape;317;p11"/>
          <p:cNvSpPr/>
          <p:nvPr/>
        </p:nvSpPr>
        <p:spPr>
          <a:xfrm>
            <a:off x="1074476" y="3025510"/>
            <a:ext cx="19980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92C33"/>
              </a:buClr>
              <a:buSzPts val="950"/>
              <a:buFont typeface="Manrope"/>
              <a:buNone/>
            </a:pPr>
            <a:r>
              <a:rPr b="0" i="0" lang="en-US" sz="950" u="none" cap="none" strike="noStrike">
                <a:solidFill>
                  <a:srgbClr val="292C33"/>
                </a:solidFill>
                <a:latin typeface="Manrope"/>
                <a:ea typeface="Manrope"/>
                <a:cs typeface="Manrope"/>
                <a:sym typeface="Manrope"/>
              </a:rPr>
              <a:t>Цифрові інструменти без бар'єрів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18" name="Google Shape;318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13825" y="3438136"/>
            <a:ext cx="173750" cy="173750"/>
          </a:xfrm>
          <a:prstGeom prst="rect">
            <a:avLst/>
          </a:prstGeom>
          <a:noFill/>
          <a:ln>
            <a:noFill/>
          </a:ln>
        </p:spPr>
      </p:pic>
      <p:sp>
        <p:nvSpPr>
          <p:cNvPr id="319" name="Google Shape;319;p11"/>
          <p:cNvSpPr/>
          <p:nvPr/>
        </p:nvSpPr>
        <p:spPr>
          <a:xfrm>
            <a:off x="1074451" y="3363488"/>
            <a:ext cx="19980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92C33"/>
              </a:buClr>
              <a:buSzPts val="950"/>
              <a:buFont typeface="Manrope"/>
              <a:buNone/>
            </a:pPr>
            <a:r>
              <a:rPr b="0" i="0" lang="en-US" sz="950" u="none" cap="none" strike="noStrike">
                <a:solidFill>
                  <a:srgbClr val="292C33"/>
                </a:solidFill>
                <a:latin typeface="Manrope"/>
                <a:ea typeface="Manrope"/>
                <a:cs typeface="Manrope"/>
                <a:sym typeface="Manrope"/>
              </a:rPr>
              <a:t>Прозора система винагород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20" name="Google Shape;320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13825" y="3785637"/>
            <a:ext cx="173750" cy="173750"/>
          </a:xfrm>
          <a:prstGeom prst="rect">
            <a:avLst/>
          </a:prstGeom>
          <a:noFill/>
          <a:ln>
            <a:noFill/>
          </a:ln>
        </p:spPr>
      </p:pic>
      <p:sp>
        <p:nvSpPr>
          <p:cNvPr id="321" name="Google Shape;321;p11"/>
          <p:cNvSpPr/>
          <p:nvPr/>
        </p:nvSpPr>
        <p:spPr>
          <a:xfrm>
            <a:off x="1074451" y="3729715"/>
            <a:ext cx="19980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92C33"/>
              </a:buClr>
              <a:buSzPts val="950"/>
              <a:buFont typeface="Manrope"/>
              <a:buNone/>
            </a:pPr>
            <a:r>
              <a:rPr b="0" i="0" lang="en-US" sz="950" u="none" cap="none" strike="noStrike">
                <a:solidFill>
                  <a:srgbClr val="292C33"/>
                </a:solidFill>
                <a:latin typeface="Manrope"/>
                <a:ea typeface="Manrope"/>
                <a:cs typeface="Manrope"/>
                <a:sym typeface="Manrope"/>
              </a:rPr>
              <a:t>Посилення ESG-профілю громади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11"/>
          <p:cNvSpPr/>
          <p:nvPr/>
        </p:nvSpPr>
        <p:spPr>
          <a:xfrm>
            <a:off x="3376643" y="1396568"/>
            <a:ext cx="2562900" cy="2866800"/>
          </a:xfrm>
          <a:prstGeom prst="roundRect">
            <a:avLst>
              <a:gd fmla="val 3390" name="adj"/>
            </a:avLst>
          </a:prstGeom>
          <a:solidFill>
            <a:srgbClr val="FFFFFF"/>
          </a:solidFill>
          <a:ln>
            <a:noFill/>
          </a:ln>
          <a:effectLst>
            <a:outerShdw blurRad="96528" rotWithShape="0" algn="bl" dir="8100000" dist="24132">
              <a:srgbClr val="000000">
                <a:alpha val="5882"/>
              </a:srgbClr>
            </a:outerShdw>
          </a:effectLst>
        </p:spPr>
        <p:txBody>
          <a:bodyPr anchorCtr="0" anchor="ctr" bIns="86875" lIns="86875" spcFirstLastPara="1" rIns="86875" wrap="square" tIns="86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11"/>
          <p:cNvSpPr/>
          <p:nvPr/>
        </p:nvSpPr>
        <p:spPr>
          <a:xfrm>
            <a:off x="4375795" y="1570319"/>
            <a:ext cx="564600" cy="564600"/>
          </a:xfrm>
          <a:prstGeom prst="ellipse">
            <a:avLst/>
          </a:prstGeom>
          <a:solidFill>
            <a:srgbClr val="EDE8FD"/>
          </a:solidFill>
          <a:ln>
            <a:noFill/>
          </a:ln>
        </p:spPr>
        <p:txBody>
          <a:bodyPr anchorCtr="0" anchor="ctr" bIns="86875" lIns="86875" spcFirstLastPara="1" rIns="86875" wrap="square" tIns="86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24" name="Google Shape;324;p1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516917" y="1711454"/>
            <a:ext cx="282344" cy="282344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p11"/>
          <p:cNvSpPr/>
          <p:nvPr/>
        </p:nvSpPr>
        <p:spPr>
          <a:xfrm>
            <a:off x="3376643" y="2265321"/>
            <a:ext cx="2562900" cy="34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3400" lIns="86875" spcFirstLastPara="1" rIns="86875" wrap="square" tIns="43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2141A"/>
              </a:buClr>
              <a:buSzPts val="1140"/>
              <a:buFont typeface="Unbounded"/>
              <a:buNone/>
            </a:pPr>
            <a:r>
              <a:rPr b="1" i="0" lang="en-US" sz="1140" u="none" cap="none" strike="noStrike">
                <a:solidFill>
                  <a:srgbClr val="12141A"/>
                </a:solidFill>
                <a:latin typeface="Unbounded"/>
                <a:ea typeface="Unbounded"/>
                <a:cs typeface="Unbounded"/>
                <a:sym typeface="Unbounded"/>
              </a:rPr>
              <a:t>Студенти</a:t>
            </a:r>
            <a:endParaRPr b="0" i="0" sz="11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26" name="Google Shape;326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550394" y="2743135"/>
            <a:ext cx="173750" cy="173750"/>
          </a:xfrm>
          <a:prstGeom prst="rect">
            <a:avLst/>
          </a:prstGeom>
          <a:noFill/>
          <a:ln>
            <a:noFill/>
          </a:ln>
        </p:spPr>
      </p:pic>
      <p:sp>
        <p:nvSpPr>
          <p:cNvPr id="327" name="Google Shape;327;p11"/>
          <p:cNvSpPr/>
          <p:nvPr/>
        </p:nvSpPr>
        <p:spPr>
          <a:xfrm>
            <a:off x="3811019" y="2674728"/>
            <a:ext cx="19980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92C33"/>
              </a:buClr>
              <a:buSzPts val="950"/>
              <a:buFont typeface="Manrope"/>
              <a:buNone/>
            </a:pPr>
            <a:r>
              <a:rPr b="0" i="0" lang="en-US" sz="950" u="none" cap="none" strike="noStrike">
                <a:solidFill>
                  <a:srgbClr val="292C33"/>
                </a:solidFill>
                <a:latin typeface="Manrope"/>
                <a:ea typeface="Manrope"/>
                <a:cs typeface="Manrope"/>
                <a:sym typeface="Manrope"/>
              </a:rPr>
              <a:t>Безкоштовне навчання на платформі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28" name="Google Shape;328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550394" y="3090635"/>
            <a:ext cx="173750" cy="173750"/>
          </a:xfrm>
          <a:prstGeom prst="rect">
            <a:avLst/>
          </a:prstGeom>
          <a:noFill/>
          <a:ln>
            <a:noFill/>
          </a:ln>
        </p:spPr>
      </p:pic>
      <p:sp>
        <p:nvSpPr>
          <p:cNvPr id="329" name="Google Shape;329;p11"/>
          <p:cNvSpPr/>
          <p:nvPr/>
        </p:nvSpPr>
        <p:spPr>
          <a:xfrm>
            <a:off x="3811019" y="3028472"/>
            <a:ext cx="19980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92C33"/>
              </a:buClr>
              <a:buSzPts val="950"/>
              <a:buFont typeface="Manrope"/>
              <a:buNone/>
            </a:pPr>
            <a:r>
              <a:rPr b="0" i="0" lang="en-US" sz="950" u="none" cap="none" strike="noStrike">
                <a:solidFill>
                  <a:srgbClr val="292C33"/>
                </a:solidFill>
                <a:latin typeface="Manrope"/>
                <a:ea typeface="Manrope"/>
                <a:cs typeface="Manrope"/>
                <a:sym typeface="Manrope"/>
              </a:rPr>
              <a:t>Практичний досвід з реальними угодами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30" name="Google Shape;330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550394" y="3438136"/>
            <a:ext cx="173750" cy="173750"/>
          </a:xfrm>
          <a:prstGeom prst="rect">
            <a:avLst/>
          </a:prstGeom>
          <a:noFill/>
          <a:ln>
            <a:noFill/>
          </a:ln>
        </p:spPr>
      </p:pic>
      <p:sp>
        <p:nvSpPr>
          <p:cNvPr id="331" name="Google Shape;331;p11"/>
          <p:cNvSpPr/>
          <p:nvPr/>
        </p:nvSpPr>
        <p:spPr>
          <a:xfrm>
            <a:off x="3811019" y="3363488"/>
            <a:ext cx="19980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92C33"/>
              </a:buClr>
              <a:buSzPts val="950"/>
              <a:buFont typeface="Manrope"/>
              <a:buNone/>
            </a:pPr>
            <a:r>
              <a:rPr b="0" i="0" lang="en-US" sz="950" u="none" cap="none" strike="noStrike">
                <a:solidFill>
                  <a:srgbClr val="292C33"/>
                </a:solidFill>
                <a:latin typeface="Manrope"/>
                <a:ea typeface="Manrope"/>
                <a:cs typeface="Manrope"/>
                <a:sym typeface="Manrope"/>
              </a:rPr>
              <a:t>Гнучкий графік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32" name="Google Shape;332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550394" y="3785637"/>
            <a:ext cx="173750" cy="173750"/>
          </a:xfrm>
          <a:prstGeom prst="rect">
            <a:avLst/>
          </a:prstGeom>
          <a:noFill/>
          <a:ln>
            <a:noFill/>
          </a:ln>
        </p:spPr>
      </p:pic>
      <p:sp>
        <p:nvSpPr>
          <p:cNvPr id="333" name="Google Shape;333;p11"/>
          <p:cNvSpPr/>
          <p:nvPr/>
        </p:nvSpPr>
        <p:spPr>
          <a:xfrm>
            <a:off x="3811019" y="3723473"/>
            <a:ext cx="19980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92C33"/>
              </a:buClr>
              <a:buSzPts val="950"/>
              <a:buFont typeface="Manrope"/>
              <a:buNone/>
            </a:pPr>
            <a:r>
              <a:rPr b="0" i="0" lang="en-US" sz="950" u="none" cap="none" strike="noStrike">
                <a:solidFill>
                  <a:srgbClr val="292C33"/>
                </a:solidFill>
                <a:latin typeface="Manrope"/>
                <a:ea typeface="Manrope"/>
                <a:cs typeface="Manrope"/>
                <a:sym typeface="Manrope"/>
              </a:rPr>
              <a:t>Кадровий резерв для ринку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11"/>
          <p:cNvSpPr/>
          <p:nvPr/>
        </p:nvSpPr>
        <p:spPr>
          <a:xfrm>
            <a:off x="6113211" y="1396568"/>
            <a:ext cx="2562900" cy="2866800"/>
          </a:xfrm>
          <a:prstGeom prst="roundRect">
            <a:avLst>
              <a:gd fmla="val 3390" name="adj"/>
            </a:avLst>
          </a:prstGeom>
          <a:solidFill>
            <a:srgbClr val="FFFFFF"/>
          </a:solidFill>
          <a:ln>
            <a:noFill/>
          </a:ln>
          <a:effectLst>
            <a:outerShdw blurRad="96528" rotWithShape="0" algn="bl" dir="8100000" dist="24132">
              <a:srgbClr val="000000">
                <a:alpha val="5882"/>
              </a:srgbClr>
            </a:outerShdw>
          </a:effectLst>
        </p:spPr>
        <p:txBody>
          <a:bodyPr anchorCtr="0" anchor="ctr" bIns="86875" lIns="86875" spcFirstLastPara="1" rIns="86875" wrap="square" tIns="86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p11"/>
          <p:cNvSpPr/>
          <p:nvPr/>
        </p:nvSpPr>
        <p:spPr>
          <a:xfrm>
            <a:off x="7112351" y="1570356"/>
            <a:ext cx="564600" cy="564600"/>
          </a:xfrm>
          <a:prstGeom prst="ellipse">
            <a:avLst/>
          </a:prstGeom>
          <a:solidFill>
            <a:srgbClr val="EDE8FD"/>
          </a:solidFill>
          <a:ln>
            <a:noFill/>
          </a:ln>
        </p:spPr>
        <p:txBody>
          <a:bodyPr anchorCtr="0" anchor="ctr" bIns="86875" lIns="86875" spcFirstLastPara="1" rIns="86875" wrap="square" tIns="86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36" name="Google Shape;336;p1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253523" y="1711529"/>
            <a:ext cx="282344" cy="282344"/>
          </a:xfrm>
          <a:prstGeom prst="rect">
            <a:avLst/>
          </a:prstGeom>
          <a:noFill/>
          <a:ln>
            <a:noFill/>
          </a:ln>
        </p:spPr>
      </p:pic>
      <p:sp>
        <p:nvSpPr>
          <p:cNvPr id="337" name="Google Shape;337;p11"/>
          <p:cNvSpPr/>
          <p:nvPr/>
        </p:nvSpPr>
        <p:spPr>
          <a:xfrm>
            <a:off x="6113211" y="2265321"/>
            <a:ext cx="2562900" cy="34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3400" lIns="86875" spcFirstLastPara="1" rIns="86875" wrap="square" tIns="43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2141A"/>
              </a:buClr>
              <a:buSzPts val="1140"/>
              <a:buFont typeface="Unbounded"/>
              <a:buNone/>
            </a:pPr>
            <a:r>
              <a:rPr b="1" i="0" lang="en-US" sz="1140" u="none" cap="none" strike="noStrike">
                <a:solidFill>
                  <a:srgbClr val="12141A"/>
                </a:solidFill>
                <a:latin typeface="Unbounded"/>
                <a:ea typeface="Unbounded"/>
                <a:cs typeface="Unbounded"/>
                <a:sym typeface="Unbounded"/>
              </a:rPr>
              <a:t>Переселенці</a:t>
            </a:r>
            <a:endParaRPr b="0" i="0" sz="11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38" name="Google Shape;338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962" y="2743135"/>
            <a:ext cx="173750" cy="173750"/>
          </a:xfrm>
          <a:prstGeom prst="rect">
            <a:avLst/>
          </a:prstGeom>
          <a:noFill/>
          <a:ln>
            <a:noFill/>
          </a:ln>
        </p:spPr>
      </p:pic>
      <p:sp>
        <p:nvSpPr>
          <p:cNvPr id="339" name="Google Shape;339;p11"/>
          <p:cNvSpPr/>
          <p:nvPr/>
        </p:nvSpPr>
        <p:spPr>
          <a:xfrm>
            <a:off x="6547587" y="2674728"/>
            <a:ext cx="19980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92C33"/>
              </a:buClr>
              <a:buSzPts val="950"/>
              <a:buFont typeface="Manrope"/>
              <a:buNone/>
            </a:pPr>
            <a:r>
              <a:rPr b="0" i="0" lang="en-US" sz="950" u="none" cap="none" strike="noStrike">
                <a:solidFill>
                  <a:srgbClr val="292C33"/>
                </a:solidFill>
                <a:latin typeface="Manrope"/>
                <a:ea typeface="Manrope"/>
                <a:cs typeface="Manrope"/>
                <a:sym typeface="Manrope"/>
              </a:rPr>
              <a:t>Доступ до ринку без прив'язки до локації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40" name="Google Shape;340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962" y="3090635"/>
            <a:ext cx="173750" cy="173750"/>
          </a:xfrm>
          <a:prstGeom prst="rect">
            <a:avLst/>
          </a:prstGeom>
          <a:noFill/>
          <a:ln>
            <a:noFill/>
          </a:ln>
        </p:spPr>
      </p:pic>
      <p:sp>
        <p:nvSpPr>
          <p:cNvPr id="341" name="Google Shape;341;p11"/>
          <p:cNvSpPr/>
          <p:nvPr/>
        </p:nvSpPr>
        <p:spPr>
          <a:xfrm>
            <a:off x="6547587" y="3022229"/>
            <a:ext cx="19980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92C33"/>
              </a:buClr>
              <a:buSzPts val="950"/>
              <a:buFont typeface="Manrope"/>
              <a:buNone/>
            </a:pPr>
            <a:r>
              <a:rPr b="0" i="0" lang="en-US" sz="950" u="none" cap="none" strike="noStrike">
                <a:solidFill>
                  <a:srgbClr val="292C33"/>
                </a:solidFill>
                <a:latin typeface="Manrope"/>
                <a:ea typeface="Manrope"/>
                <a:cs typeface="Manrope"/>
                <a:sym typeface="Manrope"/>
              </a:rPr>
              <a:t>Підтримка релокаційних програм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42" name="Google Shape;342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962" y="3438136"/>
            <a:ext cx="173750" cy="173750"/>
          </a:xfrm>
          <a:prstGeom prst="rect">
            <a:avLst/>
          </a:prstGeom>
          <a:noFill/>
          <a:ln>
            <a:noFill/>
          </a:ln>
        </p:spPr>
      </p:pic>
      <p:sp>
        <p:nvSpPr>
          <p:cNvPr id="343" name="Google Shape;343;p11"/>
          <p:cNvSpPr/>
          <p:nvPr/>
        </p:nvSpPr>
        <p:spPr>
          <a:xfrm>
            <a:off x="6547587" y="3363488"/>
            <a:ext cx="19980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92C33"/>
              </a:buClr>
              <a:buSzPts val="950"/>
              <a:buFont typeface="Manrope"/>
              <a:buNone/>
            </a:pPr>
            <a:r>
              <a:rPr b="0" i="0" lang="en-US" sz="950" u="none" cap="none" strike="noStrike">
                <a:solidFill>
                  <a:srgbClr val="292C33"/>
                </a:solidFill>
                <a:latin typeface="Manrope"/>
                <a:ea typeface="Manrope"/>
                <a:cs typeface="Manrope"/>
                <a:sym typeface="Manrope"/>
              </a:rPr>
              <a:t>Швидкий старт кар'єри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44" name="Google Shape;344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962" y="3785637"/>
            <a:ext cx="173750" cy="173750"/>
          </a:xfrm>
          <a:prstGeom prst="rect">
            <a:avLst/>
          </a:prstGeom>
          <a:noFill/>
          <a:ln>
            <a:noFill/>
          </a:ln>
        </p:spPr>
      </p:pic>
      <p:sp>
        <p:nvSpPr>
          <p:cNvPr id="345" name="Google Shape;345;p11"/>
          <p:cNvSpPr/>
          <p:nvPr/>
        </p:nvSpPr>
        <p:spPr>
          <a:xfrm>
            <a:off x="6547587" y="3723473"/>
            <a:ext cx="19980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92C33"/>
              </a:buClr>
              <a:buSzPts val="950"/>
              <a:buFont typeface="Manrope"/>
              <a:buNone/>
            </a:pPr>
            <a:r>
              <a:rPr b="0" i="0" lang="en-US" sz="950" u="none" cap="none" strike="noStrike">
                <a:solidFill>
                  <a:srgbClr val="292C33"/>
                </a:solidFill>
                <a:latin typeface="Manrope"/>
                <a:ea typeface="Manrope"/>
                <a:cs typeface="Manrope"/>
                <a:sym typeface="Manrope"/>
              </a:rPr>
              <a:t>Інтеграція через платформу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5FC"/>
        </a:solidFill>
      </p:bgPr>
    </p:bg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claude/logo_banda.png" id="351" name="Google Shape;351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4675" y="4631425"/>
            <a:ext cx="822960" cy="283464"/>
          </a:xfrm>
          <a:prstGeom prst="rect">
            <a:avLst/>
          </a:prstGeom>
          <a:noFill/>
          <a:ln>
            <a:noFill/>
          </a:ln>
        </p:spPr>
      </p:pic>
      <p:sp>
        <p:nvSpPr>
          <p:cNvPr id="352" name="Google Shape;352;p12"/>
          <p:cNvSpPr/>
          <p:nvPr/>
        </p:nvSpPr>
        <p:spPr>
          <a:xfrm>
            <a:off x="640080" y="32004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C4CEB"/>
              </a:buClr>
              <a:buSzPts val="2600"/>
              <a:buFont typeface="Unbounded"/>
              <a:buNone/>
            </a:pPr>
            <a:r>
              <a:rPr b="1" i="0" lang="en-US" sz="2600" u="none" cap="none" strike="noStrike">
                <a:solidFill>
                  <a:srgbClr val="6C4CEB"/>
                </a:solidFill>
                <a:latin typeface="Unbounded"/>
                <a:ea typeface="Unbounded"/>
                <a:cs typeface="Unbounded"/>
                <a:sym typeface="Unbounded"/>
              </a:rPr>
              <a:t>Екосистема </a:t>
            </a:r>
            <a:r>
              <a:rPr b="1" i="0" lang="en-US" sz="2600" u="none" cap="none" strike="noStrike">
                <a:solidFill>
                  <a:srgbClr val="12141A"/>
                </a:solidFill>
                <a:latin typeface="Unbounded"/>
                <a:ea typeface="Unbounded"/>
                <a:cs typeface="Unbounded"/>
                <a:sym typeface="Unbounded"/>
              </a:rPr>
              <a:t>учасників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12"/>
          <p:cNvSpPr/>
          <p:nvPr/>
        </p:nvSpPr>
        <p:spPr>
          <a:xfrm>
            <a:off x="3520440" y="1645920"/>
            <a:ext cx="2103120" cy="2103120"/>
          </a:xfrm>
          <a:prstGeom prst="ellipse">
            <a:avLst/>
          </a:prstGeom>
          <a:solidFill>
            <a:srgbClr val="4B30B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logo_banda.png" id="354" name="Google Shape;354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794760" y="2331720"/>
            <a:ext cx="1554480" cy="539496"/>
          </a:xfrm>
          <a:prstGeom prst="rect">
            <a:avLst/>
          </a:prstGeom>
          <a:noFill/>
          <a:ln>
            <a:noFill/>
          </a:ln>
        </p:spPr>
      </p:pic>
      <p:sp>
        <p:nvSpPr>
          <p:cNvPr id="355" name="Google Shape;355;p12"/>
          <p:cNvSpPr/>
          <p:nvPr/>
        </p:nvSpPr>
        <p:spPr>
          <a:xfrm>
            <a:off x="3520440" y="2880360"/>
            <a:ext cx="21031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6FF0"/>
              </a:buClr>
              <a:buSzPts val="1000"/>
              <a:buFont typeface="Manrope"/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rPr>
              <a:t>Trust Layer</a:t>
            </a:r>
            <a:endParaRPr b="0" i="0" sz="10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12"/>
          <p:cNvSpPr/>
          <p:nvPr/>
        </p:nvSpPr>
        <p:spPr>
          <a:xfrm>
            <a:off x="1046050" y="1176550"/>
            <a:ext cx="1920300" cy="822900"/>
          </a:xfrm>
          <a:prstGeom prst="roundRect">
            <a:avLst>
              <a:gd fmla="val 11111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254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57" name="Google Shape;357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83210" y="135943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358" name="Google Shape;358;p12"/>
          <p:cNvSpPr/>
          <p:nvPr/>
        </p:nvSpPr>
        <p:spPr>
          <a:xfrm>
            <a:off x="1594690" y="1176550"/>
            <a:ext cx="12801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141A"/>
              </a:buClr>
              <a:buSzPts val="1100"/>
              <a:buFont typeface="Manrope"/>
              <a:buNone/>
            </a:pPr>
            <a:r>
              <a:rPr b="1" i="0" lang="en-US" sz="1100" u="none" cap="none" strike="noStrike">
                <a:solidFill>
                  <a:srgbClr val="12141A"/>
                </a:solidFill>
                <a:latin typeface="Manrope"/>
                <a:ea typeface="Manrope"/>
                <a:cs typeface="Manrope"/>
                <a:sym typeface="Manrope"/>
              </a:rPr>
              <a:t>Агенти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12"/>
          <p:cNvSpPr/>
          <p:nvPr/>
        </p:nvSpPr>
        <p:spPr>
          <a:xfrm>
            <a:off x="497520" y="2353055"/>
            <a:ext cx="1920300" cy="822900"/>
          </a:xfrm>
          <a:prstGeom prst="roundRect">
            <a:avLst>
              <a:gd fmla="val 11111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254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60" name="Google Shape;360;p1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4680" y="2535935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361" name="Google Shape;361;p12"/>
          <p:cNvSpPr/>
          <p:nvPr/>
        </p:nvSpPr>
        <p:spPr>
          <a:xfrm>
            <a:off x="1046160" y="2353055"/>
            <a:ext cx="12801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141A"/>
              </a:buClr>
              <a:buSzPts val="1100"/>
              <a:buFont typeface="Manrope"/>
              <a:buNone/>
            </a:pPr>
            <a:r>
              <a:rPr b="1" i="0" lang="en-US" sz="1100" u="none" cap="none" strike="noStrike">
                <a:solidFill>
                  <a:srgbClr val="12141A"/>
                </a:solidFill>
                <a:latin typeface="Manrope"/>
                <a:ea typeface="Manrope"/>
                <a:cs typeface="Manrope"/>
                <a:sym typeface="Manrope"/>
              </a:rPr>
              <a:t>Муніципалітети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12"/>
          <p:cNvSpPr/>
          <p:nvPr/>
        </p:nvSpPr>
        <p:spPr>
          <a:xfrm>
            <a:off x="1366158" y="3482800"/>
            <a:ext cx="1920300" cy="822900"/>
          </a:xfrm>
          <a:prstGeom prst="roundRect">
            <a:avLst>
              <a:gd fmla="val 11111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254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63" name="Google Shape;363;p1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503318" y="366568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364" name="Google Shape;364;p12"/>
          <p:cNvSpPr/>
          <p:nvPr/>
        </p:nvSpPr>
        <p:spPr>
          <a:xfrm>
            <a:off x="1914798" y="3482800"/>
            <a:ext cx="12801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141A"/>
              </a:buClr>
              <a:buSzPts val="1100"/>
              <a:buFont typeface="Manrope"/>
              <a:buNone/>
            </a:pPr>
            <a:r>
              <a:rPr b="1" i="0" lang="en-US" sz="1100" u="none" cap="none" strike="noStrike">
                <a:solidFill>
                  <a:srgbClr val="12141A"/>
                </a:solidFill>
                <a:latin typeface="Manrope"/>
                <a:ea typeface="Manrope"/>
                <a:cs typeface="Manrope"/>
                <a:sym typeface="Manrope"/>
              </a:rPr>
              <a:t>Покупці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12"/>
          <p:cNvSpPr/>
          <p:nvPr/>
        </p:nvSpPr>
        <p:spPr>
          <a:xfrm>
            <a:off x="6177645" y="1176525"/>
            <a:ext cx="1920300" cy="822900"/>
          </a:xfrm>
          <a:prstGeom prst="roundRect">
            <a:avLst>
              <a:gd fmla="val 11111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254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66" name="Google Shape;366;p1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314805" y="1359405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367" name="Google Shape;367;p12"/>
          <p:cNvSpPr/>
          <p:nvPr/>
        </p:nvSpPr>
        <p:spPr>
          <a:xfrm>
            <a:off x="6726285" y="1176525"/>
            <a:ext cx="12801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141A"/>
              </a:buClr>
              <a:buSzPts val="1100"/>
              <a:buFont typeface="Manrope"/>
              <a:buNone/>
            </a:pPr>
            <a:r>
              <a:rPr b="1" i="0" lang="en-US" sz="1100" u="none" cap="none" strike="noStrike">
                <a:solidFill>
                  <a:srgbClr val="12141A"/>
                </a:solidFill>
                <a:latin typeface="Manrope"/>
                <a:ea typeface="Manrope"/>
                <a:cs typeface="Manrope"/>
                <a:sym typeface="Manrope"/>
              </a:rPr>
              <a:t>Банки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12"/>
          <p:cNvSpPr/>
          <p:nvPr/>
        </p:nvSpPr>
        <p:spPr>
          <a:xfrm>
            <a:off x="6884685" y="2353005"/>
            <a:ext cx="1920300" cy="822900"/>
          </a:xfrm>
          <a:prstGeom prst="roundRect">
            <a:avLst>
              <a:gd fmla="val 11111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254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69" name="Google Shape;369;p1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021845" y="2535885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370" name="Google Shape;370;p12"/>
          <p:cNvSpPr/>
          <p:nvPr/>
        </p:nvSpPr>
        <p:spPr>
          <a:xfrm>
            <a:off x="7433325" y="2353005"/>
            <a:ext cx="12801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141A"/>
              </a:buClr>
              <a:buSzPts val="1100"/>
              <a:buFont typeface="Manrope"/>
              <a:buNone/>
            </a:pPr>
            <a:r>
              <a:rPr b="1" i="0" lang="en-US" sz="1100" u="none" cap="none" strike="noStrike">
                <a:solidFill>
                  <a:srgbClr val="12141A"/>
                </a:solidFill>
                <a:latin typeface="Manrope"/>
                <a:ea typeface="Manrope"/>
                <a:cs typeface="Manrope"/>
                <a:sym typeface="Manrope"/>
              </a:rPr>
              <a:t>Девелопери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12"/>
          <p:cNvSpPr/>
          <p:nvPr/>
        </p:nvSpPr>
        <p:spPr>
          <a:xfrm>
            <a:off x="5741668" y="3482800"/>
            <a:ext cx="1920300" cy="822900"/>
          </a:xfrm>
          <a:prstGeom prst="roundRect">
            <a:avLst>
              <a:gd fmla="val 11111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254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72" name="Google Shape;372;p12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878828" y="366568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373" name="Google Shape;373;p12"/>
          <p:cNvSpPr/>
          <p:nvPr/>
        </p:nvSpPr>
        <p:spPr>
          <a:xfrm>
            <a:off x="6290308" y="3482800"/>
            <a:ext cx="12801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141A"/>
              </a:buClr>
              <a:buSzPts val="1100"/>
              <a:buFont typeface="Manrope"/>
              <a:buNone/>
            </a:pPr>
            <a:r>
              <a:rPr b="1" i="0" lang="en-US" sz="1100" u="none" cap="none" strike="noStrike">
                <a:solidFill>
                  <a:srgbClr val="12141A"/>
                </a:solidFill>
                <a:latin typeface="Manrope"/>
                <a:ea typeface="Manrope"/>
                <a:cs typeface="Manrope"/>
                <a:sym typeface="Manrope"/>
              </a:rPr>
              <a:t>Інвестори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5FC"/>
        </a:solidFill>
      </p:bgPr>
    </p:bg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claude/logo_banda.png" id="379" name="Google Shape;379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0075" y="4645175"/>
            <a:ext cx="822960" cy="283464"/>
          </a:xfrm>
          <a:prstGeom prst="rect">
            <a:avLst/>
          </a:prstGeom>
          <a:noFill/>
          <a:ln>
            <a:noFill/>
          </a:ln>
        </p:spPr>
      </p:pic>
      <p:sp>
        <p:nvSpPr>
          <p:cNvPr id="380" name="Google Shape;380;p13"/>
          <p:cNvSpPr/>
          <p:nvPr/>
        </p:nvSpPr>
        <p:spPr>
          <a:xfrm>
            <a:off x="640080" y="32004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C4CEB"/>
              </a:buClr>
              <a:buSzPts val="2600"/>
              <a:buFont typeface="Unbounded"/>
              <a:buNone/>
            </a:pPr>
            <a:r>
              <a:rPr b="1" i="0" lang="en-US" sz="2600" u="none" cap="none" strike="noStrike">
                <a:solidFill>
                  <a:srgbClr val="6C4CEB"/>
                </a:solidFill>
                <a:latin typeface="Unbounded"/>
                <a:ea typeface="Unbounded"/>
                <a:cs typeface="Unbounded"/>
                <a:sym typeface="Unbounded"/>
              </a:rPr>
              <a:t>CEO </a:t>
            </a:r>
            <a:r>
              <a:rPr b="1" i="0" lang="en-US" sz="2600" u="none" cap="none" strike="noStrike">
                <a:solidFill>
                  <a:srgbClr val="12141A"/>
                </a:solidFill>
                <a:latin typeface="Unbounded"/>
                <a:ea typeface="Unbounded"/>
                <a:cs typeface="Unbounded"/>
                <a:sym typeface="Unbounded"/>
              </a:rPr>
              <a:t>BANDA Ukraine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13"/>
          <p:cNvSpPr/>
          <p:nvPr/>
        </p:nvSpPr>
        <p:spPr>
          <a:xfrm>
            <a:off x="640075" y="1087201"/>
            <a:ext cx="7925400" cy="3294300"/>
          </a:xfrm>
          <a:prstGeom prst="roundRect">
            <a:avLst>
              <a:gd fmla="val 2500" name="adj"/>
            </a:avLst>
          </a:prstGeom>
          <a:solidFill>
            <a:srgbClr val="FFFFFF"/>
          </a:solidFill>
          <a:ln>
            <a:noFill/>
          </a:ln>
          <a:effectLst>
            <a:outerShdw blurRad="97843" rotWithShape="0" algn="bl" dir="8100000" dist="24461">
              <a:srgbClr val="000000">
                <a:alpha val="5882"/>
              </a:srgbClr>
            </a:outerShdw>
          </a:effectLst>
        </p:spPr>
        <p:txBody>
          <a:bodyPr anchorCtr="0" anchor="ctr" bIns="88050" lIns="88050" spcFirstLastPara="1" rIns="88050" wrap="square" tIns="880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2" name="Google Shape;382;p13"/>
          <p:cNvSpPr/>
          <p:nvPr/>
        </p:nvSpPr>
        <p:spPr>
          <a:xfrm>
            <a:off x="904250" y="1219299"/>
            <a:ext cx="7044600" cy="44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141A"/>
              </a:buClr>
              <a:buSzPts val="2119"/>
              <a:buFont typeface="Unbounded"/>
              <a:buNone/>
            </a:pPr>
            <a:r>
              <a:rPr b="1" i="0" lang="en-US" sz="2118" u="none" cap="none" strike="noStrike">
                <a:solidFill>
                  <a:srgbClr val="12141A"/>
                </a:solidFill>
                <a:latin typeface="Unbounded"/>
                <a:ea typeface="Unbounded"/>
                <a:cs typeface="Unbounded"/>
                <a:sym typeface="Unbounded"/>
              </a:rPr>
              <a:t>Максим Калініченко</a:t>
            </a:r>
            <a:endParaRPr b="0" i="0" sz="211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13"/>
          <p:cNvSpPr/>
          <p:nvPr/>
        </p:nvSpPr>
        <p:spPr>
          <a:xfrm>
            <a:off x="904250" y="1703619"/>
            <a:ext cx="4402800" cy="30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C4CEB"/>
              </a:buClr>
              <a:buSzPts val="1348"/>
              <a:buFont typeface="Manrope"/>
              <a:buNone/>
            </a:pPr>
            <a:r>
              <a:rPr b="0" i="0" lang="en-US" sz="1348" u="none" cap="none" strike="noStrike">
                <a:solidFill>
                  <a:srgbClr val="6C4CEB"/>
                </a:solidFill>
                <a:latin typeface="Manrope"/>
                <a:ea typeface="Manrope"/>
                <a:cs typeface="Manrope"/>
                <a:sym typeface="Manrope"/>
              </a:rPr>
              <a:t>CEO  •  BANDA Ukraine SPV</a:t>
            </a:r>
            <a:endParaRPr b="0" i="0" sz="134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84" name="Google Shape;384;p13"/>
          <p:cNvCxnSpPr/>
          <p:nvPr/>
        </p:nvCxnSpPr>
        <p:spPr>
          <a:xfrm>
            <a:off x="904250" y="2143910"/>
            <a:ext cx="2641800" cy="0"/>
          </a:xfrm>
          <a:prstGeom prst="straightConnector1">
            <a:avLst/>
          </a:prstGeom>
          <a:noFill/>
          <a:ln cap="flat" cmpd="sng" w="12225">
            <a:solidFill>
              <a:srgbClr val="EDE8FD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preencoded.png" id="385" name="Google Shape;38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04250" y="2320026"/>
            <a:ext cx="176116" cy="176116"/>
          </a:xfrm>
          <a:prstGeom prst="rect">
            <a:avLst/>
          </a:prstGeom>
          <a:noFill/>
          <a:ln>
            <a:noFill/>
          </a:ln>
        </p:spPr>
      </p:pic>
      <p:sp>
        <p:nvSpPr>
          <p:cNvPr id="386" name="Google Shape;386;p13"/>
          <p:cNvSpPr/>
          <p:nvPr/>
        </p:nvSpPr>
        <p:spPr>
          <a:xfrm>
            <a:off x="1168425" y="2275997"/>
            <a:ext cx="4402800" cy="30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92C33"/>
              </a:buClr>
              <a:buSzPts val="1107"/>
              <a:buFont typeface="Manrope"/>
              <a:buNone/>
            </a:pPr>
            <a:r>
              <a:rPr b="0" i="0" lang="en-US" sz="1107" u="none" cap="none" strike="noStrike">
                <a:solidFill>
                  <a:srgbClr val="292C33"/>
                </a:solidFill>
                <a:latin typeface="Manrope"/>
                <a:ea typeface="Manrope"/>
                <a:cs typeface="Manrope"/>
                <a:sym typeface="Manrope"/>
              </a:rPr>
              <a:t>Легендарний гравець збірної України з футболу</a:t>
            </a:r>
            <a:endParaRPr b="0" i="0" sz="110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87" name="Google Shape;387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04250" y="2654647"/>
            <a:ext cx="176116" cy="176116"/>
          </a:xfrm>
          <a:prstGeom prst="rect">
            <a:avLst/>
          </a:prstGeom>
          <a:noFill/>
          <a:ln>
            <a:noFill/>
          </a:ln>
        </p:spPr>
      </p:pic>
      <p:sp>
        <p:nvSpPr>
          <p:cNvPr id="388" name="Google Shape;388;p13"/>
          <p:cNvSpPr/>
          <p:nvPr/>
        </p:nvSpPr>
        <p:spPr>
          <a:xfrm>
            <a:off x="1168425" y="2610618"/>
            <a:ext cx="4402800" cy="30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92C33"/>
              </a:buClr>
              <a:buSzPts val="1107"/>
              <a:buFont typeface="Manrope"/>
              <a:buNone/>
            </a:pPr>
            <a:r>
              <a:rPr b="0" i="0" lang="en-US" sz="1107" u="none" cap="none" strike="noStrike">
                <a:solidFill>
                  <a:srgbClr val="292C33"/>
                </a:solidFill>
                <a:latin typeface="Manrope"/>
                <a:ea typeface="Manrope"/>
                <a:cs typeface="Manrope"/>
                <a:sym typeface="Manrope"/>
              </a:rPr>
              <a:t>Учасник чвертьфіналу ЧС-2006 (Німеччина)</a:t>
            </a:r>
            <a:endParaRPr b="0" i="0" sz="110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89" name="Google Shape;389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04250" y="2989268"/>
            <a:ext cx="176116" cy="176116"/>
          </a:xfrm>
          <a:prstGeom prst="rect">
            <a:avLst/>
          </a:prstGeom>
          <a:noFill/>
          <a:ln>
            <a:noFill/>
          </a:ln>
        </p:spPr>
      </p:pic>
      <p:sp>
        <p:nvSpPr>
          <p:cNvPr id="390" name="Google Shape;390;p13"/>
          <p:cNvSpPr/>
          <p:nvPr/>
        </p:nvSpPr>
        <p:spPr>
          <a:xfrm>
            <a:off x="1168425" y="2945239"/>
            <a:ext cx="4402800" cy="30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92C33"/>
              </a:buClr>
              <a:buSzPts val="1107"/>
              <a:buFont typeface="Manrope"/>
              <a:buNone/>
            </a:pPr>
            <a:r>
              <a:rPr b="0" i="0" lang="en-US" sz="1107" u="none" cap="none" strike="noStrike">
                <a:solidFill>
                  <a:srgbClr val="292C33"/>
                </a:solidFill>
                <a:latin typeface="Manrope"/>
                <a:ea typeface="Manrope"/>
                <a:cs typeface="Manrope"/>
                <a:sym typeface="Manrope"/>
              </a:rPr>
              <a:t>47 матчів та 7 голів за збірну України</a:t>
            </a:r>
            <a:endParaRPr b="0" i="0" sz="110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91" name="Google Shape;391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04250" y="3323889"/>
            <a:ext cx="176116" cy="176116"/>
          </a:xfrm>
          <a:prstGeom prst="rect">
            <a:avLst/>
          </a:prstGeom>
          <a:noFill/>
          <a:ln>
            <a:noFill/>
          </a:ln>
        </p:spPr>
      </p:pic>
      <p:sp>
        <p:nvSpPr>
          <p:cNvPr id="392" name="Google Shape;392;p13"/>
          <p:cNvSpPr/>
          <p:nvPr/>
        </p:nvSpPr>
        <p:spPr>
          <a:xfrm>
            <a:off x="1168425" y="3279859"/>
            <a:ext cx="4402800" cy="30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92C33"/>
              </a:buClr>
              <a:buSzPts val="1107"/>
              <a:buFont typeface="Manrope"/>
              <a:buNone/>
            </a:pPr>
            <a:r>
              <a:rPr b="0" i="0" lang="en-US" sz="1107" u="none" cap="none" strike="noStrike">
                <a:solidFill>
                  <a:srgbClr val="292C33"/>
                </a:solidFill>
                <a:latin typeface="Manrope"/>
                <a:ea typeface="Manrope"/>
                <a:cs typeface="Manrope"/>
                <a:sym typeface="Manrope"/>
              </a:rPr>
              <a:t>Нагороджений орденом «За мужність» III ступеня</a:t>
            </a:r>
            <a:endParaRPr b="0" i="0" sz="110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93" name="Google Shape;393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04250" y="3658509"/>
            <a:ext cx="176116" cy="176116"/>
          </a:xfrm>
          <a:prstGeom prst="rect">
            <a:avLst/>
          </a:prstGeom>
          <a:noFill/>
          <a:ln>
            <a:noFill/>
          </a:ln>
        </p:spPr>
      </p:pic>
      <p:sp>
        <p:nvSpPr>
          <p:cNvPr id="394" name="Google Shape;394;p13"/>
          <p:cNvSpPr/>
          <p:nvPr/>
        </p:nvSpPr>
        <p:spPr>
          <a:xfrm>
            <a:off x="1168425" y="3614480"/>
            <a:ext cx="4402800" cy="30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92C33"/>
              </a:buClr>
              <a:buSzPts val="1107"/>
              <a:buFont typeface="Manrope"/>
              <a:buNone/>
            </a:pPr>
            <a:r>
              <a:rPr b="0" i="0" lang="en-US" sz="1107" u="none" cap="none" strike="noStrike">
                <a:solidFill>
                  <a:srgbClr val="292C33"/>
                </a:solidFill>
                <a:latin typeface="Manrope"/>
                <a:ea typeface="Manrope"/>
                <a:cs typeface="Manrope"/>
                <a:sym typeface="Manrope"/>
              </a:rPr>
              <a:t>Відкрита проукраїнська позиція з перших днів вторгнення</a:t>
            </a:r>
            <a:endParaRPr b="0" i="0" sz="110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95" name="Google Shape;39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04250" y="3993130"/>
            <a:ext cx="176116" cy="176116"/>
          </a:xfrm>
          <a:prstGeom prst="rect">
            <a:avLst/>
          </a:prstGeom>
          <a:noFill/>
          <a:ln>
            <a:noFill/>
          </a:ln>
        </p:spPr>
      </p:pic>
      <p:sp>
        <p:nvSpPr>
          <p:cNvPr id="396" name="Google Shape;396;p13"/>
          <p:cNvSpPr/>
          <p:nvPr/>
        </p:nvSpPr>
        <p:spPr>
          <a:xfrm>
            <a:off x="1168425" y="3949101"/>
            <a:ext cx="4402800" cy="30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92C33"/>
              </a:buClr>
              <a:buSzPts val="1107"/>
              <a:buFont typeface="Manrope"/>
              <a:buNone/>
            </a:pPr>
            <a:r>
              <a:rPr b="0" i="0" lang="en-US" sz="1107" u="none" cap="none" strike="noStrike">
                <a:solidFill>
                  <a:srgbClr val="292C33"/>
                </a:solidFill>
                <a:latin typeface="Manrope"/>
                <a:ea typeface="Manrope"/>
                <a:cs typeface="Manrope"/>
                <a:sym typeface="Manrope"/>
              </a:rPr>
              <a:t>Визнання та довіра мільйонів українців</a:t>
            </a:r>
            <a:endParaRPr b="0" i="0" sz="110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13"/>
          <p:cNvSpPr/>
          <p:nvPr/>
        </p:nvSpPr>
        <p:spPr>
          <a:xfrm>
            <a:off x="5747458" y="2320026"/>
            <a:ext cx="2641800" cy="1232700"/>
          </a:xfrm>
          <a:prstGeom prst="roundRect">
            <a:avLst>
              <a:gd fmla="val 5714" name="adj"/>
            </a:avLst>
          </a:prstGeom>
          <a:solidFill>
            <a:srgbClr val="EDE8FD"/>
          </a:solidFill>
          <a:ln>
            <a:noFill/>
          </a:ln>
        </p:spPr>
        <p:txBody>
          <a:bodyPr anchorCtr="0" anchor="ctr" bIns="88050" lIns="88050" spcFirstLastPara="1" rIns="88050" wrap="square" tIns="880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" name="Google Shape;398;p13"/>
          <p:cNvSpPr/>
          <p:nvPr/>
        </p:nvSpPr>
        <p:spPr>
          <a:xfrm>
            <a:off x="5879546" y="2364055"/>
            <a:ext cx="237750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4000" lIns="88050" spcFirstLastPara="1" rIns="88050" wrap="square" tIns="440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B30B9"/>
              </a:buClr>
              <a:buSzPts val="1011"/>
              <a:buFont typeface="Manrope"/>
              <a:buNone/>
            </a:pPr>
            <a:r>
              <a:rPr b="0" i="1" lang="en-US" sz="1011" u="none" cap="none" strike="noStrike">
                <a:solidFill>
                  <a:srgbClr val="4B30B9"/>
                </a:solidFill>
                <a:latin typeface="Manrope"/>
                <a:ea typeface="Manrope"/>
                <a:cs typeface="Manrope"/>
                <a:sym typeface="Manrope"/>
              </a:rPr>
              <a:t>Максим Калініченко — обличчя, якому довіряє Україна. Його репутація та публічність підсилюють довіру до платформи серед громад та партнерів.</a:t>
            </a:r>
            <a:endParaRPr b="0" i="0" sz="101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5FC"/>
        </a:solidFill>
      </p:bgPr>
    </p:bg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claude/logo_banda.png" id="404" name="Google Shape;404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0075" y="4631425"/>
            <a:ext cx="822960" cy="283464"/>
          </a:xfrm>
          <a:prstGeom prst="rect">
            <a:avLst/>
          </a:prstGeom>
          <a:noFill/>
          <a:ln>
            <a:noFill/>
          </a:ln>
        </p:spPr>
      </p:pic>
      <p:sp>
        <p:nvSpPr>
          <p:cNvPr id="405" name="Google Shape;405;p14"/>
          <p:cNvSpPr/>
          <p:nvPr/>
        </p:nvSpPr>
        <p:spPr>
          <a:xfrm>
            <a:off x="640080" y="32004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C4CEB"/>
              </a:buClr>
              <a:buSzPts val="2600"/>
              <a:buFont typeface="Unbounded"/>
              <a:buNone/>
            </a:pPr>
            <a:r>
              <a:rPr b="1" i="0" lang="en-US" sz="2600" u="none" cap="none" strike="noStrike">
                <a:solidFill>
                  <a:srgbClr val="6C4CEB"/>
                </a:solidFill>
                <a:latin typeface="Unbounded"/>
                <a:ea typeface="Unbounded"/>
                <a:cs typeface="Unbounded"/>
                <a:sym typeface="Unbounded"/>
              </a:rPr>
              <a:t>Еволюція </a:t>
            </a:r>
            <a:r>
              <a:rPr b="1" i="0" lang="en-US" sz="2600" u="none" cap="none" strike="noStrike">
                <a:solidFill>
                  <a:srgbClr val="12141A"/>
                </a:solidFill>
                <a:latin typeface="Unbounded"/>
                <a:ea typeface="Unbounded"/>
                <a:cs typeface="Unbounded"/>
                <a:sym typeface="Unbounded"/>
              </a:rPr>
              <a:t>бренду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14"/>
          <p:cNvSpPr/>
          <p:nvPr/>
        </p:nvSpPr>
        <p:spPr>
          <a:xfrm>
            <a:off x="633000" y="1107787"/>
            <a:ext cx="7878000" cy="3238800"/>
          </a:xfrm>
          <a:prstGeom prst="roundRect">
            <a:avLst>
              <a:gd fmla="val 2703" name="adj"/>
            </a:avLst>
          </a:prstGeom>
          <a:solidFill>
            <a:srgbClr val="FFFFFF"/>
          </a:solidFill>
          <a:ln>
            <a:noFill/>
          </a:ln>
          <a:effectLst>
            <a:outerShdw blurRad="97261" rotWithShape="0" algn="bl" dir="8100000" dist="24315">
              <a:srgbClr val="000000">
                <a:alpha val="5882"/>
              </a:srgbClr>
            </a:outerShdw>
          </a:effectLst>
        </p:spPr>
        <p:txBody>
          <a:bodyPr anchorCtr="0" anchor="ctr" bIns="87525" lIns="87525" spcFirstLastPara="1" rIns="87525" wrap="square" tIns="875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40"/>
          </a:p>
        </p:txBody>
      </p:sp>
      <p:pic>
        <p:nvPicPr>
          <p:cNvPr descr="/home/claude/logo_banda.png" id="407" name="Google Shape;407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02809" y="1326623"/>
            <a:ext cx="2538500" cy="875345"/>
          </a:xfrm>
          <a:prstGeom prst="rect">
            <a:avLst/>
          </a:prstGeom>
          <a:noFill/>
          <a:ln>
            <a:noFill/>
          </a:ln>
        </p:spPr>
      </p:pic>
      <p:sp>
        <p:nvSpPr>
          <p:cNvPr id="408" name="Google Shape;408;p14"/>
          <p:cNvSpPr/>
          <p:nvPr/>
        </p:nvSpPr>
        <p:spPr>
          <a:xfrm>
            <a:off x="1070674" y="2377037"/>
            <a:ext cx="7002900" cy="39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3750" lIns="87525" spcFirstLastPara="1" rIns="87525" wrap="square" tIns="437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92C33"/>
              </a:buClr>
              <a:buSzPts val="1244"/>
              <a:buFont typeface="Manrope"/>
              <a:buNone/>
            </a:pPr>
            <a:r>
              <a:rPr b="0" i="0" lang="en-US" sz="1244" u="none" cap="none" strike="noStrike">
                <a:solidFill>
                  <a:srgbClr val="292C33"/>
                </a:solidFill>
                <a:latin typeface="Manrope"/>
                <a:ea typeface="Manrope"/>
                <a:cs typeface="Manrope"/>
                <a:sym typeface="Manrope"/>
              </a:rPr>
              <a:t>Наразі проєкт працює під брендом BANDA і знаходиться у процесі оновлення бренду.</a:t>
            </a:r>
            <a:endParaRPr b="0" i="0" sz="124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14"/>
          <p:cNvSpPr/>
          <p:nvPr/>
        </p:nvSpPr>
        <p:spPr>
          <a:xfrm>
            <a:off x="1245743" y="2902243"/>
            <a:ext cx="6652500" cy="122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3750" lIns="87525" spcFirstLastPara="1" rIns="87525" wrap="square" tIns="4375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646870"/>
              </a:buClr>
              <a:buSzPts val="1149"/>
              <a:buFont typeface="Manrope"/>
              <a:buNone/>
            </a:pPr>
            <a:r>
              <a:rPr b="0" i="0" lang="en-US" sz="1148" u="none" cap="none" strike="noStrike">
                <a:solidFill>
                  <a:srgbClr val="646870"/>
                </a:solidFill>
                <a:latin typeface="Manrope"/>
                <a:ea typeface="Manrope"/>
                <a:cs typeface="Manrope"/>
                <a:sym typeface="Manrope"/>
              </a:rPr>
              <a:t>Ренеймінг — це стратегічний крок, пов'язаний із масштабуванням платформи на міжнародні ринки. Нова назва буде відповідати глобальному позиціонуванню проєкту як інфраструктурного шару для ринку нерухомості.</a:t>
            </a:r>
            <a:endParaRPr b="0" i="0" sz="114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49"/>
              <a:buFont typeface="Calibri"/>
              <a:buNone/>
            </a:pPr>
            <a:r>
              <a:t/>
            </a:r>
            <a:endParaRPr b="0" i="0" sz="114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646870"/>
              </a:buClr>
              <a:buSzPts val="1149"/>
              <a:buFont typeface="Manrope"/>
              <a:buNone/>
            </a:pPr>
            <a:r>
              <a:rPr b="0" i="0" lang="en-US" sz="1148" u="none" cap="none" strike="noStrike">
                <a:solidFill>
                  <a:srgbClr val="646870"/>
                </a:solidFill>
                <a:latin typeface="Manrope"/>
                <a:ea typeface="Manrope"/>
                <a:cs typeface="Manrope"/>
                <a:sym typeface="Manrope"/>
              </a:rPr>
              <a:t>Усі зобов'язання, партнерства та функціональність платформи залишаються незмінними. Зміна торкнеться виключно комунікаційного шару.</a:t>
            </a:r>
            <a:endParaRPr b="0" i="0" sz="114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5FC"/>
        </a:solidFill>
      </p:bgPr>
    </p:bg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claude/logo_banda.png" id="415" name="Google Shape;415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37560" y="457200"/>
            <a:ext cx="2468880" cy="859536"/>
          </a:xfrm>
          <a:prstGeom prst="rect">
            <a:avLst/>
          </a:prstGeom>
          <a:noFill/>
          <a:ln>
            <a:noFill/>
          </a:ln>
        </p:spPr>
      </p:pic>
      <p:sp>
        <p:nvSpPr>
          <p:cNvPr id="416" name="Google Shape;416;p15"/>
          <p:cNvSpPr/>
          <p:nvPr/>
        </p:nvSpPr>
        <p:spPr>
          <a:xfrm>
            <a:off x="914400" y="1508760"/>
            <a:ext cx="73152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2141A"/>
              </a:buClr>
              <a:buSzPts val="2600"/>
              <a:buFont typeface="Unbounded"/>
              <a:buNone/>
            </a:pPr>
            <a:r>
              <a:rPr b="1" i="0" lang="en-US" sz="2600" u="none" cap="none" strike="noStrike">
                <a:solidFill>
                  <a:srgbClr val="12141A"/>
                </a:solidFill>
                <a:latin typeface="Unbounded"/>
                <a:ea typeface="Unbounded"/>
                <a:cs typeface="Unbounded"/>
                <a:sym typeface="Unbounded"/>
              </a:rPr>
              <a:t>Побудуймо інфраструктуру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2141A"/>
              </a:buClr>
              <a:buSzPts val="2600"/>
              <a:buFont typeface="Unbounded"/>
              <a:buNone/>
            </a:pPr>
            <a:r>
              <a:rPr b="1" i="0" lang="en-US" sz="2600" u="none" cap="none" strike="noStrike">
                <a:solidFill>
                  <a:srgbClr val="12141A"/>
                </a:solidFill>
                <a:latin typeface="Unbounded"/>
                <a:ea typeface="Unbounded"/>
                <a:cs typeface="Unbounded"/>
                <a:sym typeface="Unbounded"/>
              </a:rPr>
              <a:t>довіри разом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17" name="Google Shape;417;p15"/>
          <p:cNvCxnSpPr/>
          <p:nvPr/>
        </p:nvCxnSpPr>
        <p:spPr>
          <a:xfrm>
            <a:off x="3200400" y="2606040"/>
            <a:ext cx="2743200" cy="0"/>
          </a:xfrm>
          <a:prstGeom prst="straightConnector1">
            <a:avLst/>
          </a:prstGeom>
          <a:noFill/>
          <a:ln cap="flat" cmpd="sng" w="19050">
            <a:solidFill>
              <a:srgbClr val="6C4CE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8" name="Google Shape;418;p15"/>
          <p:cNvSpPr/>
          <p:nvPr/>
        </p:nvSpPr>
        <p:spPr>
          <a:xfrm>
            <a:off x="1371600" y="2834640"/>
            <a:ext cx="64008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6C4CEB"/>
              </a:buClr>
              <a:buSzPts val="1300"/>
              <a:buFont typeface="Manrope"/>
              <a:buNone/>
            </a:pPr>
            <a:r>
              <a:rPr b="0" i="0" lang="en-US" sz="1300" u="none" cap="none" strike="noStrike">
                <a:solidFill>
                  <a:srgbClr val="6C4CEB"/>
                </a:solidFill>
                <a:latin typeface="Manrope"/>
                <a:ea typeface="Manrope"/>
                <a:cs typeface="Manrope"/>
                <a:sym typeface="Manrope"/>
              </a:rPr>
              <a:t>BANDA — це не витрати для муніципалітету.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6C4CEB"/>
              </a:buClr>
              <a:buSzPts val="1300"/>
              <a:buFont typeface="Manrope"/>
              <a:buNone/>
            </a:pPr>
            <a:r>
              <a:rPr b="0" i="0" lang="en-US" sz="1300" u="none" cap="none" strike="noStrike">
                <a:solidFill>
                  <a:srgbClr val="6C4CEB"/>
                </a:solidFill>
                <a:latin typeface="Manrope"/>
                <a:ea typeface="Manrope"/>
                <a:cs typeface="Manrope"/>
                <a:sym typeface="Manrope"/>
              </a:rPr>
              <a:t>Це безкоштовний інструмент, який приносить прозорість, </a:t>
            </a:r>
            <a:endParaRPr b="0" i="0" sz="1300" u="none" cap="none" strike="noStrike">
              <a:solidFill>
                <a:srgbClr val="6C4CEB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6C4CEB"/>
              </a:buClr>
              <a:buSzPts val="1300"/>
              <a:buFont typeface="Manrope"/>
              <a:buNone/>
            </a:pPr>
            <a:r>
              <a:rPr b="0" i="0" lang="en-US" sz="1300" u="none" cap="none" strike="noStrike">
                <a:solidFill>
                  <a:srgbClr val="6C4CEB"/>
                </a:solidFill>
                <a:latin typeface="Manrope"/>
                <a:ea typeface="Manrope"/>
                <a:cs typeface="Manrope"/>
                <a:sym typeface="Manrope"/>
              </a:rPr>
              <a:t>інвестиції та робочі місця.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15"/>
          <p:cNvSpPr/>
          <p:nvPr/>
        </p:nvSpPr>
        <p:spPr>
          <a:xfrm>
            <a:off x="2286000" y="3749040"/>
            <a:ext cx="4572000" cy="1051560"/>
          </a:xfrm>
          <a:prstGeom prst="roundRect">
            <a:avLst>
              <a:gd fmla="val 8696" name="adj"/>
            </a:avLst>
          </a:prstGeom>
          <a:solidFill>
            <a:srgbClr val="4B30B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0" name="Google Shape;420;p15"/>
          <p:cNvSpPr/>
          <p:nvPr/>
        </p:nvSpPr>
        <p:spPr>
          <a:xfrm>
            <a:off x="2286000" y="3794760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Unbounded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Unbounded"/>
                <a:ea typeface="Unbounded"/>
                <a:cs typeface="Unbounded"/>
                <a:sym typeface="Unbounded"/>
              </a:rPr>
              <a:t>Alex Grynevych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15"/>
          <p:cNvSpPr/>
          <p:nvPr/>
        </p:nvSpPr>
        <p:spPr>
          <a:xfrm>
            <a:off x="2286000" y="416052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6FF0"/>
              </a:buClr>
              <a:buSzPts val="1100"/>
              <a:buFont typeface="Manrope"/>
              <a:buNone/>
            </a:pPr>
            <a:r>
              <a:rPr b="0" i="0" lang="en-US" sz="1100" u="none" cap="none" strike="noStrik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rPr>
              <a:t>CBDO &amp; Board Member  •  BANDA</a:t>
            </a:r>
            <a:endParaRPr b="0" i="0" sz="11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15"/>
          <p:cNvSpPr/>
          <p:nvPr/>
        </p:nvSpPr>
        <p:spPr>
          <a:xfrm>
            <a:off x="2286000" y="4434840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anrope"/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Manrope"/>
                <a:ea typeface="Manrope"/>
                <a:cs typeface="Manrope"/>
                <a:sym typeface="Manrope"/>
              </a:rPr>
              <a:t>HQ: UAE  •  SPV: Spain &amp; Ukraine  •  Seed Stage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2026-03-19T21:13:48Z</dcterms:created>
  <dc:creator>BANDA</dc:creator>
</cp:coreProperties>
</file>